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3297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a:effectLst/>
      </p:bgPr>
    </p:bg>
    <p:spTree>
      <p:nvGrpSpPr>
        <p:cNvPr id="1" name=""/>
        <p:cNvGrpSpPr/>
        <p:nvPr/>
      </p:nvGrpSpPr>
      <p:grpSpPr>
        <a:xfrm>
          <a:off x="0" y="0"/>
          <a:ext cx="0" cy="0"/>
          <a:chOff x="0" y="0"/>
          <a:chExt cx="0" cy="0"/>
        </a:xfrm>
      </p:grpSpPr>
      <p:sp>
        <p:nvSpPr>
          <p:cNvPr id="2" name="Shape 0"/>
          <p:cNvSpPr/>
          <p:nvPr/>
        </p:nvSpPr>
        <p:spPr>
          <a:xfrm>
            <a:off x="640080" y="1325880"/>
            <a:ext cx="109728" cy="1737360"/>
          </a:xfrm>
          <a:prstGeom prst="rect">
            <a:avLst/>
          </a:prstGeom>
          <a:solidFill>
            <a:srgbClr val="F2B134"/>
          </a:solidFill>
          <a:ln w="12700">
            <a:solidFill>
              <a:srgbClr val="F2B134"/>
            </a:solidFill>
            <a:prstDash val="solid"/>
          </a:ln>
        </p:spPr>
        <p:txBody>
          <a:bodyPr/>
          <a:lstStyle/>
          <a:p>
            <a:endParaRPr lang="en-US"/>
          </a:p>
        </p:txBody>
      </p:sp>
      <p:sp>
        <p:nvSpPr>
          <p:cNvPr id="3" name="Text 1"/>
          <p:cNvSpPr txBox="1"/>
          <p:nvPr/>
        </p:nvSpPr>
        <p:spPr>
          <a:xfrm>
            <a:off x="914400" y="1280160"/>
            <a:ext cx="7589520" cy="82296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Functional English</a:t>
            </a:r>
            <a:endParaRPr lang="en-US" sz="4200" dirty="0"/>
          </a:p>
        </p:txBody>
      </p:sp>
      <p:sp>
        <p:nvSpPr>
          <p:cNvPr id="4" name="Text 2"/>
          <p:cNvSpPr txBox="1"/>
          <p:nvPr/>
        </p:nvSpPr>
        <p:spPr>
          <a:xfrm>
            <a:off x="914400" y="2103120"/>
            <a:ext cx="7589520" cy="1005840"/>
          </a:xfrm>
          <a:prstGeom prst="rect">
            <a:avLst/>
          </a:prstGeom>
          <a:noFill/>
          <a:ln/>
        </p:spPr>
        <p:txBody>
          <a:bodyPr wrap="square" lIns="0" tIns="0" rIns="0" bIns="0" rtlCol="0" anchor="ctr"/>
          <a:lstStyle/>
          <a:p>
            <a:pPr marL="0" indent="0">
              <a:buNone/>
            </a:pPr>
            <a:r>
              <a:rPr lang="en-US" sz="1800" dirty="0">
                <a:solidFill>
                  <a:srgbClr val="C9D1E0"/>
                </a:solidFill>
                <a:latin typeface="Calibri" pitchFamily="34" charset="0"/>
                <a:ea typeface="Calibri" pitchFamily="34" charset="-122"/>
                <a:cs typeface="Calibri" pitchFamily="34" charset="-120"/>
              </a:rPr>
              <a:t>Introduction to English, Language Needs of University Students, and Stephen R. Covey’s The 7 Habits of Highly Effective People</a:t>
            </a:r>
            <a:endParaRPr lang="en-US" sz="1800" dirty="0"/>
          </a:p>
        </p:txBody>
      </p:sp>
      <p:sp>
        <p:nvSpPr>
          <p:cNvPr id="5" name="Text 3"/>
          <p:cNvSpPr txBox="1"/>
          <p:nvPr/>
        </p:nvSpPr>
        <p:spPr>
          <a:xfrm>
            <a:off x="914400" y="3931920"/>
            <a:ext cx="7315200" cy="365760"/>
          </a:xfrm>
          <a:prstGeom prst="rect">
            <a:avLst/>
          </a:prstGeom>
          <a:noFill/>
          <a:ln/>
        </p:spPr>
        <p:txBody>
          <a:bodyPr wrap="square" lIns="0" tIns="0" rIns="0" bIns="0" rtlCol="0" anchor="ctr"/>
          <a:lstStyle/>
          <a:p>
            <a:pPr marL="0" indent="0">
              <a:buNone/>
            </a:pPr>
            <a:r>
              <a:rPr lang="en-US" sz="1400" dirty="0">
                <a:solidFill>
                  <a:srgbClr val="F2B134"/>
                </a:solidFill>
                <a:latin typeface="Calibri" pitchFamily="34" charset="0"/>
                <a:ea typeface="Calibri" pitchFamily="34" charset="-122"/>
                <a:cs typeface="Calibri" pitchFamily="34" charset="-120"/>
              </a:rPr>
              <a:t> Lecture  01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Session Roadmap</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2</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Part 1: Introduction to English: meaning, importance, objectives and four pillars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Part 2: Language needs of university students, challenges and solutions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Part 3: Stephen R. Covey and The 7 Habits of Highly Effective People</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Case studies after each part to apply ideas to real situations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Five class activities to practise speaking, listening, reading and writing</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Summary, homework and questions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Learning Outcomes: By the End of This Session You Will</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3</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Explain what English is and why it matters for your studies and career</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Name the four pillars of language and give one use of each</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Identify your own language needs and weak areas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Describe who Stephen Covey was and what his book teaches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Link the 7 Habits to better communication in English</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Complete a personal English goal and mission statement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2A44"/>
        </a:solidFill>
        <a:effectLst/>
      </p:bgPr>
    </p:bg>
    <p:spTree>
      <p:nvGrpSpPr>
        <p:cNvPr id="1" name=""/>
        <p:cNvGrpSpPr/>
        <p:nvPr/>
      </p:nvGrpSpPr>
      <p:grpSpPr>
        <a:xfrm>
          <a:off x="0" y="0"/>
          <a:ext cx="0" cy="0"/>
          <a:chOff x="0" y="0"/>
          <a:chExt cx="0" cy="0"/>
        </a:xfrm>
      </p:grpSpPr>
      <p:sp>
        <p:nvSpPr>
          <p:cNvPr id="2" name="Text 0"/>
          <p:cNvSpPr txBox="1"/>
          <p:nvPr/>
        </p:nvSpPr>
        <p:spPr>
          <a:xfrm>
            <a:off x="640080" y="1188720"/>
            <a:ext cx="2743200" cy="1097280"/>
          </a:xfrm>
          <a:prstGeom prst="rect">
            <a:avLst/>
          </a:prstGeom>
          <a:noFill/>
          <a:ln/>
        </p:spPr>
        <p:txBody>
          <a:bodyPr wrap="square" lIns="0" tIns="0" rIns="0" bIns="0" rtlCol="0" anchor="ctr"/>
          <a:lstStyle/>
          <a:p>
            <a:pPr marL="0" indent="0">
              <a:buNone/>
            </a:pPr>
            <a:r>
              <a:rPr lang="en-US" sz="7200" b="1" dirty="0">
                <a:solidFill>
                  <a:srgbClr val="F2B134"/>
                </a:solidFill>
                <a:latin typeface="Calibri" pitchFamily="34" charset="0"/>
                <a:ea typeface="Calibri" pitchFamily="34" charset="-122"/>
                <a:cs typeface="Calibri" pitchFamily="34" charset="-120"/>
              </a:rPr>
              <a:t>01</a:t>
            </a:r>
            <a:endParaRPr lang="en-US" sz="7200" dirty="0"/>
          </a:p>
        </p:txBody>
      </p:sp>
      <p:sp>
        <p:nvSpPr>
          <p:cNvPr id="3" name="Text 1"/>
          <p:cNvSpPr txBox="1"/>
          <p:nvPr/>
        </p:nvSpPr>
        <p:spPr>
          <a:xfrm>
            <a:off x="640080" y="2377440"/>
            <a:ext cx="786384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Introduction to English</a:t>
            </a:r>
            <a:endParaRPr lang="en-US" sz="3400" dirty="0"/>
          </a:p>
        </p:txBody>
      </p:sp>
      <p:sp>
        <p:nvSpPr>
          <p:cNvPr id="4" name="Text 2"/>
          <p:cNvSpPr txBox="1"/>
          <p:nvPr/>
        </p:nvSpPr>
        <p:spPr>
          <a:xfrm>
            <a:off x="640080" y="3291840"/>
            <a:ext cx="7863840" cy="822960"/>
          </a:xfrm>
          <a:prstGeom prst="rect">
            <a:avLst/>
          </a:prstGeom>
          <a:noFill/>
          <a:ln/>
        </p:spPr>
        <p:txBody>
          <a:bodyPr wrap="square" lIns="0" tIns="0" rIns="0" bIns="0" rtlCol="0" anchor="ctr"/>
          <a:lstStyle/>
          <a:p>
            <a:pPr marL="0" indent="0">
              <a:buNone/>
            </a:pPr>
            <a:r>
              <a:rPr lang="en-US" sz="1600" dirty="0">
                <a:solidFill>
                  <a:srgbClr val="C9D1E0"/>
                </a:solidFill>
                <a:latin typeface="Calibri" pitchFamily="34" charset="0"/>
                <a:ea typeface="Calibri" pitchFamily="34" charset="-122"/>
                <a:cs typeface="Calibri" pitchFamily="34" charset="-120"/>
              </a:rPr>
              <a:t>What it is, why it matters, what we aim to achieve and the four pillars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English?</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5</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A West Germanic language that began in England and is now used worldwide</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Third most spoken native language, but the most spoken language overall when second-language users are counted (over 1.5 billion people)</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Official or co-official language in roughly 60 countries, including Pakistan</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Language of science, technology, aviation, business, the internet and higher education</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A skill, not just a subject: you learn it by using it every day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 Short History of English</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6</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Old English (about 450–1100): Germanic tribes (Angles, Saxons) bring the base language</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Middle English (about 1100–1500): Norman French adds thousands of new words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Modern English (1500 onward): printing press and Shakespeare shape spelling and style</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Colonial and trade expansion spreads English across continents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Today: global English with many varieties: British, American, Pakistani, Indian and more</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Key idea: English keeps changing, so clear communication matters more than a “perfect” accent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Why English Matters Today</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7</a:t>
            </a:r>
            <a:endParaRPr lang="en-US" sz="1000" dirty="0"/>
          </a:p>
        </p:txBody>
      </p:sp>
      <p:sp>
        <p:nvSpPr>
          <p:cNvPr id="6" name="Shape 4"/>
          <p:cNvSpPr/>
          <p:nvPr/>
        </p:nvSpPr>
        <p:spPr>
          <a:xfrm>
            <a:off x="457200" y="1188720"/>
            <a:ext cx="4023360" cy="457200"/>
          </a:xfrm>
          <a:prstGeom prst="rect">
            <a:avLst/>
          </a:prstGeom>
          <a:solidFill>
            <a:srgbClr val="0F766E"/>
          </a:solidFill>
          <a:ln w="12700">
            <a:solidFill>
              <a:srgbClr val="0F766E"/>
            </a:solidFill>
            <a:prstDash val="solid"/>
          </a:ln>
        </p:spPr>
        <p:txBody>
          <a:bodyPr/>
          <a:lstStyle/>
          <a:p>
            <a:endParaRPr lang="en-US"/>
          </a:p>
        </p:txBody>
      </p:sp>
      <p:sp>
        <p:nvSpPr>
          <p:cNvPr id="7" name="Text 5"/>
          <p:cNvSpPr txBox="1"/>
          <p:nvPr/>
        </p:nvSpPr>
        <p:spPr>
          <a:xfrm>
            <a:off x="59436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Globally</a:t>
            </a:r>
            <a:endParaRPr lang="en-US" sz="1600" dirty="0"/>
          </a:p>
        </p:txBody>
      </p:sp>
      <p:sp>
        <p:nvSpPr>
          <p:cNvPr id="8" name="Shape 6"/>
          <p:cNvSpPr/>
          <p:nvPr/>
        </p:nvSpPr>
        <p:spPr>
          <a:xfrm>
            <a:off x="45720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9" name="Text 7"/>
          <p:cNvSpPr txBox="1"/>
          <p:nvPr/>
        </p:nvSpPr>
        <p:spPr>
          <a:xfrm>
            <a:off x="59436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Common language between people who do not share a mother tongue</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Most research papers and online content are in English</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Used in international law, diplomacy, trade and travel</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Main language of the software and AI tools you use daily</a:t>
            </a:r>
            <a:endParaRPr lang="en-US" sz="1400" dirty="0"/>
          </a:p>
        </p:txBody>
      </p:sp>
      <p:sp>
        <p:nvSpPr>
          <p:cNvPr id="10" name="Shape 8"/>
          <p:cNvSpPr/>
          <p:nvPr/>
        </p:nvSpPr>
        <p:spPr>
          <a:xfrm>
            <a:off x="4663440" y="1188720"/>
            <a:ext cx="4023360" cy="457200"/>
          </a:xfrm>
          <a:prstGeom prst="rect">
            <a:avLst/>
          </a:prstGeom>
          <a:solidFill>
            <a:srgbClr val="1F2A44"/>
          </a:solidFill>
          <a:ln w="12700">
            <a:solidFill>
              <a:srgbClr val="1F2A44"/>
            </a:solidFill>
            <a:prstDash val="solid"/>
          </a:ln>
        </p:spPr>
        <p:txBody>
          <a:bodyPr/>
          <a:lstStyle/>
          <a:p>
            <a:endParaRPr lang="en-US"/>
          </a:p>
        </p:txBody>
      </p:sp>
      <p:sp>
        <p:nvSpPr>
          <p:cNvPr id="11" name="Text 9"/>
          <p:cNvSpPr txBox="1"/>
          <p:nvPr/>
        </p:nvSpPr>
        <p:spPr>
          <a:xfrm>
            <a:off x="480060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 Pakistan</a:t>
            </a:r>
            <a:endParaRPr lang="en-US" sz="1600" dirty="0"/>
          </a:p>
        </p:txBody>
      </p:sp>
      <p:sp>
        <p:nvSpPr>
          <p:cNvPr id="12" name="Shape 10"/>
          <p:cNvSpPr/>
          <p:nvPr/>
        </p:nvSpPr>
        <p:spPr>
          <a:xfrm>
            <a:off x="466344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13" name="Text 11"/>
          <p:cNvSpPr txBox="1"/>
          <p:nvPr/>
        </p:nvSpPr>
        <p:spPr>
          <a:xfrm>
            <a:off x="480060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Official language alongside Urdu; used in courts, government and corporate offices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Medium of instruction at universities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Required for most competitive exams and scholarships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Gateway to study and work abroad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Importance of English for University Students</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8</a:t>
            </a:r>
            <a:endParaRPr lang="en-US" sz="1000" dirty="0"/>
          </a:p>
        </p:txBody>
      </p:sp>
      <p:sp>
        <p:nvSpPr>
          <p:cNvPr id="6" name="Shape 4"/>
          <p:cNvSpPr/>
          <p:nvPr/>
        </p:nvSpPr>
        <p:spPr>
          <a:xfrm>
            <a:off x="457200" y="1188720"/>
            <a:ext cx="4023360" cy="457200"/>
          </a:xfrm>
          <a:prstGeom prst="rect">
            <a:avLst/>
          </a:prstGeom>
          <a:solidFill>
            <a:srgbClr val="0F766E"/>
          </a:solidFill>
          <a:ln w="12700">
            <a:solidFill>
              <a:srgbClr val="0F766E"/>
            </a:solidFill>
            <a:prstDash val="solid"/>
          </a:ln>
        </p:spPr>
        <p:txBody>
          <a:bodyPr/>
          <a:lstStyle/>
          <a:p>
            <a:endParaRPr lang="en-US"/>
          </a:p>
        </p:txBody>
      </p:sp>
      <p:sp>
        <p:nvSpPr>
          <p:cNvPr id="7" name="Text 5"/>
          <p:cNvSpPr txBox="1"/>
          <p:nvPr/>
        </p:nvSpPr>
        <p:spPr>
          <a:xfrm>
            <a:off x="59436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Academic Success</a:t>
            </a:r>
            <a:endParaRPr lang="en-US" sz="1600" dirty="0"/>
          </a:p>
        </p:txBody>
      </p:sp>
      <p:sp>
        <p:nvSpPr>
          <p:cNvPr id="8" name="Shape 6"/>
          <p:cNvSpPr/>
          <p:nvPr/>
        </p:nvSpPr>
        <p:spPr>
          <a:xfrm>
            <a:off x="45720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9" name="Text 7"/>
          <p:cNvSpPr txBox="1"/>
          <p:nvPr/>
        </p:nvSpPr>
        <p:spPr>
          <a:xfrm>
            <a:off x="59436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Read textbooks, journals and online references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Write assignments, reports and research papers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Understand lectures and take clear notes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Present projects confidently, and score better in exams</a:t>
            </a:r>
            <a:endParaRPr lang="en-US" sz="1400" dirty="0"/>
          </a:p>
        </p:txBody>
      </p:sp>
      <p:sp>
        <p:nvSpPr>
          <p:cNvPr id="10" name="Shape 8"/>
          <p:cNvSpPr/>
          <p:nvPr/>
        </p:nvSpPr>
        <p:spPr>
          <a:xfrm>
            <a:off x="4663440" y="1188720"/>
            <a:ext cx="4023360" cy="457200"/>
          </a:xfrm>
          <a:prstGeom prst="rect">
            <a:avLst/>
          </a:prstGeom>
          <a:solidFill>
            <a:srgbClr val="F2B134"/>
          </a:solidFill>
          <a:ln w="12700">
            <a:solidFill>
              <a:srgbClr val="F2B134"/>
            </a:solidFill>
            <a:prstDash val="solid"/>
          </a:ln>
        </p:spPr>
        <p:txBody>
          <a:bodyPr/>
          <a:lstStyle/>
          <a:p>
            <a:endParaRPr lang="en-US"/>
          </a:p>
        </p:txBody>
      </p:sp>
      <p:sp>
        <p:nvSpPr>
          <p:cNvPr id="11" name="Text 9"/>
          <p:cNvSpPr txBox="1"/>
          <p:nvPr/>
        </p:nvSpPr>
        <p:spPr>
          <a:xfrm>
            <a:off x="480060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Career Success</a:t>
            </a:r>
            <a:endParaRPr lang="en-US" sz="1600" dirty="0"/>
          </a:p>
        </p:txBody>
      </p:sp>
      <p:sp>
        <p:nvSpPr>
          <p:cNvPr id="12" name="Shape 10"/>
          <p:cNvSpPr/>
          <p:nvPr/>
        </p:nvSpPr>
        <p:spPr>
          <a:xfrm>
            <a:off x="466344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13" name="Text 11"/>
          <p:cNvSpPr txBox="1"/>
          <p:nvPr/>
        </p:nvSpPr>
        <p:spPr>
          <a:xfrm>
            <a:off x="480060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CVs, cover letters and interviews are mostly in English</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Emails, meetings and reports at work</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Better salary and promotion chances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Networking on LinkedIn and global platforms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Importance in Personal and Professional Life</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9</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Confidence</a:t>
            </a:r>
            <a:r>
              <a:rPr lang="en-US" sz="1600" dirty="0">
                <a:solidFill>
                  <a:srgbClr val="1F2A44"/>
                </a:solidFill>
                <a:latin typeface="Calibri" pitchFamily="34" charset="0"/>
                <a:ea typeface="Calibri" pitchFamily="34" charset="-122"/>
                <a:cs typeface="Calibri" pitchFamily="34" charset="-120"/>
              </a:rPr>
              <a:t>: you can speak up in class, meetings and interviews</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Independence: </a:t>
            </a:r>
            <a:r>
              <a:rPr lang="en-US" sz="1600" dirty="0">
                <a:solidFill>
                  <a:srgbClr val="1F2A44"/>
                </a:solidFill>
                <a:latin typeface="Calibri" pitchFamily="34" charset="0"/>
                <a:ea typeface="Calibri" pitchFamily="34" charset="-122"/>
                <a:cs typeface="Calibri" pitchFamily="34" charset="-120"/>
              </a:rPr>
              <a:t>you can learn from any course, video or book in the world</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Credibility: </a:t>
            </a:r>
            <a:r>
              <a:rPr lang="en-US" sz="1600" dirty="0">
                <a:solidFill>
                  <a:srgbClr val="1F2A44"/>
                </a:solidFill>
                <a:latin typeface="Calibri" pitchFamily="34" charset="0"/>
                <a:ea typeface="Calibri" pitchFamily="34" charset="-122"/>
                <a:cs typeface="Calibri" pitchFamily="34" charset="-120"/>
              </a:rPr>
              <a:t>clear writing makes you look organised and trustworthy</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Opportunity: </a:t>
            </a:r>
            <a:r>
              <a:rPr lang="en-US" sz="1600" dirty="0">
                <a:solidFill>
                  <a:srgbClr val="1F2A44"/>
                </a:solidFill>
                <a:latin typeface="Calibri" pitchFamily="34" charset="0"/>
                <a:ea typeface="Calibri" pitchFamily="34" charset="-122"/>
                <a:cs typeface="Calibri" pitchFamily="34" charset="-120"/>
              </a:rPr>
              <a:t>freelancing, remote jobs and scholarships need English</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Connection: </a:t>
            </a:r>
            <a:r>
              <a:rPr lang="en-US" sz="1600" dirty="0">
                <a:solidFill>
                  <a:srgbClr val="1F2A44"/>
                </a:solidFill>
                <a:latin typeface="Calibri" pitchFamily="34" charset="0"/>
                <a:ea typeface="Calibri" pitchFamily="34" charset="-122"/>
                <a:cs typeface="Calibri" pitchFamily="34" charset="-120"/>
              </a:rPr>
              <a:t>you can make friends and contacts beyond your city or country</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Reality check: </a:t>
            </a:r>
            <a:r>
              <a:rPr lang="en-US" sz="1600" dirty="0">
                <a:solidFill>
                  <a:srgbClr val="1F2A44"/>
                </a:solidFill>
                <a:latin typeface="Calibri" pitchFamily="34" charset="0"/>
                <a:ea typeface="Calibri" pitchFamily="34" charset="-122"/>
                <a:cs typeface="Calibri" pitchFamily="34" charset="-120"/>
              </a:rPr>
              <a:t>knowing English helps, but using it clearly and correctly is what employers reward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Objectives of Functional English</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10</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Build practical English for study, work and daily life, not only theory</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Improve listening, speaking, reading and writing together</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Strengthen grammar, vocabulary and pronunciation in context</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Develop academic writing: paragraphs, emails, reports and summaries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Build presentation, discussion and interview skills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Grow personal effectiveness using Covey’s 7 Habits as the course foundation</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Move from “knowing” English to “using” English with confidence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The Four Pillars of Language</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11</a:t>
            </a:r>
            <a:endParaRPr lang="en-US" sz="1000" dirty="0"/>
          </a:p>
        </p:txBody>
      </p:sp>
      <p:sp>
        <p:nvSpPr>
          <p:cNvPr id="6" name="Shape 4"/>
          <p:cNvSpPr/>
          <p:nvPr/>
        </p:nvSpPr>
        <p:spPr>
          <a:xfrm>
            <a:off x="457200" y="1280160"/>
            <a:ext cx="1920240" cy="2560320"/>
          </a:xfrm>
          <a:prstGeom prst="rect">
            <a:avLst/>
          </a:prstGeom>
          <a:solidFill>
            <a:srgbClr val="FFFFFF"/>
          </a:solidFill>
          <a:ln w="25400">
            <a:solidFill>
              <a:srgbClr val="0F766E"/>
            </a:solidFill>
            <a:prstDash val="solid"/>
          </a:ln>
        </p:spPr>
        <p:txBody>
          <a:bodyPr/>
          <a:lstStyle/>
          <a:p>
            <a:endParaRPr lang="en-US"/>
          </a:p>
        </p:txBody>
      </p:sp>
      <p:sp>
        <p:nvSpPr>
          <p:cNvPr id="7" name="Shape 5"/>
          <p:cNvSpPr/>
          <p:nvPr/>
        </p:nvSpPr>
        <p:spPr>
          <a:xfrm>
            <a:off x="457200" y="1280160"/>
            <a:ext cx="1920240" cy="640080"/>
          </a:xfrm>
          <a:prstGeom prst="rect">
            <a:avLst/>
          </a:prstGeom>
          <a:solidFill>
            <a:srgbClr val="0F766E"/>
          </a:solidFill>
          <a:ln w="12700">
            <a:solidFill>
              <a:srgbClr val="0F766E"/>
            </a:solidFill>
            <a:prstDash val="solid"/>
          </a:ln>
        </p:spPr>
        <p:txBody>
          <a:bodyPr/>
          <a:lstStyle/>
          <a:p>
            <a:endParaRPr lang="en-US"/>
          </a:p>
        </p:txBody>
      </p:sp>
      <p:sp>
        <p:nvSpPr>
          <p:cNvPr id="8" name="Text 6"/>
          <p:cNvSpPr txBox="1"/>
          <p:nvPr/>
        </p:nvSpPr>
        <p:spPr>
          <a:xfrm>
            <a:off x="457200" y="1280160"/>
            <a:ext cx="192024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Listening</a:t>
            </a:r>
            <a:endParaRPr lang="en-US" sz="1800" dirty="0"/>
          </a:p>
        </p:txBody>
      </p:sp>
      <p:sp>
        <p:nvSpPr>
          <p:cNvPr id="9" name="Text 7"/>
          <p:cNvSpPr txBox="1"/>
          <p:nvPr/>
        </p:nvSpPr>
        <p:spPr>
          <a:xfrm>
            <a:off x="457200" y="2103120"/>
            <a:ext cx="1920240" cy="457200"/>
          </a:xfrm>
          <a:prstGeom prst="rect">
            <a:avLst/>
          </a:prstGeom>
          <a:noFill/>
          <a:ln/>
        </p:spPr>
        <p:txBody>
          <a:bodyPr wrap="square" lIns="0" tIns="0" rIns="0" bIns="0" rtlCol="0" anchor="ctr"/>
          <a:lstStyle/>
          <a:p>
            <a:pPr marL="0" indent="0" algn="ctr">
              <a:buNone/>
            </a:pPr>
            <a:r>
              <a:rPr lang="en-US" sz="2000" b="1" dirty="0">
                <a:solidFill>
                  <a:srgbClr val="0F766E"/>
                </a:solidFill>
                <a:latin typeface="Calibri" pitchFamily="34" charset="0"/>
                <a:ea typeface="Calibri" pitchFamily="34" charset="-122"/>
                <a:cs typeface="Calibri" pitchFamily="34" charset="-120"/>
              </a:rPr>
              <a:t>Receive</a:t>
            </a:r>
            <a:endParaRPr lang="en-US" sz="2000" dirty="0"/>
          </a:p>
        </p:txBody>
      </p:sp>
      <p:sp>
        <p:nvSpPr>
          <p:cNvPr id="10" name="Text 8"/>
          <p:cNvSpPr txBox="1"/>
          <p:nvPr/>
        </p:nvSpPr>
        <p:spPr>
          <a:xfrm>
            <a:off x="594360" y="2651760"/>
            <a:ext cx="1645920" cy="1005840"/>
          </a:xfrm>
          <a:prstGeom prst="rect">
            <a:avLst/>
          </a:prstGeom>
          <a:noFill/>
          <a:ln/>
        </p:spPr>
        <p:txBody>
          <a:bodyPr wrap="square" lIns="0" tIns="0" rIns="0" bIns="0" rtlCol="0" anchor="ctr"/>
          <a:lstStyle/>
          <a:p>
            <a:pPr marL="0" indent="0" algn="ctr">
              <a:buNone/>
            </a:pPr>
            <a:r>
              <a:rPr lang="en-US" sz="1400" dirty="0">
                <a:solidFill>
                  <a:srgbClr val="1F2A44"/>
                </a:solidFill>
                <a:latin typeface="Calibri" pitchFamily="34" charset="0"/>
                <a:ea typeface="Calibri" pitchFamily="34" charset="-122"/>
                <a:cs typeface="Calibri" pitchFamily="34" charset="-120"/>
              </a:rPr>
              <a:t>Understanding what others say</a:t>
            </a:r>
            <a:endParaRPr lang="en-US" sz="1400" dirty="0"/>
          </a:p>
        </p:txBody>
      </p:sp>
      <p:sp>
        <p:nvSpPr>
          <p:cNvPr id="11" name="Shape 9"/>
          <p:cNvSpPr/>
          <p:nvPr/>
        </p:nvSpPr>
        <p:spPr>
          <a:xfrm>
            <a:off x="2560320" y="1280160"/>
            <a:ext cx="1920240" cy="2560320"/>
          </a:xfrm>
          <a:prstGeom prst="rect">
            <a:avLst/>
          </a:prstGeom>
          <a:solidFill>
            <a:srgbClr val="FFFFFF"/>
          </a:solidFill>
          <a:ln w="25400">
            <a:solidFill>
              <a:srgbClr val="0F766E"/>
            </a:solidFill>
            <a:prstDash val="solid"/>
          </a:ln>
        </p:spPr>
        <p:txBody>
          <a:bodyPr/>
          <a:lstStyle/>
          <a:p>
            <a:endParaRPr lang="en-US"/>
          </a:p>
        </p:txBody>
      </p:sp>
      <p:sp>
        <p:nvSpPr>
          <p:cNvPr id="12" name="Shape 10"/>
          <p:cNvSpPr/>
          <p:nvPr/>
        </p:nvSpPr>
        <p:spPr>
          <a:xfrm>
            <a:off x="2560320" y="1280160"/>
            <a:ext cx="1920240" cy="640080"/>
          </a:xfrm>
          <a:prstGeom prst="rect">
            <a:avLst/>
          </a:prstGeom>
          <a:solidFill>
            <a:srgbClr val="1F2A44"/>
          </a:solidFill>
          <a:ln w="12700">
            <a:solidFill>
              <a:srgbClr val="1F2A44"/>
            </a:solidFill>
            <a:prstDash val="solid"/>
          </a:ln>
        </p:spPr>
        <p:txBody>
          <a:bodyPr/>
          <a:lstStyle/>
          <a:p>
            <a:endParaRPr lang="en-US"/>
          </a:p>
        </p:txBody>
      </p:sp>
      <p:sp>
        <p:nvSpPr>
          <p:cNvPr id="13" name="Text 11"/>
          <p:cNvSpPr txBox="1"/>
          <p:nvPr/>
        </p:nvSpPr>
        <p:spPr>
          <a:xfrm>
            <a:off x="2560320" y="1280160"/>
            <a:ext cx="192024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Speaking</a:t>
            </a:r>
            <a:endParaRPr lang="en-US" sz="1800" dirty="0"/>
          </a:p>
        </p:txBody>
      </p:sp>
      <p:sp>
        <p:nvSpPr>
          <p:cNvPr id="14" name="Text 12"/>
          <p:cNvSpPr txBox="1"/>
          <p:nvPr/>
        </p:nvSpPr>
        <p:spPr>
          <a:xfrm>
            <a:off x="2560320" y="2103120"/>
            <a:ext cx="1920240" cy="457200"/>
          </a:xfrm>
          <a:prstGeom prst="rect">
            <a:avLst/>
          </a:prstGeom>
          <a:noFill/>
          <a:ln/>
        </p:spPr>
        <p:txBody>
          <a:bodyPr wrap="square" lIns="0" tIns="0" rIns="0" bIns="0" rtlCol="0" anchor="ctr"/>
          <a:lstStyle/>
          <a:p>
            <a:pPr marL="0" indent="0" algn="ctr">
              <a:buNone/>
            </a:pPr>
            <a:r>
              <a:rPr lang="en-US" sz="2000" b="1" dirty="0">
                <a:solidFill>
                  <a:srgbClr val="0F766E"/>
                </a:solidFill>
                <a:latin typeface="Calibri" pitchFamily="34" charset="0"/>
                <a:ea typeface="Calibri" pitchFamily="34" charset="-122"/>
                <a:cs typeface="Calibri" pitchFamily="34" charset="-120"/>
              </a:rPr>
              <a:t>Express</a:t>
            </a:r>
            <a:endParaRPr lang="en-US" sz="2000" dirty="0"/>
          </a:p>
        </p:txBody>
      </p:sp>
      <p:sp>
        <p:nvSpPr>
          <p:cNvPr id="15" name="Text 13"/>
          <p:cNvSpPr txBox="1"/>
          <p:nvPr/>
        </p:nvSpPr>
        <p:spPr>
          <a:xfrm>
            <a:off x="2697480" y="2651760"/>
            <a:ext cx="1645920" cy="1005840"/>
          </a:xfrm>
          <a:prstGeom prst="rect">
            <a:avLst/>
          </a:prstGeom>
          <a:noFill/>
          <a:ln/>
        </p:spPr>
        <p:txBody>
          <a:bodyPr wrap="square" lIns="0" tIns="0" rIns="0" bIns="0" rtlCol="0" anchor="ctr"/>
          <a:lstStyle/>
          <a:p>
            <a:pPr marL="0" indent="0" algn="ctr">
              <a:buNone/>
            </a:pPr>
            <a:r>
              <a:rPr lang="en-US" sz="1400" dirty="0">
                <a:solidFill>
                  <a:srgbClr val="1F2A44"/>
                </a:solidFill>
                <a:latin typeface="Calibri" pitchFamily="34" charset="0"/>
                <a:ea typeface="Calibri" pitchFamily="34" charset="-122"/>
                <a:cs typeface="Calibri" pitchFamily="34" charset="-120"/>
              </a:rPr>
              <a:t>Saying ideas clearly aloud</a:t>
            </a:r>
            <a:endParaRPr lang="en-US" sz="1400" dirty="0"/>
          </a:p>
        </p:txBody>
      </p:sp>
      <p:sp>
        <p:nvSpPr>
          <p:cNvPr id="16" name="Shape 14"/>
          <p:cNvSpPr/>
          <p:nvPr/>
        </p:nvSpPr>
        <p:spPr>
          <a:xfrm>
            <a:off x="4663440" y="1280160"/>
            <a:ext cx="1920240" cy="2560320"/>
          </a:xfrm>
          <a:prstGeom prst="rect">
            <a:avLst/>
          </a:prstGeom>
          <a:solidFill>
            <a:srgbClr val="FFFFFF"/>
          </a:solidFill>
          <a:ln w="25400">
            <a:solidFill>
              <a:srgbClr val="0F766E"/>
            </a:solidFill>
            <a:prstDash val="solid"/>
          </a:ln>
        </p:spPr>
        <p:txBody>
          <a:bodyPr/>
          <a:lstStyle/>
          <a:p>
            <a:endParaRPr lang="en-US"/>
          </a:p>
        </p:txBody>
      </p:sp>
      <p:sp>
        <p:nvSpPr>
          <p:cNvPr id="17" name="Shape 15"/>
          <p:cNvSpPr/>
          <p:nvPr/>
        </p:nvSpPr>
        <p:spPr>
          <a:xfrm>
            <a:off x="4663440" y="1280160"/>
            <a:ext cx="1920240" cy="640080"/>
          </a:xfrm>
          <a:prstGeom prst="rect">
            <a:avLst/>
          </a:prstGeom>
          <a:solidFill>
            <a:srgbClr val="0F766E"/>
          </a:solidFill>
          <a:ln w="12700">
            <a:solidFill>
              <a:srgbClr val="0F766E"/>
            </a:solidFill>
            <a:prstDash val="solid"/>
          </a:ln>
        </p:spPr>
        <p:txBody>
          <a:bodyPr/>
          <a:lstStyle/>
          <a:p>
            <a:endParaRPr lang="en-US"/>
          </a:p>
        </p:txBody>
      </p:sp>
      <p:sp>
        <p:nvSpPr>
          <p:cNvPr id="18" name="Text 16"/>
          <p:cNvSpPr txBox="1"/>
          <p:nvPr/>
        </p:nvSpPr>
        <p:spPr>
          <a:xfrm>
            <a:off x="4663440" y="1280160"/>
            <a:ext cx="192024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Reading</a:t>
            </a:r>
            <a:endParaRPr lang="en-US" sz="1800" dirty="0"/>
          </a:p>
        </p:txBody>
      </p:sp>
      <p:sp>
        <p:nvSpPr>
          <p:cNvPr id="19" name="Text 17"/>
          <p:cNvSpPr txBox="1"/>
          <p:nvPr/>
        </p:nvSpPr>
        <p:spPr>
          <a:xfrm>
            <a:off x="4663440" y="2103120"/>
            <a:ext cx="1920240" cy="457200"/>
          </a:xfrm>
          <a:prstGeom prst="rect">
            <a:avLst/>
          </a:prstGeom>
          <a:noFill/>
          <a:ln/>
        </p:spPr>
        <p:txBody>
          <a:bodyPr wrap="square" lIns="0" tIns="0" rIns="0" bIns="0" rtlCol="0" anchor="ctr"/>
          <a:lstStyle/>
          <a:p>
            <a:pPr marL="0" indent="0" algn="ctr">
              <a:buNone/>
            </a:pPr>
            <a:r>
              <a:rPr lang="en-US" sz="2000" b="1" dirty="0">
                <a:solidFill>
                  <a:srgbClr val="0F766E"/>
                </a:solidFill>
                <a:latin typeface="Calibri" pitchFamily="34" charset="0"/>
                <a:ea typeface="Calibri" pitchFamily="34" charset="-122"/>
                <a:cs typeface="Calibri" pitchFamily="34" charset="-120"/>
              </a:rPr>
              <a:t>Understand</a:t>
            </a:r>
            <a:endParaRPr lang="en-US" sz="2000" dirty="0"/>
          </a:p>
        </p:txBody>
      </p:sp>
      <p:sp>
        <p:nvSpPr>
          <p:cNvPr id="20" name="Text 18"/>
          <p:cNvSpPr txBox="1"/>
          <p:nvPr/>
        </p:nvSpPr>
        <p:spPr>
          <a:xfrm>
            <a:off x="4800600" y="2651760"/>
            <a:ext cx="1645920" cy="1005840"/>
          </a:xfrm>
          <a:prstGeom prst="rect">
            <a:avLst/>
          </a:prstGeom>
          <a:noFill/>
          <a:ln/>
        </p:spPr>
        <p:txBody>
          <a:bodyPr wrap="square" lIns="0" tIns="0" rIns="0" bIns="0" rtlCol="0" anchor="ctr"/>
          <a:lstStyle/>
          <a:p>
            <a:pPr marL="0" indent="0" algn="ctr">
              <a:buNone/>
            </a:pPr>
            <a:r>
              <a:rPr lang="en-US" sz="1400" dirty="0">
                <a:solidFill>
                  <a:srgbClr val="1F2A44"/>
                </a:solidFill>
                <a:latin typeface="Calibri" pitchFamily="34" charset="0"/>
                <a:ea typeface="Calibri" pitchFamily="34" charset="-122"/>
                <a:cs typeface="Calibri" pitchFamily="34" charset="-120"/>
              </a:rPr>
              <a:t>Making meaning from text</a:t>
            </a:r>
            <a:endParaRPr lang="en-US" sz="1400" dirty="0"/>
          </a:p>
        </p:txBody>
      </p:sp>
      <p:sp>
        <p:nvSpPr>
          <p:cNvPr id="21" name="Shape 19"/>
          <p:cNvSpPr/>
          <p:nvPr/>
        </p:nvSpPr>
        <p:spPr>
          <a:xfrm>
            <a:off x="6766560" y="1280160"/>
            <a:ext cx="1920240" cy="2560320"/>
          </a:xfrm>
          <a:prstGeom prst="rect">
            <a:avLst/>
          </a:prstGeom>
          <a:solidFill>
            <a:srgbClr val="FFFFFF"/>
          </a:solidFill>
          <a:ln w="25400">
            <a:solidFill>
              <a:srgbClr val="0F766E"/>
            </a:solidFill>
            <a:prstDash val="solid"/>
          </a:ln>
        </p:spPr>
        <p:txBody>
          <a:bodyPr/>
          <a:lstStyle/>
          <a:p>
            <a:endParaRPr lang="en-US"/>
          </a:p>
        </p:txBody>
      </p:sp>
      <p:sp>
        <p:nvSpPr>
          <p:cNvPr id="22" name="Shape 20"/>
          <p:cNvSpPr/>
          <p:nvPr/>
        </p:nvSpPr>
        <p:spPr>
          <a:xfrm>
            <a:off x="6766560" y="1280160"/>
            <a:ext cx="1920240" cy="640080"/>
          </a:xfrm>
          <a:prstGeom prst="rect">
            <a:avLst/>
          </a:prstGeom>
          <a:solidFill>
            <a:srgbClr val="1F2A44"/>
          </a:solidFill>
          <a:ln w="12700">
            <a:solidFill>
              <a:srgbClr val="1F2A44"/>
            </a:solidFill>
            <a:prstDash val="solid"/>
          </a:ln>
        </p:spPr>
        <p:txBody>
          <a:bodyPr/>
          <a:lstStyle/>
          <a:p>
            <a:endParaRPr lang="en-US"/>
          </a:p>
        </p:txBody>
      </p:sp>
      <p:sp>
        <p:nvSpPr>
          <p:cNvPr id="23" name="Text 21"/>
          <p:cNvSpPr txBox="1"/>
          <p:nvPr/>
        </p:nvSpPr>
        <p:spPr>
          <a:xfrm>
            <a:off x="6766560" y="1280160"/>
            <a:ext cx="192024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Writing</a:t>
            </a:r>
            <a:endParaRPr lang="en-US" sz="1800" dirty="0"/>
          </a:p>
        </p:txBody>
      </p:sp>
      <p:sp>
        <p:nvSpPr>
          <p:cNvPr id="24" name="Text 22"/>
          <p:cNvSpPr txBox="1"/>
          <p:nvPr/>
        </p:nvSpPr>
        <p:spPr>
          <a:xfrm>
            <a:off x="6766560" y="2103120"/>
            <a:ext cx="1920240" cy="457200"/>
          </a:xfrm>
          <a:prstGeom prst="rect">
            <a:avLst/>
          </a:prstGeom>
          <a:noFill/>
          <a:ln/>
        </p:spPr>
        <p:txBody>
          <a:bodyPr wrap="square" lIns="0" tIns="0" rIns="0" bIns="0" rtlCol="0" anchor="ctr"/>
          <a:lstStyle/>
          <a:p>
            <a:pPr marL="0" indent="0" algn="ctr">
              <a:buNone/>
            </a:pPr>
            <a:r>
              <a:rPr lang="en-US" sz="2000" b="1" dirty="0">
                <a:solidFill>
                  <a:srgbClr val="0F766E"/>
                </a:solidFill>
                <a:latin typeface="Calibri" pitchFamily="34" charset="0"/>
                <a:ea typeface="Calibri" pitchFamily="34" charset="-122"/>
                <a:cs typeface="Calibri" pitchFamily="34" charset="-120"/>
              </a:rPr>
              <a:t>Create</a:t>
            </a:r>
            <a:endParaRPr lang="en-US" sz="2000" dirty="0"/>
          </a:p>
        </p:txBody>
      </p:sp>
      <p:sp>
        <p:nvSpPr>
          <p:cNvPr id="25" name="Text 23"/>
          <p:cNvSpPr txBox="1"/>
          <p:nvPr/>
        </p:nvSpPr>
        <p:spPr>
          <a:xfrm>
            <a:off x="6903720" y="2651760"/>
            <a:ext cx="1645920" cy="1005840"/>
          </a:xfrm>
          <a:prstGeom prst="rect">
            <a:avLst/>
          </a:prstGeom>
          <a:noFill/>
          <a:ln/>
        </p:spPr>
        <p:txBody>
          <a:bodyPr wrap="square" lIns="0" tIns="0" rIns="0" bIns="0" rtlCol="0" anchor="ctr"/>
          <a:lstStyle/>
          <a:p>
            <a:pPr marL="0" indent="0" algn="ctr">
              <a:buNone/>
            </a:pPr>
            <a:r>
              <a:rPr lang="en-US" sz="1400" dirty="0">
                <a:solidFill>
                  <a:srgbClr val="1F2A44"/>
                </a:solidFill>
                <a:latin typeface="Calibri" pitchFamily="34" charset="0"/>
                <a:ea typeface="Calibri" pitchFamily="34" charset="-122"/>
                <a:cs typeface="Calibri" pitchFamily="34" charset="-120"/>
              </a:rPr>
              <a:t>Putting ideas on paper clearly</a:t>
            </a:r>
            <a:endParaRPr lang="en-US" sz="1400" dirty="0"/>
          </a:p>
        </p:txBody>
      </p:sp>
      <p:sp>
        <p:nvSpPr>
          <p:cNvPr id="26" name="Text 24"/>
          <p:cNvSpPr txBox="1"/>
          <p:nvPr/>
        </p:nvSpPr>
        <p:spPr>
          <a:xfrm>
            <a:off x="457200" y="4114800"/>
            <a:ext cx="8229600" cy="365760"/>
          </a:xfrm>
          <a:prstGeom prst="rect">
            <a:avLst/>
          </a:prstGeom>
          <a:noFill/>
          <a:ln/>
        </p:spPr>
        <p:txBody>
          <a:bodyPr wrap="square" lIns="0" tIns="0" rIns="0" bIns="0" rtlCol="0" anchor="ctr"/>
          <a:lstStyle/>
          <a:p>
            <a:pPr marL="0" indent="0" algn="ctr">
              <a:buNone/>
            </a:pPr>
            <a:r>
              <a:rPr lang="en-US" sz="1400" b="1" dirty="0">
                <a:solidFill>
                  <a:srgbClr val="1F2A44"/>
                </a:solidFill>
                <a:latin typeface="Calibri" pitchFamily="34" charset="0"/>
                <a:ea typeface="Calibri" pitchFamily="34" charset="-122"/>
                <a:cs typeface="Calibri" pitchFamily="34" charset="-120"/>
              </a:rPr>
              <a:t>Receptive skills: Listening and Reading     |     Productive skills: Speaking and Writing</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Pillar 1: Listening</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12</a:t>
            </a:r>
            <a:endParaRPr lang="en-US" sz="1000" dirty="0"/>
          </a:p>
        </p:txBody>
      </p:sp>
      <p:sp>
        <p:nvSpPr>
          <p:cNvPr id="6" name="Shape 4"/>
          <p:cNvSpPr/>
          <p:nvPr/>
        </p:nvSpPr>
        <p:spPr>
          <a:xfrm>
            <a:off x="457200" y="1188720"/>
            <a:ext cx="4023360" cy="457200"/>
          </a:xfrm>
          <a:prstGeom prst="rect">
            <a:avLst/>
          </a:prstGeom>
          <a:solidFill>
            <a:srgbClr val="0F766E"/>
          </a:solidFill>
          <a:ln w="12700">
            <a:solidFill>
              <a:srgbClr val="0F766E"/>
            </a:solidFill>
            <a:prstDash val="solid"/>
          </a:ln>
        </p:spPr>
        <p:txBody>
          <a:bodyPr/>
          <a:lstStyle/>
          <a:p>
            <a:endParaRPr lang="en-US"/>
          </a:p>
        </p:txBody>
      </p:sp>
      <p:sp>
        <p:nvSpPr>
          <p:cNvPr id="7" name="Text 5"/>
          <p:cNvSpPr txBox="1"/>
          <p:nvPr/>
        </p:nvSpPr>
        <p:spPr>
          <a:xfrm>
            <a:off x="59436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it means</a:t>
            </a:r>
            <a:endParaRPr lang="en-US" sz="1600" dirty="0"/>
          </a:p>
        </p:txBody>
      </p:sp>
      <p:sp>
        <p:nvSpPr>
          <p:cNvPr id="8" name="Shape 6"/>
          <p:cNvSpPr/>
          <p:nvPr/>
        </p:nvSpPr>
        <p:spPr>
          <a:xfrm>
            <a:off x="45720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9" name="Text 7"/>
          <p:cNvSpPr txBox="1"/>
          <p:nvPr/>
        </p:nvSpPr>
        <p:spPr>
          <a:xfrm>
            <a:off x="59436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Understanding spoken English: lectures, talks, conversations, news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It is active, not passive: you must focus and think</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About 45% of communication time is spent listening (commonly cited estimate)</a:t>
            </a:r>
            <a:endParaRPr lang="en-US" sz="1400" dirty="0"/>
          </a:p>
        </p:txBody>
      </p:sp>
      <p:sp>
        <p:nvSpPr>
          <p:cNvPr id="10" name="Shape 8"/>
          <p:cNvSpPr/>
          <p:nvPr/>
        </p:nvSpPr>
        <p:spPr>
          <a:xfrm>
            <a:off x="4663440" y="1188720"/>
            <a:ext cx="4023360" cy="457200"/>
          </a:xfrm>
          <a:prstGeom prst="rect">
            <a:avLst/>
          </a:prstGeom>
          <a:solidFill>
            <a:srgbClr val="1F2A44"/>
          </a:solidFill>
          <a:ln w="12700">
            <a:solidFill>
              <a:srgbClr val="1F2A44"/>
            </a:solidFill>
            <a:prstDash val="solid"/>
          </a:ln>
        </p:spPr>
        <p:txBody>
          <a:bodyPr/>
          <a:lstStyle/>
          <a:p>
            <a:endParaRPr lang="en-US"/>
          </a:p>
        </p:txBody>
      </p:sp>
      <p:sp>
        <p:nvSpPr>
          <p:cNvPr id="11" name="Text 9"/>
          <p:cNvSpPr txBox="1"/>
          <p:nvPr/>
        </p:nvSpPr>
        <p:spPr>
          <a:xfrm>
            <a:off x="480060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How to improve</a:t>
            </a:r>
            <a:endParaRPr lang="en-US" sz="1600" dirty="0"/>
          </a:p>
        </p:txBody>
      </p:sp>
      <p:sp>
        <p:nvSpPr>
          <p:cNvPr id="12" name="Shape 10"/>
          <p:cNvSpPr/>
          <p:nvPr/>
        </p:nvSpPr>
        <p:spPr>
          <a:xfrm>
            <a:off x="466344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13" name="Text 11"/>
          <p:cNvSpPr txBox="1"/>
          <p:nvPr/>
        </p:nvSpPr>
        <p:spPr>
          <a:xfrm>
            <a:off x="480060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Watch English lectures or TED talks with subtitles, then without</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Take notes while listening and summarise</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Listen for key words, tone and examples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Ask clarifying questions when unsure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Pillar 2: Speaking</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13</a:t>
            </a:r>
            <a:endParaRPr lang="en-US" sz="1000" dirty="0"/>
          </a:p>
        </p:txBody>
      </p:sp>
      <p:sp>
        <p:nvSpPr>
          <p:cNvPr id="6" name="Shape 4"/>
          <p:cNvSpPr/>
          <p:nvPr/>
        </p:nvSpPr>
        <p:spPr>
          <a:xfrm>
            <a:off x="457200" y="1188720"/>
            <a:ext cx="4023360" cy="457200"/>
          </a:xfrm>
          <a:prstGeom prst="rect">
            <a:avLst/>
          </a:prstGeom>
          <a:solidFill>
            <a:srgbClr val="0F766E"/>
          </a:solidFill>
          <a:ln w="12700">
            <a:solidFill>
              <a:srgbClr val="0F766E"/>
            </a:solidFill>
            <a:prstDash val="solid"/>
          </a:ln>
        </p:spPr>
        <p:txBody>
          <a:bodyPr/>
          <a:lstStyle/>
          <a:p>
            <a:endParaRPr lang="en-US"/>
          </a:p>
        </p:txBody>
      </p:sp>
      <p:sp>
        <p:nvSpPr>
          <p:cNvPr id="7" name="Text 5"/>
          <p:cNvSpPr txBox="1"/>
          <p:nvPr/>
        </p:nvSpPr>
        <p:spPr>
          <a:xfrm>
            <a:off x="59436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it means</a:t>
            </a:r>
            <a:endParaRPr lang="en-US" sz="1600" dirty="0"/>
          </a:p>
        </p:txBody>
      </p:sp>
      <p:sp>
        <p:nvSpPr>
          <p:cNvPr id="8" name="Shape 6"/>
          <p:cNvSpPr/>
          <p:nvPr/>
        </p:nvSpPr>
        <p:spPr>
          <a:xfrm>
            <a:off x="45720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9" name="Text 7"/>
          <p:cNvSpPr txBox="1"/>
          <p:nvPr/>
        </p:nvSpPr>
        <p:spPr>
          <a:xfrm>
            <a:off x="59436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Expressing ideas clearly and politely in real time</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Includes pronunciation, fluency, vocabulary and body language</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Fear of mistakes is the biggest barrier</a:t>
            </a:r>
            <a:endParaRPr lang="en-US" sz="1400" dirty="0"/>
          </a:p>
        </p:txBody>
      </p:sp>
      <p:sp>
        <p:nvSpPr>
          <p:cNvPr id="10" name="Shape 8"/>
          <p:cNvSpPr/>
          <p:nvPr/>
        </p:nvSpPr>
        <p:spPr>
          <a:xfrm>
            <a:off x="4663440" y="1188720"/>
            <a:ext cx="4023360" cy="457200"/>
          </a:xfrm>
          <a:prstGeom prst="rect">
            <a:avLst/>
          </a:prstGeom>
          <a:solidFill>
            <a:srgbClr val="1F2A44"/>
          </a:solidFill>
          <a:ln w="12700">
            <a:solidFill>
              <a:srgbClr val="1F2A44"/>
            </a:solidFill>
            <a:prstDash val="solid"/>
          </a:ln>
        </p:spPr>
        <p:txBody>
          <a:bodyPr/>
          <a:lstStyle/>
          <a:p>
            <a:endParaRPr lang="en-US"/>
          </a:p>
        </p:txBody>
      </p:sp>
      <p:sp>
        <p:nvSpPr>
          <p:cNvPr id="11" name="Text 9"/>
          <p:cNvSpPr txBox="1"/>
          <p:nvPr/>
        </p:nvSpPr>
        <p:spPr>
          <a:xfrm>
            <a:off x="480060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How to improve</a:t>
            </a:r>
            <a:endParaRPr lang="en-US" sz="1600" dirty="0"/>
          </a:p>
        </p:txBody>
      </p:sp>
      <p:sp>
        <p:nvSpPr>
          <p:cNvPr id="12" name="Shape 10"/>
          <p:cNvSpPr/>
          <p:nvPr/>
        </p:nvSpPr>
        <p:spPr>
          <a:xfrm>
            <a:off x="466344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13" name="Text 11"/>
          <p:cNvSpPr txBox="1"/>
          <p:nvPr/>
        </p:nvSpPr>
        <p:spPr>
          <a:xfrm>
            <a:off x="480060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Speak daily, even to yourself or a friend</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Record your voice and listen back</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Think in English, use simple sentences first</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Join class discussions and presentations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Pillar 3: Reading</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14</a:t>
            </a:r>
            <a:endParaRPr lang="en-US" sz="1000" dirty="0"/>
          </a:p>
        </p:txBody>
      </p:sp>
      <p:sp>
        <p:nvSpPr>
          <p:cNvPr id="6" name="Shape 4"/>
          <p:cNvSpPr/>
          <p:nvPr/>
        </p:nvSpPr>
        <p:spPr>
          <a:xfrm>
            <a:off x="457200" y="1188720"/>
            <a:ext cx="4023360" cy="457200"/>
          </a:xfrm>
          <a:prstGeom prst="rect">
            <a:avLst/>
          </a:prstGeom>
          <a:solidFill>
            <a:srgbClr val="0F766E"/>
          </a:solidFill>
          <a:ln w="12700">
            <a:solidFill>
              <a:srgbClr val="0F766E"/>
            </a:solidFill>
            <a:prstDash val="solid"/>
          </a:ln>
        </p:spPr>
        <p:txBody>
          <a:bodyPr/>
          <a:lstStyle/>
          <a:p>
            <a:endParaRPr lang="en-US"/>
          </a:p>
        </p:txBody>
      </p:sp>
      <p:sp>
        <p:nvSpPr>
          <p:cNvPr id="7" name="Text 5"/>
          <p:cNvSpPr txBox="1"/>
          <p:nvPr/>
        </p:nvSpPr>
        <p:spPr>
          <a:xfrm>
            <a:off x="59436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it means</a:t>
            </a:r>
            <a:endParaRPr lang="en-US" sz="1600" dirty="0"/>
          </a:p>
        </p:txBody>
      </p:sp>
      <p:sp>
        <p:nvSpPr>
          <p:cNvPr id="8" name="Shape 6"/>
          <p:cNvSpPr/>
          <p:nvPr/>
        </p:nvSpPr>
        <p:spPr>
          <a:xfrm>
            <a:off x="45720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9" name="Text 7"/>
          <p:cNvSpPr txBox="1"/>
          <p:nvPr/>
        </p:nvSpPr>
        <p:spPr>
          <a:xfrm>
            <a:off x="59436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Understanding written text: books, articles, reports, emails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Skills: skimming (main idea), scanning (find details), deep reading</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Builds vocabulary and writing style automatically</a:t>
            </a:r>
            <a:endParaRPr lang="en-US" sz="1400" dirty="0"/>
          </a:p>
        </p:txBody>
      </p:sp>
      <p:sp>
        <p:nvSpPr>
          <p:cNvPr id="10" name="Shape 8"/>
          <p:cNvSpPr/>
          <p:nvPr/>
        </p:nvSpPr>
        <p:spPr>
          <a:xfrm>
            <a:off x="4663440" y="1188720"/>
            <a:ext cx="4023360" cy="457200"/>
          </a:xfrm>
          <a:prstGeom prst="rect">
            <a:avLst/>
          </a:prstGeom>
          <a:solidFill>
            <a:srgbClr val="1F2A44"/>
          </a:solidFill>
          <a:ln w="12700">
            <a:solidFill>
              <a:srgbClr val="1F2A44"/>
            </a:solidFill>
            <a:prstDash val="solid"/>
          </a:ln>
        </p:spPr>
        <p:txBody>
          <a:bodyPr/>
          <a:lstStyle/>
          <a:p>
            <a:endParaRPr lang="en-US"/>
          </a:p>
        </p:txBody>
      </p:sp>
      <p:sp>
        <p:nvSpPr>
          <p:cNvPr id="11" name="Text 9"/>
          <p:cNvSpPr txBox="1"/>
          <p:nvPr/>
        </p:nvSpPr>
        <p:spPr>
          <a:xfrm>
            <a:off x="480060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How to improve</a:t>
            </a:r>
            <a:endParaRPr lang="en-US" sz="1600" dirty="0"/>
          </a:p>
        </p:txBody>
      </p:sp>
      <p:sp>
        <p:nvSpPr>
          <p:cNvPr id="12" name="Shape 10"/>
          <p:cNvSpPr/>
          <p:nvPr/>
        </p:nvSpPr>
        <p:spPr>
          <a:xfrm>
            <a:off x="466344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13" name="Text 11"/>
          <p:cNvSpPr txBox="1"/>
          <p:nvPr/>
        </p:nvSpPr>
        <p:spPr>
          <a:xfrm>
            <a:off x="480060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Read 20 minutes daily: news, blogs or short stories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Underline new words and guess meaning from context</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Summarise each page in one sentence</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Move from easy texts to academic ones gradually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Pillar 4: Writing</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15</a:t>
            </a:r>
            <a:endParaRPr lang="en-US" sz="1000" dirty="0"/>
          </a:p>
        </p:txBody>
      </p:sp>
      <p:sp>
        <p:nvSpPr>
          <p:cNvPr id="6" name="Shape 4"/>
          <p:cNvSpPr/>
          <p:nvPr/>
        </p:nvSpPr>
        <p:spPr>
          <a:xfrm>
            <a:off x="457200" y="1188720"/>
            <a:ext cx="4023360" cy="457200"/>
          </a:xfrm>
          <a:prstGeom prst="rect">
            <a:avLst/>
          </a:prstGeom>
          <a:solidFill>
            <a:srgbClr val="0F766E"/>
          </a:solidFill>
          <a:ln w="12700">
            <a:solidFill>
              <a:srgbClr val="0F766E"/>
            </a:solidFill>
            <a:prstDash val="solid"/>
          </a:ln>
        </p:spPr>
        <p:txBody>
          <a:bodyPr/>
          <a:lstStyle/>
          <a:p>
            <a:endParaRPr lang="en-US"/>
          </a:p>
        </p:txBody>
      </p:sp>
      <p:sp>
        <p:nvSpPr>
          <p:cNvPr id="7" name="Text 5"/>
          <p:cNvSpPr txBox="1"/>
          <p:nvPr/>
        </p:nvSpPr>
        <p:spPr>
          <a:xfrm>
            <a:off x="59436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it means</a:t>
            </a:r>
            <a:endParaRPr lang="en-US" sz="1600" dirty="0"/>
          </a:p>
        </p:txBody>
      </p:sp>
      <p:sp>
        <p:nvSpPr>
          <p:cNvPr id="8" name="Shape 6"/>
          <p:cNvSpPr/>
          <p:nvPr/>
        </p:nvSpPr>
        <p:spPr>
          <a:xfrm>
            <a:off x="45720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9" name="Text 7"/>
          <p:cNvSpPr txBox="1"/>
          <p:nvPr/>
        </p:nvSpPr>
        <p:spPr>
          <a:xfrm>
            <a:off x="59436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Expressing ideas clearly on paper or screen</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Needs grammar, structure, vocabulary and clear thinking</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Used for assignments, emails, CVs, reports and proposals</a:t>
            </a:r>
            <a:endParaRPr lang="en-US" sz="1400" dirty="0"/>
          </a:p>
        </p:txBody>
      </p:sp>
      <p:sp>
        <p:nvSpPr>
          <p:cNvPr id="10" name="Shape 8"/>
          <p:cNvSpPr/>
          <p:nvPr/>
        </p:nvSpPr>
        <p:spPr>
          <a:xfrm>
            <a:off x="4663440" y="1188720"/>
            <a:ext cx="4023360" cy="457200"/>
          </a:xfrm>
          <a:prstGeom prst="rect">
            <a:avLst/>
          </a:prstGeom>
          <a:solidFill>
            <a:srgbClr val="1F2A44"/>
          </a:solidFill>
          <a:ln w="12700">
            <a:solidFill>
              <a:srgbClr val="1F2A44"/>
            </a:solidFill>
            <a:prstDash val="solid"/>
          </a:ln>
        </p:spPr>
        <p:txBody>
          <a:bodyPr/>
          <a:lstStyle/>
          <a:p>
            <a:endParaRPr lang="en-US"/>
          </a:p>
        </p:txBody>
      </p:sp>
      <p:sp>
        <p:nvSpPr>
          <p:cNvPr id="11" name="Text 9"/>
          <p:cNvSpPr txBox="1"/>
          <p:nvPr/>
        </p:nvSpPr>
        <p:spPr>
          <a:xfrm>
            <a:off x="480060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How to improve</a:t>
            </a:r>
            <a:endParaRPr lang="en-US" sz="1600" dirty="0"/>
          </a:p>
        </p:txBody>
      </p:sp>
      <p:sp>
        <p:nvSpPr>
          <p:cNvPr id="12" name="Shape 10"/>
          <p:cNvSpPr/>
          <p:nvPr/>
        </p:nvSpPr>
        <p:spPr>
          <a:xfrm>
            <a:off x="466344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13" name="Text 11"/>
          <p:cNvSpPr txBox="1"/>
          <p:nvPr/>
        </p:nvSpPr>
        <p:spPr>
          <a:xfrm>
            <a:off x="480060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Plan first: idea, support, conclusion</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Write short paragraphs with one idea each</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Edit your draft: spelling, grammar, clarity</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Ask for feedback and rewrite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Supporting Elements of the Four Pillars</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16</a:t>
            </a:r>
            <a:endParaRPr lang="en-US" sz="1000" dirty="0"/>
          </a:p>
        </p:txBody>
      </p:sp>
      <p:sp>
        <p:nvSpPr>
          <p:cNvPr id="6" name="Text 4"/>
          <p:cNvSpPr txBox="1"/>
          <p:nvPr/>
        </p:nvSpPr>
        <p:spPr>
          <a:xfrm>
            <a:off x="548640" y="137160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Grammar: </a:t>
            </a:r>
            <a:r>
              <a:rPr lang="en-US" sz="1600" dirty="0">
                <a:solidFill>
                  <a:srgbClr val="1F2A44"/>
                </a:solidFill>
                <a:latin typeface="Calibri" pitchFamily="34" charset="0"/>
                <a:ea typeface="Calibri" pitchFamily="34" charset="-122"/>
                <a:cs typeface="Calibri" pitchFamily="34" charset="-120"/>
              </a:rPr>
              <a:t>the rules that make sentences correct and clear</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Vocabulary: </a:t>
            </a:r>
            <a:r>
              <a:rPr lang="en-US" sz="1600" dirty="0">
                <a:solidFill>
                  <a:srgbClr val="1F2A44"/>
                </a:solidFill>
                <a:latin typeface="Calibri" pitchFamily="34" charset="0"/>
                <a:ea typeface="Calibri" pitchFamily="34" charset="-122"/>
                <a:cs typeface="Calibri" pitchFamily="34" charset="-120"/>
              </a:rPr>
              <a:t>the words to express exact meaning; learn words in groups and sentences</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Pronunciation: </a:t>
            </a:r>
            <a:r>
              <a:rPr lang="en-US" sz="1600" dirty="0">
                <a:solidFill>
                  <a:srgbClr val="1F2A44"/>
                </a:solidFill>
                <a:latin typeface="Calibri" pitchFamily="34" charset="0"/>
                <a:ea typeface="Calibri" pitchFamily="34" charset="-122"/>
                <a:cs typeface="Calibri" pitchFamily="34" charset="-120"/>
              </a:rPr>
              <a:t>sounds, stress and intonation so listeners understand you</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Communication barriers: </a:t>
            </a:r>
            <a:r>
              <a:rPr lang="en-US" sz="1600" dirty="0">
                <a:solidFill>
                  <a:srgbClr val="1F2A44"/>
                </a:solidFill>
                <a:latin typeface="Calibri" pitchFamily="34" charset="0"/>
                <a:ea typeface="Calibri" pitchFamily="34" charset="-122"/>
                <a:cs typeface="Calibri" pitchFamily="34" charset="-120"/>
              </a:rPr>
              <a:t>fear, shyness, mother-tongue interference, limited vocabulary</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Strategy: </a:t>
            </a:r>
            <a:r>
              <a:rPr lang="en-US" sz="1600" dirty="0">
                <a:solidFill>
                  <a:srgbClr val="1F2A44"/>
                </a:solidFill>
                <a:latin typeface="Calibri" pitchFamily="34" charset="0"/>
                <a:ea typeface="Calibri" pitchFamily="34" charset="-122"/>
                <a:cs typeface="Calibri" pitchFamily="34" charset="-120"/>
              </a:rPr>
              <a:t>all four pillars grow together; weakness in one slows the others</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Rule: </a:t>
            </a:r>
            <a:r>
              <a:rPr lang="en-US" sz="1600" dirty="0">
                <a:solidFill>
                  <a:srgbClr val="1F2A44"/>
                </a:solidFill>
                <a:latin typeface="Calibri" pitchFamily="34" charset="0"/>
                <a:ea typeface="Calibri" pitchFamily="34" charset="-122"/>
                <a:cs typeface="Calibri" pitchFamily="34" charset="-120"/>
              </a:rPr>
              <a:t>practise a little every day, rather than a lot once a week</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2B134"/>
          </a:solidFill>
          <a:ln w="12700">
            <a:solidFill>
              <a:srgbClr val="F2B134"/>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Activity: My English Journey </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17</a:t>
            </a:r>
            <a:endParaRPr lang="en-US" sz="1000" dirty="0"/>
          </a:p>
        </p:txBody>
      </p:sp>
      <p:sp>
        <p:nvSpPr>
          <p:cNvPr id="8" name="Text 6"/>
          <p:cNvSpPr txBox="1"/>
          <p:nvPr/>
        </p:nvSpPr>
        <p:spPr>
          <a:xfrm>
            <a:off x="548640" y="1645920"/>
            <a:ext cx="8046720" cy="1682496"/>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F2A44"/>
                </a:solidFill>
                <a:latin typeface="Calibri" pitchFamily="34" charset="0"/>
                <a:ea typeface="Calibri" pitchFamily="34" charset="-122"/>
                <a:cs typeface="Calibri" pitchFamily="34" charset="-120"/>
              </a:rPr>
              <a:t>Pair up with a classmate you do not know well</a:t>
            </a:r>
            <a:endParaRPr lang="en-US" sz="1500" dirty="0"/>
          </a:p>
          <a:p>
            <a:pPr marL="342900" indent="-342900">
              <a:spcAft>
                <a:spcPts val="700"/>
              </a:spcAft>
              <a:buSzPct val="100000"/>
              <a:buChar char="•"/>
            </a:pPr>
            <a:r>
              <a:rPr lang="en-US" sz="1500" dirty="0">
                <a:solidFill>
                  <a:srgbClr val="1F2A44"/>
                </a:solidFill>
                <a:latin typeface="Calibri" pitchFamily="34" charset="0"/>
                <a:ea typeface="Calibri" pitchFamily="34" charset="-122"/>
                <a:cs typeface="Calibri" pitchFamily="34" charset="-120"/>
              </a:rPr>
              <a:t>Each person shares: </a:t>
            </a:r>
            <a:r>
              <a:rPr lang="en-US" sz="1500" b="1" dirty="0">
                <a:solidFill>
                  <a:srgbClr val="1F2A44"/>
                </a:solidFill>
                <a:latin typeface="Calibri" pitchFamily="34" charset="0"/>
                <a:ea typeface="Calibri" pitchFamily="34" charset="-122"/>
                <a:cs typeface="Calibri" pitchFamily="34" charset="-120"/>
              </a:rPr>
              <a:t>why I learn English, my best and hardest English skill, one goal</a:t>
            </a:r>
            <a:endParaRPr lang="en-US" sz="1500" b="1" dirty="0"/>
          </a:p>
          <a:p>
            <a:pPr marL="342900" indent="-342900">
              <a:spcAft>
                <a:spcPts val="700"/>
              </a:spcAft>
              <a:buSzPct val="100000"/>
              <a:buChar char="•"/>
            </a:pPr>
            <a:r>
              <a:rPr lang="en-US" sz="1500" b="1" dirty="0">
                <a:solidFill>
                  <a:srgbClr val="1F2A44"/>
                </a:solidFill>
                <a:latin typeface="Calibri" pitchFamily="34" charset="0"/>
                <a:ea typeface="Calibri" pitchFamily="34" charset="-122"/>
                <a:cs typeface="Calibri" pitchFamily="34" charset="-120"/>
              </a:rPr>
              <a:t>Partner then introduces you to the class in 3 sentences</a:t>
            </a:r>
            <a:endParaRPr lang="en-US" sz="1500" b="1" dirty="0"/>
          </a:p>
          <a:p>
            <a:pPr>
              <a:spcAft>
                <a:spcPts val="700"/>
              </a:spcAft>
              <a:buSzPct val="100000"/>
            </a:pP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2A44"/>
        </a:solidFill>
        <a:effectLst/>
      </p:bgPr>
    </p:bg>
    <p:spTree>
      <p:nvGrpSpPr>
        <p:cNvPr id="1" name=""/>
        <p:cNvGrpSpPr/>
        <p:nvPr/>
      </p:nvGrpSpPr>
      <p:grpSpPr>
        <a:xfrm>
          <a:off x="0" y="0"/>
          <a:ext cx="0" cy="0"/>
          <a:chOff x="0" y="0"/>
          <a:chExt cx="0" cy="0"/>
        </a:xfrm>
      </p:grpSpPr>
      <p:sp>
        <p:nvSpPr>
          <p:cNvPr id="2" name="Text 0"/>
          <p:cNvSpPr txBox="1"/>
          <p:nvPr/>
        </p:nvSpPr>
        <p:spPr>
          <a:xfrm>
            <a:off x="640080" y="1188720"/>
            <a:ext cx="2743200" cy="1097280"/>
          </a:xfrm>
          <a:prstGeom prst="rect">
            <a:avLst/>
          </a:prstGeom>
          <a:noFill/>
          <a:ln/>
        </p:spPr>
        <p:txBody>
          <a:bodyPr wrap="square" lIns="0" tIns="0" rIns="0" bIns="0" rtlCol="0" anchor="ctr"/>
          <a:lstStyle/>
          <a:p>
            <a:pPr marL="0" indent="0">
              <a:buNone/>
            </a:pPr>
            <a:r>
              <a:rPr lang="en-US" sz="7200" b="1" dirty="0">
                <a:solidFill>
                  <a:srgbClr val="F2B134"/>
                </a:solidFill>
                <a:latin typeface="Calibri" pitchFamily="34" charset="0"/>
                <a:ea typeface="Calibri" pitchFamily="34" charset="-122"/>
                <a:cs typeface="Calibri" pitchFamily="34" charset="-120"/>
              </a:rPr>
              <a:t>02</a:t>
            </a:r>
            <a:endParaRPr lang="en-US" sz="7200" dirty="0"/>
          </a:p>
        </p:txBody>
      </p:sp>
      <p:sp>
        <p:nvSpPr>
          <p:cNvPr id="3" name="Text 1"/>
          <p:cNvSpPr txBox="1"/>
          <p:nvPr/>
        </p:nvSpPr>
        <p:spPr>
          <a:xfrm>
            <a:off x="640080" y="2377440"/>
            <a:ext cx="786384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Language Needs of University Students</a:t>
            </a:r>
            <a:endParaRPr lang="en-US" sz="3400" dirty="0"/>
          </a:p>
        </p:txBody>
      </p:sp>
      <p:sp>
        <p:nvSpPr>
          <p:cNvPr id="4" name="Text 2"/>
          <p:cNvSpPr txBox="1"/>
          <p:nvPr/>
        </p:nvSpPr>
        <p:spPr>
          <a:xfrm>
            <a:off x="640080" y="3291840"/>
            <a:ext cx="7863840" cy="822960"/>
          </a:xfrm>
          <a:prstGeom prst="rect">
            <a:avLst/>
          </a:prstGeom>
          <a:noFill/>
          <a:ln/>
        </p:spPr>
        <p:txBody>
          <a:bodyPr wrap="square" lIns="0" tIns="0" rIns="0" bIns="0" rtlCol="0" anchor="ctr"/>
          <a:lstStyle/>
          <a:p>
            <a:pPr marL="0" indent="0">
              <a:buNone/>
            </a:pPr>
            <a:r>
              <a:rPr lang="en-US" sz="1600" dirty="0">
                <a:solidFill>
                  <a:srgbClr val="C9D1E0"/>
                </a:solidFill>
                <a:latin typeface="Calibri" pitchFamily="34" charset="0"/>
                <a:ea typeface="Calibri" pitchFamily="34" charset="-122"/>
                <a:cs typeface="Calibri" pitchFamily="34" charset="-120"/>
              </a:rPr>
              <a:t>What you need, where you struggle and how to close the gap</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Academic Language Needs</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19</a:t>
            </a:r>
            <a:endParaRPr lang="en-US" sz="1000" dirty="0"/>
          </a:p>
        </p:txBody>
      </p:sp>
      <p:sp>
        <p:nvSpPr>
          <p:cNvPr id="6" name="Shape 4"/>
          <p:cNvSpPr/>
          <p:nvPr/>
        </p:nvSpPr>
        <p:spPr>
          <a:xfrm>
            <a:off x="457200" y="1188720"/>
            <a:ext cx="4023360" cy="457200"/>
          </a:xfrm>
          <a:prstGeom prst="rect">
            <a:avLst/>
          </a:prstGeom>
          <a:solidFill>
            <a:srgbClr val="0F766E"/>
          </a:solidFill>
          <a:ln w="12700">
            <a:solidFill>
              <a:srgbClr val="0F766E"/>
            </a:solidFill>
            <a:prstDash val="solid"/>
          </a:ln>
        </p:spPr>
        <p:txBody>
          <a:bodyPr/>
          <a:lstStyle/>
          <a:p>
            <a:endParaRPr lang="en-US"/>
          </a:p>
        </p:txBody>
      </p:sp>
      <p:sp>
        <p:nvSpPr>
          <p:cNvPr id="7" name="Text 5"/>
          <p:cNvSpPr txBox="1"/>
          <p:nvPr/>
        </p:nvSpPr>
        <p:spPr>
          <a:xfrm>
            <a:off x="59436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Receptive</a:t>
            </a:r>
            <a:endParaRPr lang="en-US" sz="1600" dirty="0"/>
          </a:p>
        </p:txBody>
      </p:sp>
      <p:sp>
        <p:nvSpPr>
          <p:cNvPr id="8" name="Shape 6"/>
          <p:cNvSpPr/>
          <p:nvPr/>
        </p:nvSpPr>
        <p:spPr>
          <a:xfrm>
            <a:off x="45720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9" name="Text 7"/>
          <p:cNvSpPr txBox="1"/>
          <p:nvPr/>
        </p:nvSpPr>
        <p:spPr>
          <a:xfrm>
            <a:off x="59436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Understand lectures in English</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Read textbooks and research articles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Follow instructions for assignments and exams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Interpret charts, tables and case studies</a:t>
            </a:r>
            <a:endParaRPr lang="en-US" sz="1400" dirty="0"/>
          </a:p>
        </p:txBody>
      </p:sp>
      <p:sp>
        <p:nvSpPr>
          <p:cNvPr id="10" name="Shape 8"/>
          <p:cNvSpPr/>
          <p:nvPr/>
        </p:nvSpPr>
        <p:spPr>
          <a:xfrm>
            <a:off x="4663440" y="1188720"/>
            <a:ext cx="4023360" cy="457200"/>
          </a:xfrm>
          <a:prstGeom prst="rect">
            <a:avLst/>
          </a:prstGeom>
          <a:solidFill>
            <a:srgbClr val="1F2A44"/>
          </a:solidFill>
          <a:ln w="12700">
            <a:solidFill>
              <a:srgbClr val="1F2A44"/>
            </a:solidFill>
            <a:prstDash val="solid"/>
          </a:ln>
        </p:spPr>
        <p:txBody>
          <a:bodyPr/>
          <a:lstStyle/>
          <a:p>
            <a:endParaRPr lang="en-US"/>
          </a:p>
        </p:txBody>
      </p:sp>
      <p:sp>
        <p:nvSpPr>
          <p:cNvPr id="11" name="Text 9"/>
          <p:cNvSpPr txBox="1"/>
          <p:nvPr/>
        </p:nvSpPr>
        <p:spPr>
          <a:xfrm>
            <a:off x="480060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Productive</a:t>
            </a:r>
            <a:endParaRPr lang="en-US" sz="1600" dirty="0"/>
          </a:p>
        </p:txBody>
      </p:sp>
      <p:sp>
        <p:nvSpPr>
          <p:cNvPr id="12" name="Shape 10"/>
          <p:cNvSpPr/>
          <p:nvPr/>
        </p:nvSpPr>
        <p:spPr>
          <a:xfrm>
            <a:off x="466344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13" name="Text 11"/>
          <p:cNvSpPr txBox="1"/>
          <p:nvPr/>
        </p:nvSpPr>
        <p:spPr>
          <a:xfrm>
            <a:off x="480060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Write essays, reports, abstracts and summaries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Present and defend projects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Participate in seminars and group discussion</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Use academic vocabulary and cite sources honestly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Professional and Social Language Needs</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20</a:t>
            </a:r>
            <a:endParaRPr lang="en-US" sz="1000" dirty="0"/>
          </a:p>
        </p:txBody>
      </p:sp>
      <p:sp>
        <p:nvSpPr>
          <p:cNvPr id="6" name="Shape 4"/>
          <p:cNvSpPr/>
          <p:nvPr/>
        </p:nvSpPr>
        <p:spPr>
          <a:xfrm>
            <a:off x="457200" y="1188720"/>
            <a:ext cx="4023360" cy="457200"/>
          </a:xfrm>
          <a:prstGeom prst="rect">
            <a:avLst/>
          </a:prstGeom>
          <a:solidFill>
            <a:srgbClr val="1F2A44"/>
          </a:solidFill>
          <a:ln w="12700">
            <a:solidFill>
              <a:srgbClr val="1F2A44"/>
            </a:solidFill>
            <a:prstDash val="solid"/>
          </a:ln>
        </p:spPr>
        <p:txBody>
          <a:bodyPr/>
          <a:lstStyle/>
          <a:p>
            <a:endParaRPr lang="en-US"/>
          </a:p>
        </p:txBody>
      </p:sp>
      <p:sp>
        <p:nvSpPr>
          <p:cNvPr id="7" name="Text 5"/>
          <p:cNvSpPr txBox="1"/>
          <p:nvPr/>
        </p:nvSpPr>
        <p:spPr>
          <a:xfrm>
            <a:off x="59436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Professional</a:t>
            </a:r>
            <a:endParaRPr lang="en-US" sz="1600" dirty="0"/>
          </a:p>
        </p:txBody>
      </p:sp>
      <p:sp>
        <p:nvSpPr>
          <p:cNvPr id="8" name="Shape 6"/>
          <p:cNvSpPr/>
          <p:nvPr/>
        </p:nvSpPr>
        <p:spPr>
          <a:xfrm>
            <a:off x="45720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9" name="Text 7"/>
          <p:cNvSpPr txBox="1"/>
          <p:nvPr/>
        </p:nvSpPr>
        <p:spPr>
          <a:xfrm>
            <a:off x="59436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Write CVs, cover letters and professional emails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Perform in interviews and internships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Talk politely with supervisors and clients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Handle meetings and negotiation</a:t>
            </a:r>
            <a:endParaRPr lang="en-US" sz="1400" dirty="0"/>
          </a:p>
        </p:txBody>
      </p:sp>
      <p:sp>
        <p:nvSpPr>
          <p:cNvPr id="10" name="Shape 8"/>
          <p:cNvSpPr/>
          <p:nvPr/>
        </p:nvSpPr>
        <p:spPr>
          <a:xfrm>
            <a:off x="4663440" y="1188720"/>
            <a:ext cx="4023360" cy="457200"/>
          </a:xfrm>
          <a:prstGeom prst="rect">
            <a:avLst/>
          </a:prstGeom>
          <a:solidFill>
            <a:srgbClr val="0F766E"/>
          </a:solidFill>
          <a:ln w="12700">
            <a:solidFill>
              <a:srgbClr val="0F766E"/>
            </a:solidFill>
            <a:prstDash val="solid"/>
          </a:ln>
        </p:spPr>
        <p:txBody>
          <a:bodyPr/>
          <a:lstStyle/>
          <a:p>
            <a:endParaRPr lang="en-US"/>
          </a:p>
        </p:txBody>
      </p:sp>
      <p:sp>
        <p:nvSpPr>
          <p:cNvPr id="11" name="Text 9"/>
          <p:cNvSpPr txBox="1"/>
          <p:nvPr/>
        </p:nvSpPr>
        <p:spPr>
          <a:xfrm>
            <a:off x="480060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Social</a:t>
            </a:r>
            <a:endParaRPr lang="en-US" sz="1600" dirty="0"/>
          </a:p>
        </p:txBody>
      </p:sp>
      <p:sp>
        <p:nvSpPr>
          <p:cNvPr id="12" name="Shape 10"/>
          <p:cNvSpPr/>
          <p:nvPr/>
        </p:nvSpPr>
        <p:spPr>
          <a:xfrm>
            <a:off x="466344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13" name="Text 11"/>
          <p:cNvSpPr txBox="1"/>
          <p:nvPr/>
        </p:nvSpPr>
        <p:spPr>
          <a:xfrm>
            <a:off x="480060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Make friends and network on campus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Take part in societies, debates and events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Give opinions respectfully and disagree politely</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Travel, apply for scholarships and study abroad</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Digital Language Needs</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21</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Email etiquette: </a:t>
            </a:r>
            <a:r>
              <a:rPr lang="en-US" sz="1600" dirty="0">
                <a:solidFill>
                  <a:srgbClr val="1F2A44"/>
                </a:solidFill>
                <a:latin typeface="Calibri" pitchFamily="34" charset="0"/>
                <a:ea typeface="Calibri" pitchFamily="34" charset="-122"/>
                <a:cs typeface="Calibri" pitchFamily="34" charset="-120"/>
              </a:rPr>
              <a:t>clear subject line, greeting, short body, polite close</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Messaging apps: </a:t>
            </a:r>
            <a:r>
              <a:rPr lang="en-US" sz="1600" dirty="0">
                <a:solidFill>
                  <a:srgbClr val="1F2A44"/>
                </a:solidFill>
                <a:latin typeface="Calibri" pitchFamily="34" charset="0"/>
                <a:ea typeface="Calibri" pitchFamily="34" charset="-122"/>
                <a:cs typeface="Calibri" pitchFamily="34" charset="-120"/>
              </a:rPr>
              <a:t>informal is fine with friends, but not with teachers or employers</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LinkedIn: </a:t>
            </a:r>
            <a:r>
              <a:rPr lang="en-US" sz="1600" dirty="0">
                <a:solidFill>
                  <a:srgbClr val="1F2A44"/>
                </a:solidFill>
                <a:latin typeface="Calibri" pitchFamily="34" charset="0"/>
                <a:ea typeface="Calibri" pitchFamily="34" charset="-122"/>
                <a:cs typeface="Calibri" pitchFamily="34" charset="-120"/>
              </a:rPr>
              <a:t>write a clear profile headline and “About” section</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Online learning: </a:t>
            </a:r>
            <a:r>
              <a:rPr lang="en-US" sz="1600" dirty="0">
                <a:solidFill>
                  <a:srgbClr val="1F2A44"/>
                </a:solidFill>
                <a:latin typeface="Calibri" pitchFamily="34" charset="0"/>
                <a:ea typeface="Calibri" pitchFamily="34" charset="-122"/>
                <a:cs typeface="Calibri" pitchFamily="34" charset="-120"/>
              </a:rPr>
              <a:t>join discussion forums and write clear questions</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AI tools: </a:t>
            </a:r>
            <a:r>
              <a:rPr lang="en-US" sz="1600" dirty="0">
                <a:solidFill>
                  <a:srgbClr val="1F2A44"/>
                </a:solidFill>
                <a:latin typeface="Calibri" pitchFamily="34" charset="0"/>
                <a:ea typeface="Calibri" pitchFamily="34" charset="-122"/>
                <a:cs typeface="Calibri" pitchFamily="34" charset="-120"/>
              </a:rPr>
              <a:t>use them to learn and check, but write and think for yourself</a:t>
            </a:r>
            <a:endParaRPr lang="en-US" sz="1600"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Digital footprint: </a:t>
            </a:r>
            <a:r>
              <a:rPr lang="en-US" sz="1600" dirty="0">
                <a:solidFill>
                  <a:srgbClr val="1F2A44"/>
                </a:solidFill>
                <a:latin typeface="Calibri" pitchFamily="34" charset="0"/>
                <a:ea typeface="Calibri" pitchFamily="34" charset="-122"/>
                <a:cs typeface="Calibri" pitchFamily="34" charset="-120"/>
              </a:rPr>
              <a:t>what you post in English is read by future employers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Common Challenges Students Face</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22</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Fear of mistakes and being laughed at</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Weak vocabulary, so ideas are stuck in the mother tongue</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Grammar errors, especially tenses, articles and prepositions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Poor listening to fast speech and different accents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Little practice outside the classroom</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Over-dependence on translation, memorised answers and copy-paste</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Honest point: most of these are habit problems, not intelligence problems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Overcoming the Challenges: A Practical Plan</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23</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Set a daily 30-minute routine: 10 reading, 10 listening, 10 speaking or writing</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Keep a vocabulary notebook: 5 new words daily, used in your own sentences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Find a speaking partner and meet 3 times a week</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Welcome mistakes: each error corrected is a lesson learned</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Use English in real tasks: emails, notes, presentations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Track progress weekly and adjust</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2B134"/>
          </a:solidFill>
          <a:ln w="12700">
            <a:solidFill>
              <a:srgbClr val="F2B134"/>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Case Study: Ayesha’s Presentation Fear</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24</a:t>
            </a:r>
            <a:endParaRPr lang="en-US" sz="1000" dirty="0"/>
          </a:p>
        </p:txBody>
      </p:sp>
      <p:sp>
        <p:nvSpPr>
          <p:cNvPr id="6" name="Shape 4"/>
          <p:cNvSpPr/>
          <p:nvPr/>
        </p:nvSpPr>
        <p:spPr>
          <a:xfrm>
            <a:off x="457200" y="1188720"/>
            <a:ext cx="8229600" cy="1691640"/>
          </a:xfrm>
          <a:prstGeom prst="rect">
            <a:avLst/>
          </a:prstGeom>
          <a:solidFill>
            <a:srgbClr val="FFFFFF"/>
          </a:solidFill>
          <a:ln w="25400">
            <a:solidFill>
              <a:srgbClr val="F2B134"/>
            </a:solidFill>
            <a:prstDash val="solid"/>
          </a:ln>
        </p:spPr>
        <p:txBody>
          <a:bodyPr/>
          <a:lstStyle/>
          <a:p>
            <a:endParaRPr lang="en-US"/>
          </a:p>
        </p:txBody>
      </p:sp>
      <p:sp>
        <p:nvSpPr>
          <p:cNvPr id="7" name="Text 5"/>
          <p:cNvSpPr txBox="1"/>
          <p:nvPr/>
        </p:nvSpPr>
        <p:spPr>
          <a:xfrm>
            <a:off x="640080" y="1280160"/>
            <a:ext cx="7863840" cy="1508760"/>
          </a:xfrm>
          <a:prstGeom prst="rect">
            <a:avLst/>
          </a:prstGeom>
          <a:noFill/>
          <a:ln/>
        </p:spPr>
        <p:txBody>
          <a:bodyPr wrap="square" lIns="0" tIns="0" rIns="0" bIns="0" rtlCol="0" anchor="t"/>
          <a:lstStyle/>
          <a:p>
            <a:pPr marL="0" indent="0">
              <a:buNone/>
            </a:pPr>
            <a:r>
              <a:rPr lang="en-US" sz="1400" b="1" dirty="0">
                <a:solidFill>
                  <a:srgbClr val="0F766E"/>
                </a:solidFill>
                <a:latin typeface="Calibri" pitchFamily="34" charset="0"/>
                <a:ea typeface="Calibri" pitchFamily="34" charset="-122"/>
                <a:cs typeface="Calibri" pitchFamily="34" charset="-120"/>
              </a:rPr>
              <a:t>Situation  </a:t>
            </a:r>
            <a:r>
              <a:rPr lang="en-US" sz="1400" dirty="0">
                <a:solidFill>
                  <a:srgbClr val="1F2A44"/>
                </a:solidFill>
                <a:latin typeface="Calibri" pitchFamily="34" charset="0"/>
                <a:ea typeface="Calibri" pitchFamily="34" charset="-122"/>
                <a:cs typeface="Calibri" pitchFamily="34" charset="-120"/>
              </a:rPr>
              <a:t>Ayesha is a strong student who understands the subject well. In her first English presentation she memorised a script, froze at the third slide, and sat down. Afterwards she told her friends she “cannot speak English” and started avoiding class discussion.</a:t>
            </a:r>
            <a:endParaRPr lang="en-US" sz="1400" dirty="0"/>
          </a:p>
        </p:txBody>
      </p:sp>
      <p:sp>
        <p:nvSpPr>
          <p:cNvPr id="8" name="Text 6"/>
          <p:cNvSpPr txBox="1"/>
          <p:nvPr/>
        </p:nvSpPr>
        <p:spPr>
          <a:xfrm>
            <a:off x="457200" y="3017520"/>
            <a:ext cx="8229600" cy="320040"/>
          </a:xfrm>
          <a:prstGeom prst="rect">
            <a:avLst/>
          </a:prstGeom>
          <a:noFill/>
          <a:ln/>
        </p:spPr>
        <p:txBody>
          <a:bodyPr wrap="square" lIns="0" tIns="0" rIns="0" bIns="0" rtlCol="0" anchor="ctr"/>
          <a:lstStyle/>
          <a:p>
            <a:pPr marL="0" indent="0">
              <a:buNone/>
            </a:pPr>
            <a:r>
              <a:rPr lang="en-US" sz="1500" b="1" dirty="0">
                <a:solidFill>
                  <a:srgbClr val="0F766E"/>
                </a:solidFill>
                <a:latin typeface="Calibri" pitchFamily="34" charset="0"/>
                <a:ea typeface="Calibri" pitchFamily="34" charset="-122"/>
                <a:cs typeface="Calibri" pitchFamily="34" charset="-120"/>
              </a:rPr>
              <a:t>Discuss in groups</a:t>
            </a:r>
            <a:endParaRPr lang="en-US" sz="1500" dirty="0"/>
          </a:p>
        </p:txBody>
      </p:sp>
      <p:sp>
        <p:nvSpPr>
          <p:cNvPr id="9" name="Text 7"/>
          <p:cNvSpPr txBox="1"/>
          <p:nvPr/>
        </p:nvSpPr>
        <p:spPr>
          <a:xfrm>
            <a:off x="457200" y="3383280"/>
            <a:ext cx="8229600" cy="1371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What was the real problem: language, preparation method or confidence?</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What should Ayesha do before the next presentation?</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Which of the four pillars needs the most work, and why?</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2B134"/>
          </a:solidFill>
          <a:ln w="12700">
            <a:solidFill>
              <a:srgbClr val="F2B134"/>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Case Study: The Email to the Professor</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25</a:t>
            </a:r>
            <a:endParaRPr lang="en-US" sz="1000" dirty="0"/>
          </a:p>
        </p:txBody>
      </p:sp>
      <p:sp>
        <p:nvSpPr>
          <p:cNvPr id="6" name="Shape 4"/>
          <p:cNvSpPr/>
          <p:nvPr/>
        </p:nvSpPr>
        <p:spPr>
          <a:xfrm>
            <a:off x="457200" y="1188720"/>
            <a:ext cx="8229600" cy="1691640"/>
          </a:xfrm>
          <a:prstGeom prst="rect">
            <a:avLst/>
          </a:prstGeom>
          <a:solidFill>
            <a:srgbClr val="FFFFFF"/>
          </a:solidFill>
          <a:ln w="25400">
            <a:solidFill>
              <a:srgbClr val="F2B134"/>
            </a:solidFill>
            <a:prstDash val="solid"/>
          </a:ln>
        </p:spPr>
        <p:txBody>
          <a:bodyPr/>
          <a:lstStyle/>
          <a:p>
            <a:endParaRPr lang="en-US"/>
          </a:p>
        </p:txBody>
      </p:sp>
      <p:sp>
        <p:nvSpPr>
          <p:cNvPr id="7" name="Text 5"/>
          <p:cNvSpPr txBox="1"/>
          <p:nvPr/>
        </p:nvSpPr>
        <p:spPr>
          <a:xfrm>
            <a:off x="640080" y="1280160"/>
            <a:ext cx="7863840" cy="1508760"/>
          </a:xfrm>
          <a:prstGeom prst="rect">
            <a:avLst/>
          </a:prstGeom>
          <a:noFill/>
          <a:ln/>
        </p:spPr>
        <p:txBody>
          <a:bodyPr wrap="square" lIns="0" tIns="0" rIns="0" bIns="0" rtlCol="0" anchor="t"/>
          <a:lstStyle/>
          <a:p>
            <a:pPr marL="0" indent="0">
              <a:buNone/>
            </a:pPr>
            <a:r>
              <a:rPr lang="en-US" sz="1400" b="1" dirty="0">
                <a:solidFill>
                  <a:srgbClr val="0F766E"/>
                </a:solidFill>
                <a:latin typeface="Calibri" pitchFamily="34" charset="0"/>
                <a:ea typeface="Calibri" pitchFamily="34" charset="-122"/>
                <a:cs typeface="Calibri" pitchFamily="34" charset="-120"/>
              </a:rPr>
              <a:t>Situation  </a:t>
            </a:r>
            <a:r>
              <a:rPr lang="en-US" sz="1400" dirty="0">
                <a:solidFill>
                  <a:srgbClr val="1F2A44"/>
                </a:solidFill>
                <a:latin typeface="Calibri" pitchFamily="34" charset="0"/>
                <a:ea typeface="Calibri" pitchFamily="34" charset="-122"/>
                <a:cs typeface="Calibri" pitchFamily="34" charset="-120"/>
              </a:rPr>
              <a:t>Bilal sent this email to his professor at midnight: “</a:t>
            </a:r>
            <a:r>
              <a:rPr lang="en-US" sz="1400" b="1" dirty="0">
                <a:solidFill>
                  <a:srgbClr val="1F2A44"/>
                </a:solidFill>
                <a:latin typeface="Calibri" pitchFamily="34" charset="0"/>
                <a:ea typeface="Calibri" pitchFamily="34" charset="-122"/>
                <a:cs typeface="Calibri" pitchFamily="34" charset="-120"/>
              </a:rPr>
              <a:t>sir i was absent plz send notes</a:t>
            </a:r>
            <a:r>
              <a:rPr lang="en-US" sz="1400" dirty="0">
                <a:solidFill>
                  <a:srgbClr val="1F2A44"/>
                </a:solidFill>
                <a:latin typeface="Calibri" pitchFamily="34" charset="0"/>
                <a:ea typeface="Calibri" pitchFamily="34" charset="-122"/>
                <a:cs typeface="Calibri" pitchFamily="34" charset="-120"/>
              </a:rPr>
              <a:t>.” No greeting, no name, no subject line. He received no reply and became upset.</a:t>
            </a:r>
            <a:endParaRPr lang="en-US" sz="1400" dirty="0"/>
          </a:p>
        </p:txBody>
      </p:sp>
      <p:sp>
        <p:nvSpPr>
          <p:cNvPr id="8" name="Text 6"/>
          <p:cNvSpPr txBox="1"/>
          <p:nvPr/>
        </p:nvSpPr>
        <p:spPr>
          <a:xfrm>
            <a:off x="457200" y="3017520"/>
            <a:ext cx="8229600" cy="320040"/>
          </a:xfrm>
          <a:prstGeom prst="rect">
            <a:avLst/>
          </a:prstGeom>
          <a:noFill/>
          <a:ln/>
        </p:spPr>
        <p:txBody>
          <a:bodyPr wrap="square" lIns="0" tIns="0" rIns="0" bIns="0" rtlCol="0" anchor="ctr"/>
          <a:lstStyle/>
          <a:p>
            <a:pPr marL="0" indent="0">
              <a:buNone/>
            </a:pPr>
            <a:r>
              <a:rPr lang="en-US" sz="1500" b="1" dirty="0">
                <a:solidFill>
                  <a:srgbClr val="0F766E"/>
                </a:solidFill>
                <a:latin typeface="Calibri" pitchFamily="34" charset="0"/>
                <a:ea typeface="Calibri" pitchFamily="34" charset="-122"/>
                <a:cs typeface="Calibri" pitchFamily="34" charset="-120"/>
              </a:rPr>
              <a:t>Discuss in groups</a:t>
            </a:r>
            <a:endParaRPr lang="en-US" sz="1500" dirty="0"/>
          </a:p>
        </p:txBody>
      </p:sp>
      <p:sp>
        <p:nvSpPr>
          <p:cNvPr id="9" name="Text 7"/>
          <p:cNvSpPr txBox="1"/>
          <p:nvPr/>
        </p:nvSpPr>
        <p:spPr>
          <a:xfrm>
            <a:off x="457200" y="3383280"/>
            <a:ext cx="8229600" cy="1371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List everything wrong with this email</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Rewrite it in a professional way (subject, greeting, reason, thanks)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What does this teach about writing for different audiences?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1F2A44"/>
        </a:solidFill>
        <a:effectLst/>
      </p:bgPr>
    </p:bg>
    <p:spTree>
      <p:nvGrpSpPr>
        <p:cNvPr id="1" name=""/>
        <p:cNvGrpSpPr/>
        <p:nvPr/>
      </p:nvGrpSpPr>
      <p:grpSpPr>
        <a:xfrm>
          <a:off x="0" y="0"/>
          <a:ext cx="0" cy="0"/>
          <a:chOff x="0" y="0"/>
          <a:chExt cx="0" cy="0"/>
        </a:xfrm>
      </p:grpSpPr>
      <p:sp>
        <p:nvSpPr>
          <p:cNvPr id="2" name="Text 0"/>
          <p:cNvSpPr txBox="1"/>
          <p:nvPr/>
        </p:nvSpPr>
        <p:spPr>
          <a:xfrm>
            <a:off x="640080" y="1188720"/>
            <a:ext cx="2743200" cy="1097280"/>
          </a:xfrm>
          <a:prstGeom prst="rect">
            <a:avLst/>
          </a:prstGeom>
          <a:noFill/>
          <a:ln/>
        </p:spPr>
        <p:txBody>
          <a:bodyPr wrap="square" lIns="0" tIns="0" rIns="0" bIns="0" rtlCol="0" anchor="ctr"/>
          <a:lstStyle/>
          <a:p>
            <a:pPr marL="0" indent="0">
              <a:buNone/>
            </a:pPr>
            <a:r>
              <a:rPr lang="en-US" sz="7200" b="1" dirty="0">
                <a:solidFill>
                  <a:srgbClr val="F2B134"/>
                </a:solidFill>
                <a:latin typeface="Calibri" pitchFamily="34" charset="0"/>
                <a:ea typeface="Calibri" pitchFamily="34" charset="-122"/>
                <a:cs typeface="Calibri" pitchFamily="34" charset="-120"/>
              </a:rPr>
              <a:t>03</a:t>
            </a:r>
            <a:endParaRPr lang="en-US" sz="7200" dirty="0"/>
          </a:p>
        </p:txBody>
      </p:sp>
      <p:sp>
        <p:nvSpPr>
          <p:cNvPr id="3" name="Text 1"/>
          <p:cNvSpPr txBox="1"/>
          <p:nvPr/>
        </p:nvSpPr>
        <p:spPr>
          <a:xfrm>
            <a:off x="640080" y="2377440"/>
            <a:ext cx="786384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Stephen R. Covey and The 7 Habits</a:t>
            </a:r>
            <a:endParaRPr lang="en-US" sz="3400" dirty="0"/>
          </a:p>
        </p:txBody>
      </p:sp>
      <p:sp>
        <p:nvSpPr>
          <p:cNvPr id="4" name="Text 2"/>
          <p:cNvSpPr txBox="1"/>
          <p:nvPr/>
        </p:nvSpPr>
        <p:spPr>
          <a:xfrm>
            <a:off x="640080" y="3291840"/>
            <a:ext cx="7863840" cy="822960"/>
          </a:xfrm>
          <a:prstGeom prst="rect">
            <a:avLst/>
          </a:prstGeom>
          <a:noFill/>
          <a:ln/>
        </p:spPr>
        <p:txBody>
          <a:bodyPr wrap="square" lIns="0" tIns="0" rIns="0" bIns="0" rtlCol="0" anchor="ctr"/>
          <a:lstStyle/>
          <a:p>
            <a:pPr marL="0" indent="0">
              <a:buNone/>
            </a:pPr>
            <a:r>
              <a:rPr lang="en-US" sz="1600" dirty="0">
                <a:solidFill>
                  <a:srgbClr val="C9D1E0"/>
                </a:solidFill>
                <a:latin typeface="Calibri" pitchFamily="34" charset="0"/>
                <a:ea typeface="Calibri" pitchFamily="34" charset="-122"/>
                <a:cs typeface="Calibri" pitchFamily="34" charset="-120"/>
              </a:rPr>
              <a:t>The author, the book and why it is the foundation of this course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About the Author: Stephen R. Covey</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29</a:t>
            </a:r>
            <a:endParaRPr lang="en-US" sz="1000" dirty="0"/>
          </a:p>
        </p:txBody>
      </p:sp>
      <p:sp>
        <p:nvSpPr>
          <p:cNvPr id="6" name="Shape 4"/>
          <p:cNvSpPr/>
          <p:nvPr/>
        </p:nvSpPr>
        <p:spPr>
          <a:xfrm>
            <a:off x="457200" y="1188720"/>
            <a:ext cx="4023360" cy="457200"/>
          </a:xfrm>
          <a:prstGeom prst="rect">
            <a:avLst/>
          </a:prstGeom>
          <a:solidFill>
            <a:srgbClr val="1F2A44"/>
          </a:solidFill>
          <a:ln w="12700">
            <a:solidFill>
              <a:srgbClr val="1F2A44"/>
            </a:solidFill>
            <a:prstDash val="solid"/>
          </a:ln>
        </p:spPr>
        <p:txBody>
          <a:bodyPr/>
          <a:lstStyle/>
          <a:p>
            <a:endParaRPr lang="en-US"/>
          </a:p>
        </p:txBody>
      </p:sp>
      <p:sp>
        <p:nvSpPr>
          <p:cNvPr id="7" name="Text 5"/>
          <p:cNvSpPr txBox="1"/>
          <p:nvPr/>
        </p:nvSpPr>
        <p:spPr>
          <a:xfrm>
            <a:off x="59436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Life and education</a:t>
            </a:r>
            <a:endParaRPr lang="en-US" sz="1600" dirty="0"/>
          </a:p>
        </p:txBody>
      </p:sp>
      <p:sp>
        <p:nvSpPr>
          <p:cNvPr id="8" name="Shape 6"/>
          <p:cNvSpPr/>
          <p:nvPr/>
        </p:nvSpPr>
        <p:spPr>
          <a:xfrm>
            <a:off x="45720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9" name="Text 7"/>
          <p:cNvSpPr txBox="1"/>
          <p:nvPr/>
        </p:nvSpPr>
        <p:spPr>
          <a:xfrm>
            <a:off x="59436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Born 24 October 1932 in Salt Lake City, Utah, USA</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Bachelor’s degree from University of Utah; MBA from Harvard; PhD from Brigham Young University (BYU)</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Professor at BYU; later co-founded the Covey Leadership Center (now part of FranklinCovey)</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Died 16 July 2012 at age 79</a:t>
            </a:r>
            <a:endParaRPr lang="en-US" sz="1400" dirty="0"/>
          </a:p>
        </p:txBody>
      </p:sp>
      <p:sp>
        <p:nvSpPr>
          <p:cNvPr id="10" name="Shape 8"/>
          <p:cNvSpPr/>
          <p:nvPr/>
        </p:nvSpPr>
        <p:spPr>
          <a:xfrm>
            <a:off x="4663440" y="1188720"/>
            <a:ext cx="4023360" cy="457200"/>
          </a:xfrm>
          <a:prstGeom prst="rect">
            <a:avLst/>
          </a:prstGeom>
          <a:solidFill>
            <a:srgbClr val="0F766E"/>
          </a:solidFill>
          <a:ln w="12700">
            <a:solidFill>
              <a:srgbClr val="0F766E"/>
            </a:solidFill>
            <a:prstDash val="solid"/>
          </a:ln>
        </p:spPr>
        <p:txBody>
          <a:bodyPr/>
          <a:lstStyle/>
          <a:p>
            <a:endParaRPr lang="en-US"/>
          </a:p>
        </p:txBody>
      </p:sp>
      <p:sp>
        <p:nvSpPr>
          <p:cNvPr id="11" name="Text 9"/>
          <p:cNvSpPr txBox="1"/>
          <p:nvPr/>
        </p:nvSpPr>
        <p:spPr>
          <a:xfrm>
            <a:off x="480060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Impact</a:t>
            </a:r>
            <a:endParaRPr lang="en-US" sz="1600" dirty="0"/>
          </a:p>
        </p:txBody>
      </p:sp>
      <p:sp>
        <p:nvSpPr>
          <p:cNvPr id="12" name="Shape 10"/>
          <p:cNvSpPr/>
          <p:nvPr/>
        </p:nvSpPr>
        <p:spPr>
          <a:xfrm>
            <a:off x="466344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13" name="Text 11"/>
          <p:cNvSpPr txBox="1"/>
          <p:nvPr/>
        </p:nvSpPr>
        <p:spPr>
          <a:xfrm>
            <a:off x="480060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Teacher, leadership expert, consultant and author</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Time magazine named him among the 25 most influential Americans (1996)</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Other books: First Things First, Principle-Centered Leadership, The 8th Habit</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Father of nine; his son Stephen M. R. Covey wrote The Speed of Trust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About the Book</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30</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Title: The 7 Habits of Highly Effective People, first published 1989</a:t>
            </a:r>
            <a:endParaRPr lang="en-US" sz="1600" b="1"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Has sold over </a:t>
            </a:r>
            <a:r>
              <a:rPr lang="en-US" sz="1600" b="1" dirty="0">
                <a:solidFill>
                  <a:srgbClr val="1F2A44"/>
                </a:solidFill>
                <a:latin typeface="Calibri" pitchFamily="34" charset="0"/>
                <a:ea typeface="Calibri" pitchFamily="34" charset="-122"/>
                <a:cs typeface="Calibri" pitchFamily="34" charset="-120"/>
              </a:rPr>
              <a:t>40 million copies </a:t>
            </a:r>
            <a:r>
              <a:rPr lang="en-US" sz="1600" dirty="0">
                <a:solidFill>
                  <a:srgbClr val="1F2A44"/>
                </a:solidFill>
                <a:latin typeface="Calibri" pitchFamily="34" charset="0"/>
                <a:ea typeface="Calibri" pitchFamily="34" charset="-122"/>
                <a:cs typeface="Calibri" pitchFamily="34" charset="-120"/>
              </a:rPr>
              <a:t>and been translated into </a:t>
            </a:r>
            <a:r>
              <a:rPr lang="en-US" sz="1600" b="1" dirty="0">
                <a:solidFill>
                  <a:srgbClr val="1F2A44"/>
                </a:solidFill>
                <a:latin typeface="Calibri" pitchFamily="34" charset="0"/>
                <a:ea typeface="Calibri" pitchFamily="34" charset="-122"/>
                <a:cs typeface="Calibri" pitchFamily="34" charset="-120"/>
              </a:rPr>
              <a:t>50+ languages (widely reported)</a:t>
            </a:r>
            <a:endParaRPr lang="en-US" sz="1600" b="1" dirty="0"/>
          </a:p>
          <a:p>
            <a:pPr marL="342900" indent="-342900">
              <a:spcAft>
                <a:spcPts val="700"/>
              </a:spcAft>
              <a:buSzPct val="100000"/>
              <a:buChar char="•"/>
            </a:pPr>
            <a:r>
              <a:rPr lang="en-US" sz="1600" b="1" dirty="0">
                <a:solidFill>
                  <a:srgbClr val="1F2A44"/>
                </a:solidFill>
                <a:latin typeface="Calibri" pitchFamily="34" charset="0"/>
                <a:ea typeface="Calibri" pitchFamily="34" charset="-122"/>
                <a:cs typeface="Calibri" pitchFamily="34" charset="-120"/>
              </a:rPr>
              <a:t>Core message: </a:t>
            </a:r>
            <a:r>
              <a:rPr lang="en-US" sz="1600" dirty="0">
                <a:solidFill>
                  <a:srgbClr val="1F2A44"/>
                </a:solidFill>
                <a:latin typeface="Calibri" pitchFamily="34" charset="0"/>
                <a:ea typeface="Calibri" pitchFamily="34" charset="-122"/>
                <a:cs typeface="Calibri" pitchFamily="34" charset="-120"/>
              </a:rPr>
              <a:t>lasting success comes from character and principles, not quick tricks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Based on Covey’s study of about 200 years of success literature</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Not just a business book: it works for students, families and leaders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Why we use it here: effective people are effective communicators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The Big Ideas Behind the Book</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31</a:t>
            </a:r>
            <a:endParaRPr lang="en-US" sz="1000" dirty="0"/>
          </a:p>
        </p:txBody>
      </p:sp>
      <p:sp>
        <p:nvSpPr>
          <p:cNvPr id="6" name="Shape 4"/>
          <p:cNvSpPr/>
          <p:nvPr/>
        </p:nvSpPr>
        <p:spPr>
          <a:xfrm>
            <a:off x="457200" y="1188720"/>
            <a:ext cx="4023360" cy="457200"/>
          </a:xfrm>
          <a:prstGeom prst="rect">
            <a:avLst/>
          </a:prstGeom>
          <a:solidFill>
            <a:srgbClr val="1F2A44"/>
          </a:solidFill>
          <a:ln w="12700">
            <a:solidFill>
              <a:srgbClr val="1F2A44"/>
            </a:solidFill>
            <a:prstDash val="solid"/>
          </a:ln>
        </p:spPr>
        <p:txBody>
          <a:bodyPr/>
          <a:lstStyle/>
          <a:p>
            <a:endParaRPr lang="en-US"/>
          </a:p>
        </p:txBody>
      </p:sp>
      <p:sp>
        <p:nvSpPr>
          <p:cNvPr id="7" name="Text 5"/>
          <p:cNvSpPr txBox="1"/>
          <p:nvPr/>
        </p:nvSpPr>
        <p:spPr>
          <a:xfrm>
            <a:off x="59436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Character vs Personality Ethic</a:t>
            </a:r>
            <a:endParaRPr lang="en-US" sz="1600" dirty="0"/>
          </a:p>
        </p:txBody>
      </p:sp>
      <p:sp>
        <p:nvSpPr>
          <p:cNvPr id="8" name="Shape 6"/>
          <p:cNvSpPr/>
          <p:nvPr/>
        </p:nvSpPr>
        <p:spPr>
          <a:xfrm>
            <a:off x="45720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9" name="Text 7"/>
          <p:cNvSpPr txBox="1"/>
          <p:nvPr/>
        </p:nvSpPr>
        <p:spPr>
          <a:xfrm>
            <a:off x="59436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b="1" dirty="0">
                <a:solidFill>
                  <a:srgbClr val="1F2A44"/>
                </a:solidFill>
                <a:latin typeface="Calibri" pitchFamily="34" charset="0"/>
                <a:ea typeface="Calibri" pitchFamily="34" charset="-122"/>
                <a:cs typeface="Calibri" pitchFamily="34" charset="-120"/>
              </a:rPr>
              <a:t>Personality ethic: </a:t>
            </a:r>
            <a:r>
              <a:rPr lang="en-US" sz="1400" dirty="0">
                <a:solidFill>
                  <a:srgbClr val="1F2A44"/>
                </a:solidFill>
                <a:latin typeface="Calibri" pitchFamily="34" charset="0"/>
                <a:ea typeface="Calibri" pitchFamily="34" charset="-122"/>
                <a:cs typeface="Calibri" pitchFamily="34" charset="-120"/>
              </a:rPr>
              <a:t>surface skills, image and techniques</a:t>
            </a:r>
            <a:endParaRPr lang="en-US" sz="1400" dirty="0"/>
          </a:p>
          <a:p>
            <a:pPr marL="342900" indent="-342900">
              <a:spcAft>
                <a:spcPts val="700"/>
              </a:spcAft>
              <a:buSzPct val="100000"/>
              <a:buChar char="•"/>
            </a:pPr>
            <a:r>
              <a:rPr lang="en-US" sz="1400" b="1" dirty="0">
                <a:solidFill>
                  <a:srgbClr val="1F2A44"/>
                </a:solidFill>
                <a:latin typeface="Calibri" pitchFamily="34" charset="0"/>
                <a:ea typeface="Calibri" pitchFamily="34" charset="-122"/>
                <a:cs typeface="Calibri" pitchFamily="34" charset="-120"/>
              </a:rPr>
              <a:t>Character ethic: </a:t>
            </a:r>
            <a:r>
              <a:rPr lang="en-US" sz="1400" dirty="0">
                <a:solidFill>
                  <a:srgbClr val="1F2A44"/>
                </a:solidFill>
                <a:latin typeface="Calibri" pitchFamily="34" charset="0"/>
                <a:ea typeface="Calibri" pitchFamily="34" charset="-122"/>
                <a:cs typeface="Calibri" pitchFamily="34" charset="-120"/>
              </a:rPr>
              <a:t>honesty, integrity, humility and courage</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Covey argues lasting success is built on character</a:t>
            </a:r>
            <a:endParaRPr lang="en-US" sz="1400" dirty="0"/>
          </a:p>
        </p:txBody>
      </p:sp>
      <p:sp>
        <p:nvSpPr>
          <p:cNvPr id="10" name="Shape 8"/>
          <p:cNvSpPr/>
          <p:nvPr/>
        </p:nvSpPr>
        <p:spPr>
          <a:xfrm>
            <a:off x="4663440" y="1188720"/>
            <a:ext cx="4023360" cy="457200"/>
          </a:xfrm>
          <a:prstGeom prst="rect">
            <a:avLst/>
          </a:prstGeom>
          <a:solidFill>
            <a:srgbClr val="0F766E"/>
          </a:solidFill>
          <a:ln w="12700">
            <a:solidFill>
              <a:srgbClr val="0F766E"/>
            </a:solidFill>
            <a:prstDash val="solid"/>
          </a:ln>
        </p:spPr>
        <p:txBody>
          <a:bodyPr/>
          <a:lstStyle/>
          <a:p>
            <a:endParaRPr lang="en-US"/>
          </a:p>
        </p:txBody>
      </p:sp>
      <p:sp>
        <p:nvSpPr>
          <p:cNvPr id="11" name="Text 9"/>
          <p:cNvSpPr txBox="1"/>
          <p:nvPr/>
        </p:nvSpPr>
        <p:spPr>
          <a:xfrm>
            <a:off x="480060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Paradigms and Inside-Out</a:t>
            </a:r>
            <a:endParaRPr lang="en-US" sz="1600" dirty="0"/>
          </a:p>
        </p:txBody>
      </p:sp>
      <p:sp>
        <p:nvSpPr>
          <p:cNvPr id="12" name="Shape 10"/>
          <p:cNvSpPr/>
          <p:nvPr/>
        </p:nvSpPr>
        <p:spPr>
          <a:xfrm>
            <a:off x="466344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13" name="Text 11"/>
          <p:cNvSpPr txBox="1"/>
          <p:nvPr/>
        </p:nvSpPr>
        <p:spPr>
          <a:xfrm>
            <a:off x="480060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A paradigm is how you see the world</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To change results, change your thinking first</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Change starts inside you, not with other people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The Maturity Continuum: Three Stages</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32</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Dependence: “You take care of me.” You blame others and wait for help</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Independence: “I can do it.” You take responsibility and make your own choices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Interdependence: “We can do it.” You cooperate and achieve more than alone</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Habits 1–3 move you from dependence to independence (Private Victory)</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Habits 4–6 move you to interdependence (Public Victory)</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Habit 7 renews and sustains all the others</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Private Victory: Habits 1, 2 and 3</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33</a:t>
            </a:r>
            <a:endParaRPr lang="en-US" sz="1000" dirty="0"/>
          </a:p>
        </p:txBody>
      </p:sp>
      <p:sp>
        <p:nvSpPr>
          <p:cNvPr id="6" name="Shape 4"/>
          <p:cNvSpPr/>
          <p:nvPr/>
        </p:nvSpPr>
        <p:spPr>
          <a:xfrm>
            <a:off x="457200" y="1188720"/>
            <a:ext cx="4023360" cy="457200"/>
          </a:xfrm>
          <a:prstGeom prst="rect">
            <a:avLst/>
          </a:prstGeom>
          <a:solidFill>
            <a:srgbClr val="0F766E"/>
          </a:solidFill>
          <a:ln w="12700">
            <a:solidFill>
              <a:srgbClr val="0F766E"/>
            </a:solidFill>
            <a:prstDash val="solid"/>
          </a:ln>
        </p:spPr>
        <p:txBody>
          <a:bodyPr/>
          <a:lstStyle/>
          <a:p>
            <a:endParaRPr lang="en-US"/>
          </a:p>
        </p:txBody>
      </p:sp>
      <p:sp>
        <p:nvSpPr>
          <p:cNvPr id="7" name="Text 5"/>
          <p:cNvSpPr txBox="1"/>
          <p:nvPr/>
        </p:nvSpPr>
        <p:spPr>
          <a:xfrm>
            <a:off x="59436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habits</a:t>
            </a:r>
            <a:endParaRPr lang="en-US" sz="1600" dirty="0"/>
          </a:p>
        </p:txBody>
      </p:sp>
      <p:sp>
        <p:nvSpPr>
          <p:cNvPr id="8" name="Shape 6"/>
          <p:cNvSpPr/>
          <p:nvPr/>
        </p:nvSpPr>
        <p:spPr>
          <a:xfrm>
            <a:off x="45720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9" name="Text 7"/>
          <p:cNvSpPr txBox="1"/>
          <p:nvPr/>
        </p:nvSpPr>
        <p:spPr>
          <a:xfrm>
            <a:off x="59436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b="1" dirty="0">
                <a:solidFill>
                  <a:srgbClr val="1F2A44"/>
                </a:solidFill>
                <a:latin typeface="Calibri" pitchFamily="34" charset="0"/>
                <a:ea typeface="Calibri" pitchFamily="34" charset="-122"/>
                <a:cs typeface="Calibri" pitchFamily="34" charset="-120"/>
              </a:rPr>
              <a:t>Habit 1: Be Proactive. </a:t>
            </a:r>
            <a:r>
              <a:rPr lang="en-US" sz="1400" dirty="0">
                <a:solidFill>
                  <a:srgbClr val="1F2A44"/>
                </a:solidFill>
                <a:latin typeface="Calibri" pitchFamily="34" charset="0"/>
                <a:ea typeface="Calibri" pitchFamily="34" charset="-122"/>
                <a:cs typeface="Calibri" pitchFamily="34" charset="-120"/>
              </a:rPr>
              <a:t>Choose your response; take responsibility</a:t>
            </a:r>
            <a:endParaRPr lang="en-US" sz="1400" dirty="0"/>
          </a:p>
          <a:p>
            <a:pPr marL="342900" indent="-342900">
              <a:spcAft>
                <a:spcPts val="700"/>
              </a:spcAft>
              <a:buSzPct val="100000"/>
              <a:buChar char="•"/>
            </a:pPr>
            <a:r>
              <a:rPr lang="en-US" sz="1400" b="1" dirty="0">
                <a:solidFill>
                  <a:srgbClr val="1F2A44"/>
                </a:solidFill>
                <a:latin typeface="Calibri" pitchFamily="34" charset="0"/>
                <a:ea typeface="Calibri" pitchFamily="34" charset="-122"/>
                <a:cs typeface="Calibri" pitchFamily="34" charset="-120"/>
              </a:rPr>
              <a:t>Habit 2: Begin with the End in Mind</a:t>
            </a:r>
            <a:r>
              <a:rPr lang="en-US" sz="1400" dirty="0">
                <a:solidFill>
                  <a:srgbClr val="1F2A44"/>
                </a:solidFill>
                <a:latin typeface="Calibri" pitchFamily="34" charset="0"/>
                <a:ea typeface="Calibri" pitchFamily="34" charset="-122"/>
                <a:cs typeface="Calibri" pitchFamily="34" charset="-120"/>
              </a:rPr>
              <a:t>. Know your goals and values</a:t>
            </a:r>
            <a:endParaRPr lang="en-US" sz="1400" dirty="0"/>
          </a:p>
          <a:p>
            <a:pPr marL="342900" indent="-342900">
              <a:spcAft>
                <a:spcPts val="700"/>
              </a:spcAft>
              <a:buSzPct val="100000"/>
              <a:buChar char="•"/>
            </a:pPr>
            <a:r>
              <a:rPr lang="en-US" sz="1400" b="1" dirty="0">
                <a:solidFill>
                  <a:srgbClr val="1F2A44"/>
                </a:solidFill>
                <a:latin typeface="Calibri" pitchFamily="34" charset="0"/>
                <a:ea typeface="Calibri" pitchFamily="34" charset="-122"/>
                <a:cs typeface="Calibri" pitchFamily="34" charset="-120"/>
              </a:rPr>
              <a:t>Habit 3: Put First Things First</a:t>
            </a:r>
            <a:r>
              <a:rPr lang="en-US" sz="1400" dirty="0">
                <a:solidFill>
                  <a:srgbClr val="1F2A44"/>
                </a:solidFill>
                <a:latin typeface="Calibri" pitchFamily="34" charset="0"/>
                <a:ea typeface="Calibri" pitchFamily="34" charset="-122"/>
                <a:cs typeface="Calibri" pitchFamily="34" charset="-120"/>
              </a:rPr>
              <a:t>. Prioritise important over urgent</a:t>
            </a:r>
            <a:endParaRPr lang="en-US" sz="1400" dirty="0"/>
          </a:p>
        </p:txBody>
      </p:sp>
      <p:sp>
        <p:nvSpPr>
          <p:cNvPr id="10" name="Shape 8"/>
          <p:cNvSpPr/>
          <p:nvPr/>
        </p:nvSpPr>
        <p:spPr>
          <a:xfrm>
            <a:off x="4663440" y="1188720"/>
            <a:ext cx="4023360" cy="457200"/>
          </a:xfrm>
          <a:prstGeom prst="rect">
            <a:avLst/>
          </a:prstGeom>
          <a:solidFill>
            <a:srgbClr val="1F2A44"/>
          </a:solidFill>
          <a:ln w="12700">
            <a:solidFill>
              <a:srgbClr val="1F2A44"/>
            </a:solidFill>
            <a:prstDash val="solid"/>
          </a:ln>
        </p:spPr>
        <p:txBody>
          <a:bodyPr/>
          <a:lstStyle/>
          <a:p>
            <a:endParaRPr lang="en-US"/>
          </a:p>
        </p:txBody>
      </p:sp>
      <p:sp>
        <p:nvSpPr>
          <p:cNvPr id="11" name="Text 9"/>
          <p:cNvSpPr txBox="1"/>
          <p:nvPr/>
        </p:nvSpPr>
        <p:spPr>
          <a:xfrm>
            <a:off x="480060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English example</a:t>
            </a:r>
            <a:endParaRPr lang="en-US" sz="1600" dirty="0"/>
          </a:p>
        </p:txBody>
      </p:sp>
      <p:sp>
        <p:nvSpPr>
          <p:cNvPr id="12" name="Shape 10"/>
          <p:cNvSpPr/>
          <p:nvPr/>
        </p:nvSpPr>
        <p:spPr>
          <a:xfrm>
            <a:off x="466344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13" name="Text 11"/>
          <p:cNvSpPr txBox="1"/>
          <p:nvPr/>
        </p:nvSpPr>
        <p:spPr>
          <a:xfrm>
            <a:off x="480060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H1: “I will practise speaking daily” instead of “My English is weak.”</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H2: Write a goal: “Fluent in interviews by December”</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H3: Study time first, then social media</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Public Victory: Habits 4, 5 and 6</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34</a:t>
            </a:r>
            <a:endParaRPr lang="en-US" sz="1000" dirty="0"/>
          </a:p>
        </p:txBody>
      </p:sp>
      <p:sp>
        <p:nvSpPr>
          <p:cNvPr id="6" name="Shape 4"/>
          <p:cNvSpPr/>
          <p:nvPr/>
        </p:nvSpPr>
        <p:spPr>
          <a:xfrm>
            <a:off x="457200" y="1188720"/>
            <a:ext cx="4023360" cy="457200"/>
          </a:xfrm>
          <a:prstGeom prst="rect">
            <a:avLst/>
          </a:prstGeom>
          <a:solidFill>
            <a:srgbClr val="1F2A44"/>
          </a:solidFill>
          <a:ln w="12700">
            <a:solidFill>
              <a:srgbClr val="1F2A44"/>
            </a:solidFill>
            <a:prstDash val="solid"/>
          </a:ln>
        </p:spPr>
        <p:txBody>
          <a:bodyPr/>
          <a:lstStyle/>
          <a:p>
            <a:endParaRPr lang="en-US"/>
          </a:p>
        </p:txBody>
      </p:sp>
      <p:sp>
        <p:nvSpPr>
          <p:cNvPr id="7" name="Text 5"/>
          <p:cNvSpPr txBox="1"/>
          <p:nvPr/>
        </p:nvSpPr>
        <p:spPr>
          <a:xfrm>
            <a:off x="59436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habits</a:t>
            </a:r>
            <a:endParaRPr lang="en-US" sz="1600" dirty="0"/>
          </a:p>
        </p:txBody>
      </p:sp>
      <p:sp>
        <p:nvSpPr>
          <p:cNvPr id="8" name="Shape 6"/>
          <p:cNvSpPr/>
          <p:nvPr/>
        </p:nvSpPr>
        <p:spPr>
          <a:xfrm>
            <a:off x="45720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9" name="Text 7"/>
          <p:cNvSpPr txBox="1"/>
          <p:nvPr/>
        </p:nvSpPr>
        <p:spPr>
          <a:xfrm>
            <a:off x="59436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b="1" dirty="0">
                <a:solidFill>
                  <a:srgbClr val="1F2A44"/>
                </a:solidFill>
                <a:latin typeface="Calibri" pitchFamily="34" charset="0"/>
                <a:ea typeface="Calibri" pitchFamily="34" charset="-122"/>
                <a:cs typeface="Calibri" pitchFamily="34" charset="-120"/>
              </a:rPr>
              <a:t>Habit 4: Think Win-Win. </a:t>
            </a:r>
            <a:r>
              <a:rPr lang="en-US" sz="1400" dirty="0">
                <a:solidFill>
                  <a:srgbClr val="1F2A44"/>
                </a:solidFill>
                <a:latin typeface="Calibri" pitchFamily="34" charset="0"/>
                <a:ea typeface="Calibri" pitchFamily="34" charset="-122"/>
                <a:cs typeface="Calibri" pitchFamily="34" charset="-120"/>
              </a:rPr>
              <a:t>Look for solutions where everyone benefits</a:t>
            </a:r>
            <a:endParaRPr lang="en-US" sz="1400" dirty="0"/>
          </a:p>
          <a:p>
            <a:pPr marL="342900" indent="-342900">
              <a:spcAft>
                <a:spcPts val="700"/>
              </a:spcAft>
              <a:buSzPct val="100000"/>
              <a:buChar char="•"/>
            </a:pPr>
            <a:r>
              <a:rPr lang="en-US" sz="1400" b="1" dirty="0">
                <a:solidFill>
                  <a:srgbClr val="1F2A44"/>
                </a:solidFill>
                <a:latin typeface="Calibri" pitchFamily="34" charset="0"/>
                <a:ea typeface="Calibri" pitchFamily="34" charset="-122"/>
                <a:cs typeface="Calibri" pitchFamily="34" charset="-120"/>
              </a:rPr>
              <a:t>Habit 5: Seek First to Understand</a:t>
            </a:r>
            <a:r>
              <a:rPr lang="en-US" sz="1400" dirty="0">
                <a:solidFill>
                  <a:srgbClr val="1F2A44"/>
                </a:solidFill>
                <a:latin typeface="Calibri" pitchFamily="34" charset="0"/>
                <a:ea typeface="Calibri" pitchFamily="34" charset="-122"/>
                <a:cs typeface="Calibri" pitchFamily="34" charset="-120"/>
              </a:rPr>
              <a:t>, Then to Be Understood. Listen before you speak</a:t>
            </a:r>
            <a:endParaRPr lang="en-US" sz="1400" dirty="0"/>
          </a:p>
          <a:p>
            <a:pPr marL="342900" indent="-342900">
              <a:spcAft>
                <a:spcPts val="700"/>
              </a:spcAft>
              <a:buSzPct val="100000"/>
              <a:buChar char="•"/>
            </a:pPr>
            <a:r>
              <a:rPr lang="en-US" sz="1400" b="1" dirty="0">
                <a:solidFill>
                  <a:srgbClr val="1F2A44"/>
                </a:solidFill>
                <a:latin typeface="Calibri" pitchFamily="34" charset="0"/>
                <a:ea typeface="Calibri" pitchFamily="34" charset="-122"/>
                <a:cs typeface="Calibri" pitchFamily="34" charset="-120"/>
              </a:rPr>
              <a:t>Habit 6: Synergize</a:t>
            </a:r>
            <a:r>
              <a:rPr lang="en-US" sz="1400" dirty="0">
                <a:solidFill>
                  <a:srgbClr val="1F2A44"/>
                </a:solidFill>
                <a:latin typeface="Calibri" pitchFamily="34" charset="0"/>
                <a:ea typeface="Calibri" pitchFamily="34" charset="-122"/>
                <a:cs typeface="Calibri" pitchFamily="34" charset="-120"/>
              </a:rPr>
              <a:t>. Combine strengths; the whole is greater than the parts</a:t>
            </a:r>
            <a:endParaRPr lang="en-US" sz="1400" dirty="0"/>
          </a:p>
        </p:txBody>
      </p:sp>
      <p:sp>
        <p:nvSpPr>
          <p:cNvPr id="10" name="Shape 8"/>
          <p:cNvSpPr/>
          <p:nvPr/>
        </p:nvSpPr>
        <p:spPr>
          <a:xfrm>
            <a:off x="4663440" y="1188720"/>
            <a:ext cx="4023360" cy="457200"/>
          </a:xfrm>
          <a:prstGeom prst="rect">
            <a:avLst/>
          </a:prstGeom>
          <a:solidFill>
            <a:srgbClr val="0F766E"/>
          </a:solidFill>
          <a:ln w="12700">
            <a:solidFill>
              <a:srgbClr val="0F766E"/>
            </a:solidFill>
            <a:prstDash val="solid"/>
          </a:ln>
        </p:spPr>
        <p:txBody>
          <a:bodyPr/>
          <a:lstStyle/>
          <a:p>
            <a:endParaRPr lang="en-US"/>
          </a:p>
        </p:txBody>
      </p:sp>
      <p:sp>
        <p:nvSpPr>
          <p:cNvPr id="11" name="Text 9"/>
          <p:cNvSpPr txBox="1"/>
          <p:nvPr/>
        </p:nvSpPr>
        <p:spPr>
          <a:xfrm>
            <a:off x="4800600" y="1188720"/>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English example</a:t>
            </a:r>
            <a:endParaRPr lang="en-US" sz="1600" dirty="0"/>
          </a:p>
        </p:txBody>
      </p:sp>
      <p:sp>
        <p:nvSpPr>
          <p:cNvPr id="12" name="Shape 10"/>
          <p:cNvSpPr/>
          <p:nvPr/>
        </p:nvSpPr>
        <p:spPr>
          <a:xfrm>
            <a:off x="4663440" y="1645920"/>
            <a:ext cx="4023360" cy="3017520"/>
          </a:xfrm>
          <a:prstGeom prst="rect">
            <a:avLst/>
          </a:prstGeom>
          <a:solidFill>
            <a:srgbClr val="FFFFFF"/>
          </a:solidFill>
          <a:ln w="12700">
            <a:solidFill>
              <a:srgbClr val="D5DAE3"/>
            </a:solidFill>
            <a:prstDash val="solid"/>
          </a:ln>
        </p:spPr>
        <p:txBody>
          <a:bodyPr/>
          <a:lstStyle/>
          <a:p>
            <a:endParaRPr lang="en-US"/>
          </a:p>
        </p:txBody>
      </p:sp>
      <p:sp>
        <p:nvSpPr>
          <p:cNvPr id="13" name="Text 11"/>
          <p:cNvSpPr txBox="1"/>
          <p:nvPr/>
        </p:nvSpPr>
        <p:spPr>
          <a:xfrm>
            <a:off x="4800600" y="1783080"/>
            <a:ext cx="374904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H4: Group project where everyone gets a fair role</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H5: Paraphrase what your partner said before replying</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H6: Peer feedback: strong writer pairs with strong speaker</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Habit 7: Sharpen the Saw (Renewal)</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35</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Keep improving the most important tool you have: yourself</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Four dimensions: Physical, Mental, Social/Emotional, Spiritual</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Physical: sleep, exercise and food so you can focus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Mental: read, write and learn new words every day</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Social/Emotional: build healthy relationships and give feedback kindly</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Spiritual: reflect on values and purpose</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Without renewal, the other six habits fade</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Linking the 7 Habits to English Skills</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36</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Proactive: take charge of your learning; do not wait for the teacher</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End in Mind: set clear speaking, writing and career goals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First Things First: schedule daily practice before distractions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Win-Win: respectful, fair group discussions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Understand First: strong listening is the base of good speaking</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Synergize: team presentations and peer editing</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Sharpen the Saw: daily reading, writing and vocabulary building</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2B134"/>
          </a:solidFill>
          <a:ln w="12700">
            <a:solidFill>
              <a:srgbClr val="F2B134"/>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Case Study: Hamza and the Group Project</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37</a:t>
            </a:r>
            <a:endParaRPr lang="en-US" sz="1000" dirty="0"/>
          </a:p>
        </p:txBody>
      </p:sp>
      <p:sp>
        <p:nvSpPr>
          <p:cNvPr id="6" name="Shape 4"/>
          <p:cNvSpPr/>
          <p:nvPr/>
        </p:nvSpPr>
        <p:spPr>
          <a:xfrm>
            <a:off x="457200" y="1188720"/>
            <a:ext cx="8229600" cy="1691640"/>
          </a:xfrm>
          <a:prstGeom prst="rect">
            <a:avLst/>
          </a:prstGeom>
          <a:solidFill>
            <a:srgbClr val="FFFFFF"/>
          </a:solidFill>
          <a:ln w="25400">
            <a:solidFill>
              <a:srgbClr val="F2B134"/>
            </a:solidFill>
            <a:prstDash val="solid"/>
          </a:ln>
        </p:spPr>
        <p:txBody>
          <a:bodyPr/>
          <a:lstStyle/>
          <a:p>
            <a:endParaRPr lang="en-US"/>
          </a:p>
        </p:txBody>
      </p:sp>
      <p:sp>
        <p:nvSpPr>
          <p:cNvPr id="7" name="Text 5"/>
          <p:cNvSpPr txBox="1"/>
          <p:nvPr/>
        </p:nvSpPr>
        <p:spPr>
          <a:xfrm>
            <a:off x="640080" y="1280160"/>
            <a:ext cx="7863840" cy="1508760"/>
          </a:xfrm>
          <a:prstGeom prst="rect">
            <a:avLst/>
          </a:prstGeom>
          <a:noFill/>
          <a:ln/>
        </p:spPr>
        <p:txBody>
          <a:bodyPr wrap="square" lIns="0" tIns="0" rIns="0" bIns="0" rtlCol="0" anchor="t"/>
          <a:lstStyle/>
          <a:p>
            <a:pPr marL="0" indent="0">
              <a:buNone/>
            </a:pPr>
            <a:r>
              <a:rPr lang="en-US" sz="1400" b="1" dirty="0">
                <a:solidFill>
                  <a:srgbClr val="0F766E"/>
                </a:solidFill>
                <a:latin typeface="Calibri" pitchFamily="34" charset="0"/>
                <a:ea typeface="Calibri" pitchFamily="34" charset="-122"/>
                <a:cs typeface="Calibri" pitchFamily="34" charset="-120"/>
              </a:rPr>
              <a:t>Situation  </a:t>
            </a:r>
            <a:r>
              <a:rPr lang="en-US" sz="1400" dirty="0">
                <a:solidFill>
                  <a:srgbClr val="1F2A44"/>
                </a:solidFill>
                <a:latin typeface="Calibri" pitchFamily="34" charset="0"/>
                <a:ea typeface="Calibri" pitchFamily="34" charset="-122"/>
                <a:cs typeface="Calibri" pitchFamily="34" charset="-120"/>
              </a:rPr>
              <a:t>Hamza’s group has a presentation in one week. Two members dominate the talking, one stays silent, and Hamza waits to be told what to do. They submit late, the slides are mixed, and everyone blames each other.</a:t>
            </a:r>
            <a:endParaRPr lang="en-US" sz="1400" dirty="0"/>
          </a:p>
        </p:txBody>
      </p:sp>
      <p:sp>
        <p:nvSpPr>
          <p:cNvPr id="8" name="Text 6"/>
          <p:cNvSpPr txBox="1"/>
          <p:nvPr/>
        </p:nvSpPr>
        <p:spPr>
          <a:xfrm>
            <a:off x="457200" y="3017520"/>
            <a:ext cx="8229600" cy="320040"/>
          </a:xfrm>
          <a:prstGeom prst="rect">
            <a:avLst/>
          </a:prstGeom>
          <a:noFill/>
          <a:ln/>
        </p:spPr>
        <p:txBody>
          <a:bodyPr wrap="square" lIns="0" tIns="0" rIns="0" bIns="0" rtlCol="0" anchor="ctr"/>
          <a:lstStyle/>
          <a:p>
            <a:pPr marL="0" indent="0">
              <a:buNone/>
            </a:pPr>
            <a:r>
              <a:rPr lang="en-US" sz="1500" b="1" dirty="0">
                <a:solidFill>
                  <a:srgbClr val="0F766E"/>
                </a:solidFill>
                <a:latin typeface="Calibri" pitchFamily="34" charset="0"/>
                <a:ea typeface="Calibri" pitchFamily="34" charset="-122"/>
                <a:cs typeface="Calibri" pitchFamily="34" charset="-120"/>
              </a:rPr>
              <a:t>Discuss in groups</a:t>
            </a:r>
            <a:endParaRPr lang="en-US" sz="1500" dirty="0"/>
          </a:p>
        </p:txBody>
      </p:sp>
      <p:sp>
        <p:nvSpPr>
          <p:cNvPr id="9" name="Text 7"/>
          <p:cNvSpPr txBox="1"/>
          <p:nvPr/>
        </p:nvSpPr>
        <p:spPr>
          <a:xfrm>
            <a:off x="457200" y="3383280"/>
            <a:ext cx="8229600" cy="1371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Which of the 7 Habits were missing? Give examples</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How would Habit 5 (listen first) change the group meeting?</a:t>
            </a:r>
            <a:endParaRPr lang="en-US" sz="1400" dirty="0"/>
          </a:p>
          <a:p>
            <a:pPr marL="342900" indent="-342900">
              <a:spcAft>
                <a:spcPts val="700"/>
              </a:spcAft>
              <a:buSzPct val="100000"/>
              <a:buChar char="•"/>
            </a:pPr>
            <a:r>
              <a:rPr lang="en-US" sz="1400" dirty="0">
                <a:solidFill>
                  <a:srgbClr val="1F2A44"/>
                </a:solidFill>
                <a:latin typeface="Calibri" pitchFamily="34" charset="0"/>
                <a:ea typeface="Calibri" pitchFamily="34" charset="-122"/>
                <a:cs typeface="Calibri" pitchFamily="34" charset="-120"/>
              </a:rPr>
              <a:t>Write 3 sentences Hamza could say to propose a win-win plan</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2B134"/>
          </a:solidFill>
          <a:ln w="12700">
            <a:solidFill>
              <a:srgbClr val="F2B134"/>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Activity: My Personal Mission Statement</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38</a:t>
            </a:r>
            <a:endParaRPr lang="en-US" sz="1000" dirty="0"/>
          </a:p>
        </p:txBody>
      </p:sp>
      <p:sp>
        <p:nvSpPr>
          <p:cNvPr id="8" name="Text 6"/>
          <p:cNvSpPr txBox="1"/>
          <p:nvPr/>
        </p:nvSpPr>
        <p:spPr>
          <a:xfrm>
            <a:off x="548640" y="1645920"/>
            <a:ext cx="804672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F2A44"/>
                </a:solidFill>
                <a:latin typeface="Calibri" pitchFamily="34" charset="0"/>
                <a:ea typeface="Calibri" pitchFamily="34" charset="-122"/>
                <a:cs typeface="Calibri" pitchFamily="34" charset="-120"/>
              </a:rPr>
              <a:t>Think: What kind of person and communicator do I want to be in 5 years?</a:t>
            </a:r>
            <a:endParaRPr lang="en-US" sz="1500" dirty="0"/>
          </a:p>
          <a:p>
            <a:pPr marL="342900" indent="-342900">
              <a:spcAft>
                <a:spcPts val="700"/>
              </a:spcAft>
              <a:buSzPct val="100000"/>
              <a:buChar char="•"/>
            </a:pPr>
            <a:r>
              <a:rPr lang="en-US" sz="1500" dirty="0">
                <a:solidFill>
                  <a:srgbClr val="1F2A44"/>
                </a:solidFill>
                <a:latin typeface="Calibri" pitchFamily="34" charset="0"/>
                <a:ea typeface="Calibri" pitchFamily="34" charset="-122"/>
                <a:cs typeface="Calibri" pitchFamily="34" charset="-120"/>
              </a:rPr>
              <a:t>Write 4–6 sentences in English: who I am, what I value, what I will do</a:t>
            </a:r>
            <a:endParaRPr lang="en-US" sz="1500" dirty="0"/>
          </a:p>
          <a:p>
            <a:pPr marL="342900" indent="-342900">
              <a:spcAft>
                <a:spcPts val="700"/>
              </a:spcAft>
              <a:buSzPct val="100000"/>
              <a:buChar char="•"/>
            </a:pPr>
            <a:r>
              <a:rPr lang="en-US" sz="1500" dirty="0">
                <a:solidFill>
                  <a:srgbClr val="1F2A44"/>
                </a:solidFill>
                <a:latin typeface="Calibri" pitchFamily="34" charset="0"/>
                <a:ea typeface="Calibri" pitchFamily="34" charset="-122"/>
                <a:cs typeface="Calibri" pitchFamily="34" charset="-120"/>
              </a:rPr>
              <a:t>Include one habit from Covey that you will practise starting this week</a:t>
            </a:r>
            <a:endParaRPr lang="en-US" sz="1500" dirty="0"/>
          </a:p>
          <a:p>
            <a:pPr marL="342900" indent="-342900">
              <a:spcAft>
                <a:spcPts val="700"/>
              </a:spcAft>
              <a:buSzPct val="100000"/>
              <a:buChar char="•"/>
            </a:pPr>
            <a:r>
              <a:rPr lang="en-US" sz="1500" dirty="0">
                <a:solidFill>
                  <a:srgbClr val="1F2A44"/>
                </a:solidFill>
                <a:latin typeface="Calibri" pitchFamily="34" charset="0"/>
                <a:ea typeface="Calibri" pitchFamily="34" charset="-122"/>
                <a:cs typeface="Calibri" pitchFamily="34" charset="-120"/>
              </a:rPr>
              <a:t>Share with a partner, who gives one suggestion; revise and read aloud to the class</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9">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2B134"/>
          </a:solidFill>
          <a:ln w="12700">
            <a:solidFill>
              <a:srgbClr val="F2B134"/>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Activity: Circle of Concern vs Circle of Influence</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39</a:t>
            </a:r>
            <a:endParaRPr lang="en-US" sz="1000" dirty="0"/>
          </a:p>
        </p:txBody>
      </p:sp>
      <p:sp>
        <p:nvSpPr>
          <p:cNvPr id="6" name="Shape 4"/>
          <p:cNvSpPr/>
          <p:nvPr/>
        </p:nvSpPr>
        <p:spPr>
          <a:xfrm>
            <a:off x="7040880" y="1143000"/>
            <a:ext cx="1645920" cy="411480"/>
          </a:xfrm>
          <a:prstGeom prst="roundRect">
            <a:avLst>
              <a:gd name="adj" fmla="val 22222"/>
            </a:avLst>
          </a:prstGeom>
          <a:solidFill>
            <a:srgbClr val="F2B134"/>
          </a:solidFill>
          <a:ln w="12700">
            <a:solidFill>
              <a:srgbClr val="F2B134"/>
            </a:solidFill>
            <a:prstDash val="solid"/>
          </a:ln>
        </p:spPr>
        <p:txBody>
          <a:bodyPr/>
          <a:lstStyle/>
          <a:p>
            <a:endParaRPr lang="en-US"/>
          </a:p>
        </p:txBody>
      </p:sp>
      <p:sp>
        <p:nvSpPr>
          <p:cNvPr id="7" name="Text 5"/>
          <p:cNvSpPr txBox="1"/>
          <p:nvPr/>
        </p:nvSpPr>
        <p:spPr>
          <a:xfrm>
            <a:off x="7040880" y="1143000"/>
            <a:ext cx="1645920" cy="411480"/>
          </a:xfrm>
          <a:prstGeom prst="rect">
            <a:avLst/>
          </a:prstGeom>
          <a:noFill/>
          <a:ln/>
        </p:spPr>
        <p:txBody>
          <a:bodyPr wrap="square" lIns="0" tIns="0" rIns="0" bIns="0" rtlCol="0" anchor="ctr"/>
          <a:lstStyle/>
          <a:p>
            <a:pPr marL="0" indent="0" algn="ctr">
              <a:buNone/>
            </a:pPr>
            <a:r>
              <a:rPr lang="en-US" sz="1300" b="1" dirty="0">
                <a:solidFill>
                  <a:srgbClr val="1F2A44"/>
                </a:solidFill>
                <a:latin typeface="Calibri" pitchFamily="34" charset="0"/>
                <a:ea typeface="Calibri" pitchFamily="34" charset="-122"/>
                <a:cs typeface="Calibri" pitchFamily="34" charset="-120"/>
              </a:rPr>
              <a:t>20 minutes</a:t>
            </a:r>
            <a:endParaRPr lang="en-US" sz="1300" dirty="0"/>
          </a:p>
        </p:txBody>
      </p:sp>
      <p:sp>
        <p:nvSpPr>
          <p:cNvPr id="8" name="Text 6"/>
          <p:cNvSpPr txBox="1"/>
          <p:nvPr/>
        </p:nvSpPr>
        <p:spPr>
          <a:xfrm>
            <a:off x="548640" y="1645920"/>
            <a:ext cx="804672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F2A44"/>
                </a:solidFill>
                <a:latin typeface="Calibri" pitchFamily="34" charset="0"/>
                <a:ea typeface="Calibri" pitchFamily="34" charset="-122"/>
                <a:cs typeface="Calibri" pitchFamily="34" charset="-120"/>
              </a:rPr>
              <a:t>Draw two circles: a large one “Concern” and a smaller one inside “Influence”</a:t>
            </a:r>
            <a:endParaRPr lang="en-US" sz="1500" dirty="0"/>
          </a:p>
          <a:p>
            <a:pPr marL="342900" indent="-342900">
              <a:spcAft>
                <a:spcPts val="700"/>
              </a:spcAft>
              <a:buSzPct val="100000"/>
              <a:buChar char="•"/>
            </a:pPr>
            <a:r>
              <a:rPr lang="en-US" sz="1500" dirty="0">
                <a:solidFill>
                  <a:srgbClr val="1F2A44"/>
                </a:solidFill>
                <a:latin typeface="Calibri" pitchFamily="34" charset="0"/>
                <a:ea typeface="Calibri" pitchFamily="34" charset="-122"/>
                <a:cs typeface="Calibri" pitchFamily="34" charset="-120"/>
              </a:rPr>
              <a:t>List 5 things worrying you about English (e.g. accent, marks, exam)</a:t>
            </a:r>
            <a:endParaRPr lang="en-US" sz="1500" dirty="0"/>
          </a:p>
          <a:p>
            <a:pPr marL="342900" indent="-342900">
              <a:spcAft>
                <a:spcPts val="700"/>
              </a:spcAft>
              <a:buSzPct val="100000"/>
              <a:buChar char="•"/>
            </a:pPr>
            <a:r>
              <a:rPr lang="en-US" sz="1500" dirty="0">
                <a:solidFill>
                  <a:srgbClr val="1F2A44"/>
                </a:solidFill>
                <a:latin typeface="Calibri" pitchFamily="34" charset="0"/>
                <a:ea typeface="Calibri" pitchFamily="34" charset="-122"/>
                <a:cs typeface="Calibri" pitchFamily="34" charset="-120"/>
              </a:rPr>
              <a:t>Move each into the correct circle: what can I change, and what can I not</a:t>
            </a:r>
            <a:endParaRPr lang="en-US" sz="1500" dirty="0"/>
          </a:p>
          <a:p>
            <a:pPr marL="342900" indent="-342900">
              <a:spcAft>
                <a:spcPts val="700"/>
              </a:spcAft>
              <a:buSzPct val="100000"/>
              <a:buChar char="•"/>
            </a:pPr>
            <a:r>
              <a:rPr lang="en-US" sz="1500" dirty="0">
                <a:solidFill>
                  <a:srgbClr val="1F2A44"/>
                </a:solidFill>
                <a:latin typeface="Calibri" pitchFamily="34" charset="0"/>
                <a:ea typeface="Calibri" pitchFamily="34" charset="-122"/>
                <a:cs typeface="Calibri" pitchFamily="34" charset="-120"/>
              </a:rPr>
              <a:t>Write one action sentence for each item in the Influence circle</a:t>
            </a:r>
            <a:endParaRPr lang="en-US" sz="1500" dirty="0"/>
          </a:p>
        </p:txBody>
      </p:sp>
      <p:sp>
        <p:nvSpPr>
          <p:cNvPr id="9" name="Shape 7"/>
          <p:cNvSpPr/>
          <p:nvPr/>
        </p:nvSpPr>
        <p:spPr>
          <a:xfrm>
            <a:off x="457200" y="4069080"/>
            <a:ext cx="8229600" cy="640080"/>
          </a:xfrm>
          <a:prstGeom prst="rect">
            <a:avLst/>
          </a:prstGeom>
          <a:solidFill>
            <a:srgbClr val="DDF1EE"/>
          </a:solidFill>
          <a:ln w="12700">
            <a:solidFill>
              <a:srgbClr val="0F766E"/>
            </a:solidFill>
            <a:prstDash val="solid"/>
          </a:ln>
        </p:spPr>
        <p:txBody>
          <a:bodyPr/>
          <a:lstStyle/>
          <a:p>
            <a:endParaRPr lang="en-US"/>
          </a:p>
        </p:txBody>
      </p:sp>
      <p:sp>
        <p:nvSpPr>
          <p:cNvPr id="10" name="Text 8"/>
          <p:cNvSpPr txBox="1"/>
          <p:nvPr/>
        </p:nvSpPr>
        <p:spPr>
          <a:xfrm>
            <a:off x="594360" y="4069080"/>
            <a:ext cx="7955280" cy="640080"/>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Outcome: </a:t>
            </a:r>
            <a:r>
              <a:rPr lang="en-US" sz="1300" dirty="0">
                <a:solidFill>
                  <a:srgbClr val="1F2A44"/>
                </a:solidFill>
                <a:latin typeface="Calibri" pitchFamily="34" charset="0"/>
                <a:ea typeface="Calibri" pitchFamily="34" charset="-122"/>
                <a:cs typeface="Calibri" pitchFamily="34" charset="-120"/>
              </a:rPr>
              <a:t>Builds Habit 1 (be proactive) and practical goal setting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0">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Summary: Key Takeaways</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40</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English is a global tool for study, work and opportunity</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The four pillars: listening, speaking, reading, writing, supported by grammar, vocabulary and pronunciation</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University students need academic, professional, social and digital English</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Challenges are solved by daily practice, not by talent alone</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Stephen Covey’s 7 Habits give us a character-based method for effective learning and communication</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Effective English = skills + habits + consistent practice</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1">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F2A44"/>
          </a:solidFill>
          <a:ln w="12700">
            <a:solidFill>
              <a:srgbClr val="1F2A44"/>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0F766E"/>
          </a:solidFill>
          <a:ln w="12700">
            <a:solidFill>
              <a:srgbClr val="0F766E"/>
            </a:solidFill>
            <a:prstDash val="solid"/>
          </a:ln>
        </p:spPr>
        <p:txBody>
          <a:bodyPr/>
          <a:lstStyle/>
          <a:p>
            <a:endParaRPr lang="en-US"/>
          </a:p>
        </p:txBody>
      </p:sp>
      <p:sp>
        <p:nvSpPr>
          <p:cNvPr id="4" name="Text 2"/>
          <p:cNvSpPr txBox="1"/>
          <p:nvPr/>
        </p:nvSpPr>
        <p:spPr>
          <a:xfrm>
            <a:off x="457200" y="109728"/>
            <a:ext cx="82296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Homework and Closing Discussion</a:t>
            </a:r>
            <a:endParaRPr lang="en-US" sz="2400" dirty="0"/>
          </a:p>
        </p:txBody>
      </p:sp>
      <p:sp>
        <p:nvSpPr>
          <p:cNvPr id="5" name="Text 3"/>
          <p:cNvSpPr txBox="1"/>
          <p:nvPr/>
        </p:nvSpPr>
        <p:spPr>
          <a:xfrm>
            <a:off x="8412480" y="4800600"/>
            <a:ext cx="457200" cy="274320"/>
          </a:xfrm>
          <a:prstGeom prst="rect">
            <a:avLst/>
          </a:prstGeom>
          <a:noFill/>
          <a:ln/>
        </p:spPr>
        <p:txBody>
          <a:bodyPr wrap="square" lIns="0" tIns="0" rIns="0" bIns="0" rtlCol="0" anchor="ctr"/>
          <a:lstStyle/>
          <a:p>
            <a:pPr marL="0" indent="0" algn="r">
              <a:buNone/>
            </a:pPr>
            <a:r>
              <a:rPr lang="en-US" sz="1000" dirty="0">
                <a:solidFill>
                  <a:srgbClr val="7A8499"/>
                </a:solidFill>
              </a:rPr>
              <a:t>41</a:t>
            </a:r>
            <a:endParaRPr lang="en-US" sz="1000" dirty="0"/>
          </a:p>
        </p:txBody>
      </p:sp>
      <p:sp>
        <p:nvSpPr>
          <p:cNvPr id="6" name="Text 4"/>
          <p:cNvSpPr txBox="1"/>
          <p:nvPr/>
        </p:nvSpPr>
        <p:spPr>
          <a:xfrm>
            <a:off x="548640" y="1188720"/>
            <a:ext cx="8046720" cy="35661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Write a 150-word paragraph: “My strongest and weakest English pillar and my plan”</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Rewrite the Bilal email in a professional format</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Start a vocabulary notebook: 5 new words daily, with your own sentences</a:t>
            </a:r>
            <a:endParaRPr lang="en-US" sz="1600" dirty="0"/>
          </a:p>
          <a:p>
            <a:pPr marL="342900" indent="-342900">
              <a:spcAft>
                <a:spcPts val="700"/>
              </a:spcAft>
              <a:buSzPct val="100000"/>
              <a:buChar char="•"/>
            </a:pPr>
            <a:r>
              <a:rPr lang="en-US" sz="1600" dirty="0">
                <a:solidFill>
                  <a:srgbClr val="1F2A44"/>
                </a:solidFill>
                <a:latin typeface="Calibri" pitchFamily="34" charset="0"/>
                <a:ea typeface="Calibri" pitchFamily="34" charset="-122"/>
                <a:cs typeface="Calibri" pitchFamily="34" charset="-120"/>
              </a:rPr>
              <a:t>Read about Habit 1: Be Proactive for the next class</a:t>
            </a:r>
          </a:p>
          <a:p>
            <a:pPr marL="342900" indent="-342900">
              <a:spcAft>
                <a:spcPts val="700"/>
              </a:spcAft>
              <a:buSzPct val="100000"/>
              <a:buChar char="•"/>
            </a:pPr>
            <a:endParaRPr lang="en-US" sz="1600" dirty="0">
              <a:solidFill>
                <a:srgbClr val="1F2A44"/>
              </a:solidFill>
              <a:latin typeface="Calibri" pitchFamily="34" charset="0"/>
              <a:ea typeface="Calibri" pitchFamily="34" charset="-122"/>
              <a:cs typeface="Calibri" pitchFamily="34" charset="-120"/>
            </a:endParaRPr>
          </a:p>
          <a:p>
            <a:pPr marL="342900" indent="-342900">
              <a:spcAft>
                <a:spcPts val="700"/>
              </a:spcAft>
              <a:buSzPct val="100000"/>
              <a:buChar char="•"/>
            </a:pPr>
            <a:endParaRPr lang="en-US" sz="1600" dirty="0"/>
          </a:p>
          <a:p>
            <a:pPr algn="ctr">
              <a:spcAft>
                <a:spcPts val="700"/>
              </a:spcAft>
              <a:buSzPct val="100000"/>
            </a:pPr>
            <a:r>
              <a:rPr lang="en-US" sz="2400" b="1" dirty="0">
                <a:solidFill>
                  <a:srgbClr val="1F2A44"/>
                </a:solidFill>
                <a:latin typeface="Calibri" pitchFamily="34" charset="0"/>
                <a:ea typeface="Calibri" pitchFamily="34" charset="-122"/>
                <a:cs typeface="Calibri" pitchFamily="34" charset="-120"/>
              </a:rPr>
              <a:t>Thank you</a:t>
            </a:r>
            <a:endParaRPr lang="en-US" sz="24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2805</Words>
  <Application>Microsoft Office PowerPoint</Application>
  <PresentationFormat>On-screen Show (16:9)</PresentationFormat>
  <Paragraphs>372</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English – Introduction</dc:title>
  <dc:subject>PptxGenJS Presentation</dc:subject>
  <dc:creator>PptxGenJS</dc:creator>
  <cp:lastModifiedBy>FA23-BEE-009(ABDULLAH SHAHAB)</cp:lastModifiedBy>
  <cp:revision>5</cp:revision>
  <dcterms:created xsi:type="dcterms:W3CDTF">2026-10-18T15:27:40Z</dcterms:created>
  <dcterms:modified xsi:type="dcterms:W3CDTF">2026-10-19T03:29:30Z</dcterms:modified>
</cp:coreProperties>
</file>