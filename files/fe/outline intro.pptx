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74" r:id="rId3"/>
    <p:sldId id="275" r:id="rId4"/>
    <p:sldId id="276" r:id="rId5"/>
    <p:sldId id="277" r:id="rId6"/>
    <p:sldId id="278" r:id="rId7"/>
    <p:sldId id="279" r:id="rId8"/>
    <p:sldId id="280" r:id="rId9"/>
    <p:sldId id="281" r:id="rId10"/>
    <p:sldId id="282" r:id="rId11"/>
    <p:sldId id="283" r:id="rId12"/>
    <p:sldId id="284" r:id="rId13"/>
    <p:sldId id="305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8F2ABB-410D-4746-B00D-C1D48D2A5C2A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36552B-3BC1-43EF-910D-3E5C4F35A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8414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details on this slide are drawn from the provided Superior University course outline. Confirm the session/date with the department if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CLO wording is condensed from the official course outline. The outline identifies interactive lectures, discussion, presentation, role-play and workshop.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Official outline Weeks 1–3: Ice-breaking and course orientation; Habit 1 with parts of speech; reflection on Habit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Week 4 covers Habit 2 and conjunctions. Week 5 is a reflection session and includes Assessment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Week 8 midterm project is a semi-formal presentation or vlog, weighted 30%.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Week 9 covers Habit 4 and prepositions. Weeks 10–12 focus on Habit 5, reflection, preposition use and tense correction.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Week 15 consolidates reflection on Habits 6 and 7, including the synergy poster/comic task.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course outline specifies a final project in Week 16 weighted 20%, and a written exam in Week 17 weighted 40%.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weekly course outline regularly integrates English language content, video, reading, vocabulary and reflection.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Assessment weights are taken from the supplied course outline: Assessment 1 10%, Midterm Project 30%, Final Project 20%, Final Written Exam 40%. The outline gives Assessment 1 due in Weeks 4–6.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provided course outline lists 17 teaching weeks, 3 credit hours and 3 hours per week. Follow the university calendar and instructor for exact attendance and deadline rules.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794760" cy="6858000"/>
          </a:xfrm>
          <a:prstGeom prst="rect">
            <a:avLst/>
          </a:prstGeom>
          <a:solidFill>
            <a:srgbClr val="361F5B"/>
          </a:solidFill>
          <a:ln>
            <a:solidFill>
              <a:srgbClr val="361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365760" y="411480"/>
            <a:ext cx="1143000" cy="1143000"/>
          </a:xfrm>
          <a:prstGeom prst="ellipse">
            <a:avLst/>
          </a:prstGeom>
          <a:solidFill>
            <a:srgbClr val="5B3791"/>
          </a:solidFill>
          <a:ln>
            <a:solidFill>
              <a:srgbClr val="5B3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2560320" y="731520"/>
            <a:ext cx="548640" cy="548640"/>
          </a:xfrm>
          <a:prstGeom prst="ellipse">
            <a:avLst/>
          </a:prstGeom>
          <a:solidFill>
            <a:srgbClr val="B08FDA"/>
          </a:solidFill>
          <a:ln>
            <a:solidFill>
              <a:srgbClr val="B08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14400" y="5120640"/>
            <a:ext cx="914400" cy="914400"/>
          </a:xfrm>
          <a:prstGeom prst="ellipse">
            <a:avLst/>
          </a:prstGeom>
          <a:solidFill>
            <a:srgbClr val="B08FDA"/>
          </a:solidFill>
          <a:ln>
            <a:solidFill>
              <a:srgbClr val="B08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2834640" y="5486400"/>
            <a:ext cx="731520" cy="731520"/>
          </a:xfrm>
          <a:prstGeom prst="ellipse">
            <a:avLst/>
          </a:prstGeom>
          <a:solidFill>
            <a:srgbClr val="5B3791"/>
          </a:solidFill>
          <a:ln>
            <a:solidFill>
              <a:srgbClr val="5B3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920240"/>
            <a:ext cx="2743200" cy="10058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700"/>
              </a:spcAft>
              <a:defRPr sz="2000" b="1" i="0">
                <a:solidFill>
                  <a:srgbClr val="FFFFFF"/>
                </a:solidFill>
                <a:latin typeface="Aptos"/>
              </a:defRPr>
            </a:pPr>
            <a:r>
              <a:t>SUPERIOR UNIVERSITY</a:t>
            </a:r>
          </a:p>
          <a:p>
            <a:pPr algn="l">
              <a:spcAft>
                <a:spcPts val="700"/>
              </a:spcAft>
              <a:defRPr sz="2000" b="1" i="0">
                <a:solidFill>
                  <a:srgbClr val="FFFFFF"/>
                </a:solidFill>
                <a:latin typeface="Aptos"/>
              </a:defRPr>
            </a:pPr>
            <a:r>
              <a:t>OKARA CAMPUS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143000"/>
            <a:ext cx="7040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  <a:defRPr sz="1200" b="1" i="0">
                <a:solidFill>
                  <a:srgbClr val="5B3791"/>
                </a:solidFill>
                <a:latin typeface="Aptos"/>
              </a:defRPr>
            </a:pPr>
            <a:r>
              <a:t>LECTURE 01  |  FUNCTIONAL ENGLISH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1737360"/>
            <a:ext cx="7132320" cy="141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3200" b="1" i="0">
                <a:solidFill>
                  <a:srgbClr val="361F5B"/>
                </a:solidFill>
                <a:latin typeface="Aptos"/>
              </a:defRPr>
            </a:pPr>
            <a:r>
              <a:t>INTRODUCTION TO</a:t>
            </a:r>
          </a:p>
          <a:p>
            <a:pPr algn="l">
              <a:spcAft>
                <a:spcPts val="700"/>
              </a:spcAft>
              <a:defRPr sz="3200" b="1" i="0">
                <a:solidFill>
                  <a:srgbClr val="361F5B"/>
                </a:solidFill>
                <a:latin typeface="Aptos"/>
              </a:defRPr>
            </a:pPr>
            <a:r>
              <a:t>FUNCTIONAL ENGLISH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3337560"/>
            <a:ext cx="68580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1900" b="0" i="0">
                <a:solidFill>
                  <a:srgbClr val="6C6378"/>
                </a:solidFill>
                <a:latin typeface="Aptos"/>
              </a:defRPr>
            </a:pPr>
            <a:r>
              <a:t>Language • Communication • Personal Effectiveness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4343400"/>
            <a:ext cx="6035040" cy="685800"/>
          </a:xfrm>
          <a:prstGeom prst="roundRect">
            <a:avLst/>
          </a:prstGeom>
          <a:solidFill>
            <a:srgbClr val="E8DFF6"/>
          </a:solidFill>
          <a:ln>
            <a:solidFill>
              <a:srgbClr val="E8D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17720" y="4526280"/>
            <a:ext cx="5623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  <a:defRPr sz="1300" b="1" i="0">
                <a:solidFill>
                  <a:srgbClr val="361F5B"/>
                </a:solidFill>
                <a:latin typeface="Aptos"/>
              </a:defRPr>
            </a:pPr>
            <a:r>
              <a:t>Definitions  |  Objectives  |  Course Roadmap  |  Case Studies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5B3791"/>
          </a:solidFill>
          <a:ln>
            <a:solidFill>
              <a:srgbClr val="5B3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84048" y="6419088"/>
            <a:ext cx="88696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  <a:defRPr sz="800" b="1" i="0">
                <a:solidFill>
                  <a:srgbClr val="6C6378"/>
                </a:solidFill>
                <a:latin typeface="Aptos"/>
              </a:defRPr>
            </a:pPr>
            <a:r>
              <a:t>INTRODUCTION TO FUNCTIONAL ENGLISH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1400" y="6382512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  <a:defRPr sz="1000" b="1" i="0">
                <a:solidFill>
                  <a:srgbClr val="5B3791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3794760"/>
            <a:ext cx="65836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300" b="1">
                <a:solidFill>
                  <a:srgbClr val="5B3791"/>
                </a:solidFill>
                <a:latin typeface="Aptos"/>
              </a:defRPr>
            </a:pPr>
            <a:r>
              <a:t>3 Credit Hours  |  3 Hours per Week  |  Preferred Semester: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2500" b="1">
                <a:solidFill>
                  <a:srgbClr val="361F5B"/>
                </a:solidFill>
                <a:latin typeface="Aptos"/>
              </a:defRPr>
            </a:pPr>
            <a:r>
              <a:t>Official Course Profile: Functional English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005840"/>
            <a:ext cx="1051560" cy="54864"/>
          </a:xfrm>
          <a:prstGeom prst="rect">
            <a:avLst/>
          </a:prstGeom>
          <a:solidFill>
            <a:srgbClr val="5B3791"/>
          </a:solidFill>
          <a:ln>
            <a:solidFill>
              <a:srgbClr val="5B3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1097280"/>
            <a:ext cx="106984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6C6378"/>
                </a:solidFill>
                <a:latin typeface="Aptos"/>
              </a:defRPr>
            </a:pPr>
            <a:r>
              <a:t>COURSE INFORMATION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3520440" cy="1417320"/>
          </a:xfrm>
          <a:prstGeom prst="roundRect">
            <a:avLst/>
          </a:prstGeom>
          <a:solidFill>
            <a:srgbClr val="F8F5FC"/>
          </a:solidFill>
          <a:ln>
            <a:solidFill>
              <a:srgbClr val="E8D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508760"/>
            <a:ext cx="82296" cy="1417320"/>
          </a:xfrm>
          <a:prstGeom prst="rect">
            <a:avLst/>
          </a:prstGeom>
          <a:solidFill>
            <a:srgbClr val="5B3791"/>
          </a:solidFill>
          <a:ln>
            <a:solidFill>
              <a:srgbClr val="5B3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59" y="1618488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361F5B"/>
                </a:solidFill>
                <a:latin typeface="Aptos"/>
              </a:defRPr>
            </a:pPr>
            <a:r>
              <a:t>COURSE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984248"/>
            <a:ext cx="3191256" cy="8686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A2334"/>
                </a:solidFill>
                <a:latin typeface="Aptos"/>
              </a:defRPr>
            </a:pPr>
            <a:r>
              <a:t>Functional English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A2334"/>
                </a:solidFill>
                <a:latin typeface="Aptos"/>
              </a:defRPr>
            </a:pPr>
            <a:r>
              <a:t>Course type: Language Skills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508760"/>
            <a:ext cx="3520440" cy="1417320"/>
          </a:xfrm>
          <a:prstGeom prst="roundRect">
            <a:avLst/>
          </a:prstGeom>
          <a:solidFill>
            <a:srgbClr val="F8F5FC"/>
          </a:solidFill>
          <a:ln>
            <a:solidFill>
              <a:srgbClr val="E8D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508760"/>
            <a:ext cx="82296" cy="1417320"/>
          </a:xfrm>
          <a:prstGeom prst="rect">
            <a:avLst/>
          </a:prstGeom>
          <a:solidFill>
            <a:srgbClr val="B08FDA"/>
          </a:solidFill>
          <a:ln>
            <a:solidFill>
              <a:srgbClr val="B08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26280" y="1618488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361F5B"/>
                </a:solidFill>
                <a:latin typeface="Aptos"/>
              </a:defRPr>
            </a:pPr>
            <a:r>
              <a:t>ACADEMIC DETAILS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1984248"/>
            <a:ext cx="3191256" cy="8686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A2334"/>
                </a:solidFill>
                <a:latin typeface="Aptos"/>
              </a:defRPr>
            </a:pPr>
            <a:r>
              <a:t>3 credit hours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A2334"/>
                </a:solidFill>
                <a:latin typeface="Aptos"/>
              </a:defRPr>
            </a:pPr>
            <a:r>
              <a:t>3 hours per week | Preferred semester: 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508760"/>
            <a:ext cx="3520440" cy="1417320"/>
          </a:xfrm>
          <a:prstGeom prst="roundRect">
            <a:avLst/>
          </a:prstGeom>
          <a:solidFill>
            <a:srgbClr val="F8F5FC"/>
          </a:solidFill>
          <a:ln>
            <a:solidFill>
              <a:srgbClr val="E8D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508760"/>
            <a:ext cx="82296" cy="1417320"/>
          </a:xfrm>
          <a:prstGeom prst="rect">
            <a:avLst/>
          </a:prstGeom>
          <a:solidFill>
            <a:srgbClr val="468971"/>
          </a:solidFill>
          <a:ln>
            <a:solidFill>
              <a:srgbClr val="4689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0" y="1618488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361F5B"/>
                </a:solidFill>
                <a:latin typeface="Aptos"/>
              </a:defRPr>
            </a:pPr>
            <a:r>
              <a:t>COURSE CONTEXT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984248"/>
            <a:ext cx="3191256" cy="8686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A2334"/>
                </a:solidFill>
                <a:latin typeface="Aptos"/>
              </a:defRPr>
            </a:pPr>
            <a:r>
              <a:t>Programs: All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2A2334"/>
                </a:solidFill>
                <a:latin typeface="Aptos"/>
              </a:defRPr>
            </a:pPr>
            <a:r>
              <a:t>Prerequisites: None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2A2334"/>
                </a:solidFill>
                <a:latin typeface="Aptos"/>
              </a:defRPr>
            </a:pPr>
            <a:r>
              <a:t>Follow-up course: Expository Writing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246120"/>
            <a:ext cx="5257800" cy="1600200"/>
          </a:xfrm>
          <a:prstGeom prst="roundRect">
            <a:avLst/>
          </a:prstGeom>
          <a:solidFill>
            <a:srgbClr val="F8F5FC"/>
          </a:solidFill>
          <a:ln>
            <a:solidFill>
              <a:srgbClr val="E8D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0080" y="3246120"/>
            <a:ext cx="82296" cy="1600200"/>
          </a:xfrm>
          <a:prstGeom prst="rect">
            <a:avLst/>
          </a:prstGeom>
          <a:solidFill>
            <a:srgbClr val="5B3791"/>
          </a:solidFill>
          <a:ln>
            <a:solidFill>
              <a:srgbClr val="5B3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59" y="3355848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361F5B"/>
                </a:solidFill>
                <a:latin typeface="Aptos"/>
              </a:defRPr>
            </a:pPr>
            <a:r>
              <a:t>COURSE DESCRIPTION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59" y="3721608"/>
            <a:ext cx="4928616" cy="10515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A2334"/>
                </a:solidFill>
                <a:latin typeface="Aptos"/>
              </a:defRPr>
            </a:pPr>
            <a:r>
              <a:t>Strengthens grammar, vocabulary and practical communication through real-life tasks, while linking language learning with values-based personal growth.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3246120"/>
            <a:ext cx="5257800" cy="1600200"/>
          </a:xfrm>
          <a:prstGeom prst="roundRect">
            <a:avLst/>
          </a:prstGeom>
          <a:solidFill>
            <a:srgbClr val="F8F5FC"/>
          </a:solidFill>
          <a:ln>
            <a:solidFill>
              <a:srgbClr val="E8D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63640" y="3246120"/>
            <a:ext cx="82296" cy="1600200"/>
          </a:xfrm>
          <a:prstGeom prst="rect">
            <a:avLst/>
          </a:prstGeom>
          <a:solidFill>
            <a:srgbClr val="B08FDA"/>
          </a:solidFill>
          <a:ln>
            <a:solidFill>
              <a:srgbClr val="B08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46520" y="3355848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361F5B"/>
                </a:solidFill>
                <a:latin typeface="Aptos"/>
              </a:defRPr>
            </a:pPr>
            <a:r>
              <a:t>CORE APPROACH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721608"/>
            <a:ext cx="4928616" cy="10515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A2334"/>
                </a:solidFill>
                <a:latin typeface="Aptos"/>
              </a:defRPr>
            </a:pPr>
            <a:r>
              <a:t>Clear and confident communication; character-centred learning; practical use of language in academic, social and professional contexts.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5B3791"/>
          </a:solidFill>
          <a:ln>
            <a:solidFill>
              <a:srgbClr val="5B3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84048" y="6419088"/>
            <a:ext cx="91440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6C6378"/>
                </a:solidFill>
                <a:latin typeface="Aptos"/>
              </a:defRPr>
            </a:pPr>
            <a:r>
              <a:t>INTRODUCTION TO FUNCTIONAL ENGLISH | SUPERIOR UNIVERSITY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01400" y="6382512"/>
            <a:ext cx="5486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5B3791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2500" b="1">
                <a:solidFill>
                  <a:srgbClr val="361F5B"/>
                </a:solidFill>
                <a:latin typeface="Aptos"/>
              </a:defRPr>
            </a:pPr>
            <a:r>
              <a:t>Course Learning Outcomes and Teaching Approach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005840"/>
            <a:ext cx="1051560" cy="54864"/>
          </a:xfrm>
          <a:prstGeom prst="rect">
            <a:avLst/>
          </a:prstGeom>
          <a:solidFill>
            <a:srgbClr val="5B3791"/>
          </a:solidFill>
          <a:ln>
            <a:solidFill>
              <a:srgbClr val="5B3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1097280"/>
            <a:ext cx="106984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6C6378"/>
                </a:solidFill>
                <a:latin typeface="Aptos"/>
              </a:defRPr>
            </a:pPr>
            <a:r>
              <a:t>CLOS + DELIVERY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5257800" cy="1828800"/>
          </a:xfrm>
          <a:prstGeom prst="roundRect">
            <a:avLst/>
          </a:prstGeom>
          <a:solidFill>
            <a:srgbClr val="F8F5FC"/>
          </a:solidFill>
          <a:ln>
            <a:solidFill>
              <a:srgbClr val="E8D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463040"/>
            <a:ext cx="82296" cy="1828800"/>
          </a:xfrm>
          <a:prstGeom prst="rect">
            <a:avLst/>
          </a:prstGeom>
          <a:solidFill>
            <a:srgbClr val="5B3791"/>
          </a:solidFill>
          <a:ln>
            <a:solidFill>
              <a:srgbClr val="5B3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59" y="1572768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361F5B"/>
                </a:solidFill>
                <a:latin typeface="Aptos"/>
              </a:defRPr>
            </a:pPr>
            <a:r>
              <a:t>CLO 1 | Apply core grammar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938528"/>
            <a:ext cx="4928616" cy="12801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A2334"/>
                </a:solidFill>
                <a:latin typeface="Aptos"/>
              </a:defRPr>
            </a:pPr>
            <a:r>
              <a:t>Students apply core grammar skills in real-life contexts through practice, the Seven Habits, and the broader Character Mastery theme.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63040"/>
            <a:ext cx="5257800" cy="1828800"/>
          </a:xfrm>
          <a:prstGeom prst="roundRect">
            <a:avLst/>
          </a:prstGeom>
          <a:solidFill>
            <a:srgbClr val="F8F5FC"/>
          </a:solidFill>
          <a:ln>
            <a:solidFill>
              <a:srgbClr val="E8D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63640" y="1463040"/>
            <a:ext cx="82296" cy="1828800"/>
          </a:xfrm>
          <a:prstGeom prst="rect">
            <a:avLst/>
          </a:prstGeom>
          <a:solidFill>
            <a:srgbClr val="B08FDA"/>
          </a:solidFill>
          <a:ln>
            <a:solidFill>
              <a:srgbClr val="B08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1572768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361F5B"/>
                </a:solidFill>
                <a:latin typeface="Aptos"/>
              </a:defRPr>
            </a:pPr>
            <a:r>
              <a:t>CLO 2 | Analyse language choices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938528"/>
            <a:ext cx="4928616" cy="12801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A2334"/>
                </a:solidFill>
                <a:latin typeface="Aptos"/>
              </a:defRPr>
            </a:pPr>
            <a:r>
              <a:t>Students analyse and differentiate language, tone and structure in projects, applying habits and values of character-centred communication.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79476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361F5B"/>
                </a:solidFill>
                <a:latin typeface="Aptos"/>
              </a:defRPr>
            </a:pPr>
            <a:r>
              <a:t>TEACHING AND LEARNING METHODS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297680"/>
            <a:ext cx="3383280" cy="530352"/>
          </a:xfrm>
          <a:prstGeom prst="roundRect">
            <a:avLst/>
          </a:prstGeom>
          <a:solidFill>
            <a:srgbClr val="E8DFF6"/>
          </a:solidFill>
          <a:ln>
            <a:solidFill>
              <a:srgbClr val="B08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4672" y="4416552"/>
            <a:ext cx="324612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361F5B"/>
                </a:solidFill>
                <a:latin typeface="Aptos"/>
              </a:defRPr>
            </a:pPr>
            <a:r>
              <a:t>Interactive lecture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26280" y="4297680"/>
            <a:ext cx="3383280" cy="530352"/>
          </a:xfrm>
          <a:prstGeom prst="roundRect">
            <a:avLst/>
          </a:prstGeom>
          <a:solidFill>
            <a:srgbClr val="F8F5FC"/>
          </a:solidFill>
          <a:ln>
            <a:solidFill>
              <a:srgbClr val="B08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99432" y="4416552"/>
            <a:ext cx="324612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361F5B"/>
                </a:solidFill>
                <a:latin typeface="Aptos"/>
              </a:defRPr>
            </a:pPr>
            <a:r>
              <a:t>Discussion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21040" y="4297680"/>
            <a:ext cx="3383280" cy="530352"/>
          </a:xfrm>
          <a:prstGeom prst="roundRect">
            <a:avLst/>
          </a:prstGeom>
          <a:solidFill>
            <a:srgbClr val="E8DFF6"/>
          </a:solidFill>
          <a:ln>
            <a:solidFill>
              <a:srgbClr val="B08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94192" y="4416552"/>
            <a:ext cx="324612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361F5B"/>
                </a:solidFill>
                <a:latin typeface="Aptos"/>
              </a:defRPr>
            </a:pPr>
            <a:r>
              <a:t>Presentation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074920"/>
            <a:ext cx="3383280" cy="530352"/>
          </a:xfrm>
          <a:prstGeom prst="roundRect">
            <a:avLst/>
          </a:prstGeom>
          <a:solidFill>
            <a:srgbClr val="F8F5FC"/>
          </a:solidFill>
          <a:ln>
            <a:solidFill>
              <a:srgbClr val="B08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04672" y="5193792"/>
            <a:ext cx="324612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361F5B"/>
                </a:solidFill>
                <a:latin typeface="Aptos"/>
              </a:defRPr>
            </a:pPr>
            <a:r>
              <a:t>Role-play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26280" y="5074920"/>
            <a:ext cx="3383280" cy="530352"/>
          </a:xfrm>
          <a:prstGeom prst="roundRect">
            <a:avLst/>
          </a:prstGeom>
          <a:solidFill>
            <a:srgbClr val="E8DFF6"/>
          </a:solidFill>
          <a:ln>
            <a:solidFill>
              <a:srgbClr val="B08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99432" y="5193792"/>
            <a:ext cx="324612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361F5B"/>
                </a:solidFill>
                <a:latin typeface="Aptos"/>
              </a:defRPr>
            </a:pPr>
            <a:r>
              <a:t>Workshop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21040" y="5074920"/>
            <a:ext cx="3383280" cy="530352"/>
          </a:xfrm>
          <a:prstGeom prst="roundRect">
            <a:avLst/>
          </a:prstGeom>
          <a:solidFill>
            <a:srgbClr val="F8F5FC"/>
          </a:solidFill>
          <a:ln>
            <a:solidFill>
              <a:srgbClr val="B08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94192" y="5193792"/>
            <a:ext cx="324612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361F5B"/>
                </a:solidFill>
                <a:latin typeface="Aptos"/>
              </a:defRPr>
            </a:pPr>
            <a:r>
              <a:t>Reading + reflection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5B3791"/>
          </a:solidFill>
          <a:ln>
            <a:solidFill>
              <a:srgbClr val="5B3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84048" y="6419088"/>
            <a:ext cx="91440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6C6378"/>
                </a:solidFill>
                <a:latin typeface="Aptos"/>
              </a:defRPr>
            </a:pPr>
            <a:r>
              <a:t>INTRODUCTION TO FUNCTIONAL ENGLISH | SUPERIOR UNIVERSITY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01400" y="6382512"/>
            <a:ext cx="5486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5B3791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2500" b="1">
                <a:solidFill>
                  <a:srgbClr val="361F5B"/>
                </a:solidFill>
                <a:latin typeface="Aptos"/>
              </a:defRPr>
            </a:pPr>
            <a:r>
              <a:t>Week-by-Week Course Outline: Weeks 1–3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005840"/>
            <a:ext cx="1051560" cy="54864"/>
          </a:xfrm>
          <a:prstGeom prst="rect">
            <a:avLst/>
          </a:prstGeom>
          <a:solidFill>
            <a:srgbClr val="5B3791"/>
          </a:solidFill>
          <a:ln>
            <a:solidFill>
              <a:srgbClr val="5B3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1097280"/>
            <a:ext cx="106984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6C6378"/>
                </a:solidFill>
                <a:latin typeface="Aptos"/>
              </a:defRPr>
            </a:pPr>
            <a:r>
              <a:t>COURSE OUTLINE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520440" cy="3611880"/>
          </a:xfrm>
          <a:prstGeom prst="roundRect">
            <a:avLst/>
          </a:prstGeom>
          <a:solidFill>
            <a:srgbClr val="F8F5FC"/>
          </a:solidFill>
          <a:ln>
            <a:solidFill>
              <a:srgbClr val="E8D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82296" cy="3611880"/>
          </a:xfrm>
          <a:prstGeom prst="rect">
            <a:avLst/>
          </a:prstGeom>
          <a:solidFill>
            <a:srgbClr val="5B3791"/>
          </a:solidFill>
          <a:ln>
            <a:solidFill>
              <a:srgbClr val="5B3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59" y="1527048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361F5B"/>
                </a:solidFill>
                <a:latin typeface="Aptos"/>
              </a:defRPr>
            </a:pPr>
            <a:r>
              <a:t>WEEK 1 | ICE-BREAKING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892808"/>
            <a:ext cx="3191256" cy="30632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A2334"/>
                </a:solidFill>
                <a:latin typeface="Aptos"/>
              </a:defRPr>
            </a:pPr>
            <a:r>
              <a:t>• Introductions and warm-up activities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2A2334"/>
                </a:solidFill>
                <a:latin typeface="Aptos"/>
              </a:defRPr>
            </a:pPr>
            <a:r>
              <a:t>• Course introduction, class rules and assessment plan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2A2334"/>
                </a:solidFill>
                <a:latin typeface="Aptos"/>
              </a:defRPr>
            </a:pPr>
            <a:r>
              <a:t>• Video: Piper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2A2334"/>
                </a:solidFill>
                <a:latin typeface="Aptos"/>
              </a:defRPr>
            </a:pPr>
            <a:r>
              <a:t>• Reading: comfort-zone and productivity text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2A2334"/>
                </a:solidFill>
                <a:latin typeface="Aptos"/>
              </a:defRPr>
            </a:pPr>
            <a:r>
              <a:t>• Activity: classroom vision and syllabus breakdown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2A2334"/>
                </a:solidFill>
                <a:latin typeface="Aptos"/>
              </a:defRPr>
            </a:pPr>
            <a:r>
              <a:t>• Seven Habits overview; active listening discussion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417320"/>
            <a:ext cx="3520440" cy="3611880"/>
          </a:xfrm>
          <a:prstGeom prst="roundRect">
            <a:avLst/>
          </a:prstGeom>
          <a:solidFill>
            <a:srgbClr val="F8F5FC"/>
          </a:solidFill>
          <a:ln>
            <a:solidFill>
              <a:srgbClr val="E8D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417320"/>
            <a:ext cx="82296" cy="3611880"/>
          </a:xfrm>
          <a:prstGeom prst="rect">
            <a:avLst/>
          </a:prstGeom>
          <a:solidFill>
            <a:srgbClr val="B08FDA"/>
          </a:solidFill>
          <a:ln>
            <a:solidFill>
              <a:srgbClr val="B08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26280" y="1527048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361F5B"/>
                </a:solidFill>
                <a:latin typeface="Aptos"/>
              </a:defRPr>
            </a:pPr>
            <a:r>
              <a:t>WEEK 2 | HABIT 1 + GRAMMAR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1892808"/>
            <a:ext cx="3191256" cy="30632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A2334"/>
                </a:solidFill>
                <a:latin typeface="Aptos"/>
              </a:defRPr>
            </a:pPr>
            <a:r>
              <a:t>• Habit 1: Be Proactive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2A2334"/>
                </a:solidFill>
                <a:latin typeface="Aptos"/>
              </a:defRPr>
            </a:pPr>
            <a:r>
              <a:t>• Parts of speech: noun, verb, adjective and pronoun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2A2334"/>
                </a:solidFill>
                <a:latin typeface="Aptos"/>
              </a:defRPr>
            </a:pPr>
            <a:r>
              <a:t>• Video-based listening task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2A2334"/>
                </a:solidFill>
                <a:latin typeface="Aptos"/>
              </a:defRPr>
            </a:pPr>
            <a:r>
              <a:t>• Read and discuss key Habit 1 concepts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2A2334"/>
                </a:solidFill>
                <a:latin typeface="Aptos"/>
              </a:defRPr>
            </a:pPr>
            <a:r>
              <a:t>• Vocabulary sheet and sentence practice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417320"/>
            <a:ext cx="3520440" cy="3611880"/>
          </a:xfrm>
          <a:prstGeom prst="roundRect">
            <a:avLst/>
          </a:prstGeom>
          <a:solidFill>
            <a:srgbClr val="F8F5FC"/>
          </a:solidFill>
          <a:ln>
            <a:solidFill>
              <a:srgbClr val="E8D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417320"/>
            <a:ext cx="82296" cy="3611880"/>
          </a:xfrm>
          <a:prstGeom prst="rect">
            <a:avLst/>
          </a:prstGeom>
          <a:solidFill>
            <a:srgbClr val="468971"/>
          </a:solidFill>
          <a:ln>
            <a:solidFill>
              <a:srgbClr val="4689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0" y="1527048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361F5B"/>
                </a:solidFill>
                <a:latin typeface="Aptos"/>
              </a:defRPr>
            </a:pPr>
            <a:r>
              <a:t>WEEK 3 | REFLECTION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892808"/>
            <a:ext cx="3191256" cy="30632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A2334"/>
                </a:solidFill>
                <a:latin typeface="Aptos"/>
              </a:defRPr>
            </a:pPr>
            <a:r>
              <a:t>• Reading and reflection on Habit 1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2A2334"/>
                </a:solidFill>
                <a:latin typeface="Aptos"/>
              </a:defRPr>
            </a:pPr>
            <a:r>
              <a:t>• Written and speaking reflection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2A2334"/>
                </a:solidFill>
                <a:latin typeface="Aptos"/>
              </a:defRPr>
            </a:pPr>
            <a:r>
              <a:t>• Present findings from previous writing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2A2334"/>
                </a:solidFill>
                <a:latin typeface="Aptos"/>
              </a:defRPr>
            </a:pPr>
            <a:r>
              <a:t>• Homework: five-step personal proactivity plan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2A2334"/>
                </a:solidFill>
                <a:latin typeface="Aptos"/>
              </a:defRPr>
            </a:pPr>
            <a:r>
              <a:t>• SMART goals and key ideas from a relevant video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349240"/>
            <a:ext cx="103327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500"/>
              </a:spcAft>
              <a:defRPr sz="1200" b="0">
                <a:solidFill>
                  <a:srgbClr val="6C6378"/>
                </a:solidFill>
                <a:latin typeface="Aptos"/>
              </a:defRPr>
            </a:pPr>
            <a:r>
              <a:t>Preparation: purchase/read the prescribed Seven Habits text and bring notes for reflection.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5B3791"/>
          </a:solidFill>
          <a:ln>
            <a:solidFill>
              <a:srgbClr val="5B3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84048" y="6419088"/>
            <a:ext cx="91440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6C6378"/>
                </a:solidFill>
                <a:latin typeface="Aptos"/>
              </a:defRPr>
            </a:pPr>
            <a:r>
              <a:t>INTRODUCTION TO FUNCTIONAL ENGLISH | SUPERIOR UNIVERSITY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382512"/>
            <a:ext cx="5486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5B3791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2500" b="1">
                <a:solidFill>
                  <a:srgbClr val="361F5B"/>
                </a:solidFill>
                <a:latin typeface="Aptos"/>
              </a:defRPr>
            </a:pPr>
            <a:r>
              <a:t>Week-by-Week Course Outline: Weeks 4–5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005840"/>
            <a:ext cx="1051560" cy="54864"/>
          </a:xfrm>
          <a:prstGeom prst="rect">
            <a:avLst/>
          </a:prstGeom>
          <a:solidFill>
            <a:srgbClr val="5B3791"/>
          </a:solidFill>
          <a:ln>
            <a:solidFill>
              <a:srgbClr val="5B3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1097280"/>
            <a:ext cx="106984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6C6378"/>
                </a:solidFill>
                <a:latin typeface="Aptos"/>
              </a:defRPr>
            </a:pPr>
            <a:r>
              <a:t>COURSE OUTLINE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5257800" cy="3474720"/>
          </a:xfrm>
          <a:prstGeom prst="roundRect">
            <a:avLst/>
          </a:prstGeom>
          <a:solidFill>
            <a:srgbClr val="F8F5FC"/>
          </a:solidFill>
          <a:ln>
            <a:solidFill>
              <a:srgbClr val="E8D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82296" cy="3474720"/>
          </a:xfrm>
          <a:prstGeom prst="rect">
            <a:avLst/>
          </a:prstGeom>
          <a:solidFill>
            <a:srgbClr val="5B3791"/>
          </a:solidFill>
          <a:ln>
            <a:solidFill>
              <a:srgbClr val="5B3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59" y="1527048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361F5B"/>
                </a:solidFill>
                <a:latin typeface="Aptos"/>
              </a:defRPr>
            </a:pPr>
            <a:r>
              <a:t>WEEK 4 | HABIT 2 + CONJUNCTIONS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892808"/>
            <a:ext cx="4928616" cy="2926079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A2334"/>
                </a:solidFill>
                <a:latin typeface="Aptos"/>
              </a:defRPr>
            </a:pPr>
            <a:r>
              <a:t>• Habit 2: Begin with the End in Mind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A2334"/>
                </a:solidFill>
                <a:latin typeface="Aptos"/>
              </a:defRPr>
            </a:pPr>
            <a:r>
              <a:t>• English topic: conjunctions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A2334"/>
                </a:solidFill>
                <a:latin typeface="Aptos"/>
              </a:defRPr>
            </a:pPr>
            <a:r>
              <a:t>• Conjunctive Detective game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A2334"/>
                </a:solidFill>
                <a:latin typeface="Aptos"/>
              </a:defRPr>
            </a:pPr>
            <a:r>
              <a:t>• Video-based listening and question response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A2334"/>
                </a:solidFill>
                <a:latin typeface="Aptos"/>
              </a:defRPr>
            </a:pPr>
            <a:r>
              <a:t>• Reading discussion and vocabulary-in-sentences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A2334"/>
                </a:solidFill>
                <a:latin typeface="Aptos"/>
              </a:defRPr>
            </a:pPr>
            <a:r>
              <a:t>• Homework: key Habit 2 terms and personal mission statement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257800" cy="3474720"/>
          </a:xfrm>
          <a:prstGeom prst="roundRect">
            <a:avLst/>
          </a:prstGeom>
          <a:solidFill>
            <a:srgbClr val="F8F5FC"/>
          </a:solidFill>
          <a:ln>
            <a:solidFill>
              <a:srgbClr val="E8D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63640" y="1417320"/>
            <a:ext cx="82296" cy="3474720"/>
          </a:xfrm>
          <a:prstGeom prst="rect">
            <a:avLst/>
          </a:prstGeom>
          <a:solidFill>
            <a:srgbClr val="B08FDA"/>
          </a:solidFill>
          <a:ln>
            <a:solidFill>
              <a:srgbClr val="B08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1527048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361F5B"/>
                </a:solidFill>
                <a:latin typeface="Aptos"/>
              </a:defRPr>
            </a:pPr>
            <a:r>
              <a:t>WEEK 5 | REFLECTION 2 + ASSESSMENT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892808"/>
            <a:ext cx="4928616" cy="2926079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A2334"/>
                </a:solidFill>
                <a:latin typeface="Aptos"/>
              </a:defRPr>
            </a:pPr>
            <a:r>
              <a:t>• Reading and reflection on Habit 2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A2334"/>
                </a:solidFill>
                <a:latin typeface="Aptos"/>
              </a:defRPr>
            </a:pPr>
            <a:r>
              <a:t>• Written and speaking reflection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A2334"/>
                </a:solidFill>
                <a:latin typeface="Aptos"/>
              </a:defRPr>
            </a:pPr>
            <a:r>
              <a:t>• Assessment 1: assignment, quiz or interactive activity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A2334"/>
                </a:solidFill>
                <a:latin typeface="Aptos"/>
              </a:defRPr>
            </a:pPr>
            <a:r>
              <a:t>• May cover topics taught through Week 5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A2334"/>
                </a:solidFill>
                <a:latin typeface="Aptos"/>
              </a:defRPr>
            </a:pPr>
            <a:r>
              <a:t>• Goal-mapping task: work backwards from becoming a fluent English speaker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257800"/>
            <a:ext cx="103327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361F5B"/>
                </a:solidFill>
                <a:latin typeface="Aptos"/>
              </a:defRPr>
            </a:pPr>
            <a:r>
              <a:t>Key learning: connect language choices with goals, planning and personal mission.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5B3791"/>
          </a:solidFill>
          <a:ln>
            <a:solidFill>
              <a:srgbClr val="5B3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4048" y="6419088"/>
            <a:ext cx="91440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6C6378"/>
                </a:solidFill>
                <a:latin typeface="Aptos"/>
              </a:defRPr>
            </a:pPr>
            <a:r>
              <a:t>INTRODUCTION TO FUNCTIONAL ENGLISH | SUPERIOR UNIVERSITY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382512"/>
            <a:ext cx="5486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5B3791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2500" b="1">
                <a:solidFill>
                  <a:srgbClr val="361F5B"/>
                </a:solidFill>
                <a:latin typeface="Aptos"/>
              </a:defRPr>
            </a:pPr>
            <a:r>
              <a:t>Week-by-Week Course Outline: Weeks 6–8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005840"/>
            <a:ext cx="1051560" cy="54864"/>
          </a:xfrm>
          <a:prstGeom prst="rect">
            <a:avLst/>
          </a:prstGeom>
          <a:solidFill>
            <a:srgbClr val="5B3791"/>
          </a:solidFill>
          <a:ln>
            <a:solidFill>
              <a:srgbClr val="5B3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1097280"/>
            <a:ext cx="106984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6C6378"/>
                </a:solidFill>
                <a:latin typeface="Aptos"/>
              </a:defRPr>
            </a:pPr>
            <a:r>
              <a:t>COURSE OUTLINE + MIDTERM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5257800" cy="3429000"/>
          </a:xfrm>
          <a:prstGeom prst="roundRect">
            <a:avLst/>
          </a:prstGeom>
          <a:solidFill>
            <a:srgbClr val="F8F5FC"/>
          </a:solidFill>
          <a:ln>
            <a:solidFill>
              <a:srgbClr val="E8D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82296" cy="3429000"/>
          </a:xfrm>
          <a:prstGeom prst="rect">
            <a:avLst/>
          </a:prstGeom>
          <a:solidFill>
            <a:srgbClr val="5B3791"/>
          </a:solidFill>
          <a:ln>
            <a:solidFill>
              <a:srgbClr val="5B3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59" y="1527048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361F5B"/>
                </a:solidFill>
                <a:latin typeface="Aptos"/>
              </a:defRPr>
            </a:pPr>
            <a:r>
              <a:t>WEEK 6 | PRESENTATION + HABIT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892808"/>
            <a:ext cx="4928616" cy="28803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A2334"/>
                </a:solidFill>
                <a:latin typeface="Aptos"/>
              </a:defRPr>
            </a:pPr>
            <a:r>
              <a:t>• Semi-formal presentation skills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A2334"/>
                </a:solidFill>
                <a:latin typeface="Aptos"/>
              </a:defRPr>
            </a:pPr>
            <a:r>
              <a:t>• Habit 3: Put First Things First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A2334"/>
                </a:solidFill>
                <a:latin typeface="Aptos"/>
              </a:defRPr>
            </a:pPr>
            <a:r>
              <a:t>• Public-speaking activity: Semi-formal Speaker Challenge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A2334"/>
                </a:solidFill>
                <a:latin typeface="Aptos"/>
              </a:defRPr>
            </a:pPr>
            <a:r>
              <a:t>• Video, reading and vocabulary activities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A2334"/>
                </a:solidFill>
                <a:latin typeface="Aptos"/>
              </a:defRPr>
            </a:pPr>
            <a:r>
              <a:t>• Time-management concepts: urgent vs important, Quadrant II, weekly planning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257800" cy="3429000"/>
          </a:xfrm>
          <a:prstGeom prst="roundRect">
            <a:avLst/>
          </a:prstGeom>
          <a:solidFill>
            <a:srgbClr val="F8F5FC"/>
          </a:solidFill>
          <a:ln>
            <a:solidFill>
              <a:srgbClr val="E8D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63640" y="1417320"/>
            <a:ext cx="82296" cy="3429000"/>
          </a:xfrm>
          <a:prstGeom prst="rect">
            <a:avLst/>
          </a:prstGeom>
          <a:solidFill>
            <a:srgbClr val="B08FDA"/>
          </a:solidFill>
          <a:ln>
            <a:solidFill>
              <a:srgbClr val="B08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1527048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361F5B"/>
                </a:solidFill>
                <a:latin typeface="Aptos"/>
              </a:defRPr>
            </a:pPr>
            <a:r>
              <a:t>WEEK 7 | REFLECTION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892808"/>
            <a:ext cx="4928616" cy="28803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A2334"/>
                </a:solidFill>
                <a:latin typeface="Aptos"/>
              </a:defRPr>
            </a:pPr>
            <a:r>
              <a:t>• Reflection on Habit 3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A2334"/>
                </a:solidFill>
                <a:latin typeface="Aptos"/>
              </a:defRPr>
            </a:pPr>
            <a:r>
              <a:t>• Reading, writing and speaking tasks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A2334"/>
                </a:solidFill>
                <a:latin typeface="Aptos"/>
              </a:defRPr>
            </a:pPr>
            <a:r>
              <a:t>• Present previous writing findings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A2334"/>
                </a:solidFill>
                <a:latin typeface="Aptos"/>
              </a:defRPr>
            </a:pPr>
            <a:r>
              <a:t>• Homework: five-step plan to implement Quadrant II principles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20240" y="5166360"/>
            <a:ext cx="8321040" cy="658368"/>
          </a:xfrm>
          <a:prstGeom prst="roundRect">
            <a:avLst/>
          </a:prstGeom>
          <a:solidFill>
            <a:srgbClr val="E8DFF6"/>
          </a:solidFill>
          <a:ln>
            <a:solidFill>
              <a:srgbClr val="E8D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057400" y="5330952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361F5B"/>
                </a:solidFill>
                <a:latin typeface="Aptos"/>
              </a:defRPr>
            </a:pPr>
            <a:r>
              <a:t>WEEK 8  |  MIDTERM PROJECT: SEMI-FORMAL PRESENTATION / VLOG  |  30%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5B3791"/>
          </a:solidFill>
          <a:ln>
            <a:solidFill>
              <a:srgbClr val="5B3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84048" y="6419088"/>
            <a:ext cx="91440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6C6378"/>
                </a:solidFill>
                <a:latin typeface="Aptos"/>
              </a:defRPr>
            </a:pPr>
            <a:r>
              <a:t>INTRODUCTION TO FUNCTIONAL ENGLISH | SUPERIOR UNIVERSITY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382512"/>
            <a:ext cx="5486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5B3791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2500" b="1">
                <a:solidFill>
                  <a:srgbClr val="361F5B"/>
                </a:solidFill>
                <a:latin typeface="Aptos"/>
              </a:defRPr>
            </a:pPr>
            <a:r>
              <a:t>Week-by-Week Course Outline: Weeks 9–12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005840"/>
            <a:ext cx="1051560" cy="54864"/>
          </a:xfrm>
          <a:prstGeom prst="rect">
            <a:avLst/>
          </a:prstGeom>
          <a:solidFill>
            <a:srgbClr val="5B3791"/>
          </a:solidFill>
          <a:ln>
            <a:solidFill>
              <a:srgbClr val="5B3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1097280"/>
            <a:ext cx="106984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6C6378"/>
                </a:solidFill>
                <a:latin typeface="Aptos"/>
              </a:defRPr>
            </a:pPr>
            <a:r>
              <a:t>COURSE OUTLINE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3520440" cy="3611880"/>
          </a:xfrm>
          <a:prstGeom prst="roundRect">
            <a:avLst/>
          </a:prstGeom>
          <a:solidFill>
            <a:srgbClr val="F8F5FC"/>
          </a:solidFill>
          <a:ln>
            <a:solidFill>
              <a:srgbClr val="E8D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82296" cy="3611880"/>
          </a:xfrm>
          <a:prstGeom prst="rect">
            <a:avLst/>
          </a:prstGeom>
          <a:solidFill>
            <a:srgbClr val="5B3791"/>
          </a:solidFill>
          <a:ln>
            <a:solidFill>
              <a:srgbClr val="5B3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59" y="1481328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361F5B"/>
                </a:solidFill>
                <a:latin typeface="Aptos"/>
              </a:defRPr>
            </a:pPr>
            <a:r>
              <a:t>WEEK 9 | HABIT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847088"/>
            <a:ext cx="3191256" cy="30632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A2334"/>
                </a:solidFill>
                <a:latin typeface="Aptos"/>
              </a:defRPr>
            </a:pPr>
            <a:r>
              <a:t>• Habit 4: Think Win-Win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2A2334"/>
                </a:solidFill>
                <a:latin typeface="Aptos"/>
              </a:defRPr>
            </a:pPr>
            <a:r>
              <a:t>• English topic: prepositions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2A2334"/>
                </a:solidFill>
                <a:latin typeface="Aptos"/>
              </a:defRPr>
            </a:pPr>
            <a:r>
              <a:t>• Move with Preposition / Pictionary / fill-in-the-blanks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2A2334"/>
                </a:solidFill>
                <a:latin typeface="Aptos"/>
              </a:defRPr>
            </a:pPr>
            <a:r>
              <a:t>• Reading and vocabulary practice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2A2334"/>
                </a:solidFill>
                <a:latin typeface="Aptos"/>
              </a:defRPr>
            </a:pPr>
            <a:r>
              <a:t>• Human-interaction paradigms and Win-Win dimensions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371600"/>
            <a:ext cx="3520440" cy="3611880"/>
          </a:xfrm>
          <a:prstGeom prst="roundRect">
            <a:avLst/>
          </a:prstGeom>
          <a:solidFill>
            <a:srgbClr val="F8F5FC"/>
          </a:solidFill>
          <a:ln>
            <a:solidFill>
              <a:srgbClr val="E8D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371600"/>
            <a:ext cx="82296" cy="3611880"/>
          </a:xfrm>
          <a:prstGeom prst="rect">
            <a:avLst/>
          </a:prstGeom>
          <a:solidFill>
            <a:srgbClr val="B08FDA"/>
          </a:solidFill>
          <a:ln>
            <a:solidFill>
              <a:srgbClr val="B08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26280" y="1481328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361F5B"/>
                </a:solidFill>
                <a:latin typeface="Aptos"/>
              </a:defRPr>
            </a:pPr>
            <a:r>
              <a:t>WEEK 10 | REFLECTION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1847088"/>
            <a:ext cx="3191256" cy="30632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A2334"/>
                </a:solidFill>
                <a:latin typeface="Aptos"/>
              </a:defRPr>
            </a:pPr>
            <a:r>
              <a:t>• Habit 5: Seek First to Understand, Then to Be Understood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2A2334"/>
                </a:solidFill>
                <a:latin typeface="Aptos"/>
              </a:defRPr>
            </a:pPr>
            <a:r>
              <a:t>• Book reading and reflection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2A2334"/>
                </a:solidFill>
                <a:latin typeface="Aptos"/>
              </a:defRPr>
            </a:pPr>
            <a:r>
              <a:t>• Written and speaking reflection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2A2334"/>
                </a:solidFill>
                <a:latin typeface="Aptos"/>
              </a:defRPr>
            </a:pPr>
            <a:r>
              <a:t>• Discuss the main concepts and present findings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371600"/>
            <a:ext cx="3520440" cy="3611880"/>
          </a:xfrm>
          <a:prstGeom prst="roundRect">
            <a:avLst/>
          </a:prstGeom>
          <a:solidFill>
            <a:srgbClr val="F8F5FC"/>
          </a:solidFill>
          <a:ln>
            <a:solidFill>
              <a:srgbClr val="E8D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371600"/>
            <a:ext cx="82296" cy="3611880"/>
          </a:xfrm>
          <a:prstGeom prst="rect">
            <a:avLst/>
          </a:prstGeom>
          <a:solidFill>
            <a:srgbClr val="468971"/>
          </a:solidFill>
          <a:ln>
            <a:solidFill>
              <a:srgbClr val="4689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0" y="1481328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361F5B"/>
                </a:solidFill>
                <a:latin typeface="Aptos"/>
              </a:defRPr>
            </a:pPr>
            <a:r>
              <a:t>WEEKS 11–12 | HABIT 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847088"/>
            <a:ext cx="3191256" cy="30632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A2334"/>
                </a:solidFill>
                <a:latin typeface="Aptos"/>
              </a:defRPr>
            </a:pPr>
            <a:r>
              <a:t>• Week 11: use of prepositions + tense correction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2A2334"/>
                </a:solidFill>
                <a:latin typeface="Aptos"/>
              </a:defRPr>
            </a:pPr>
            <a:r>
              <a:t>• Identify and correct verb tense errors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2A2334"/>
                </a:solidFill>
                <a:latin typeface="Aptos"/>
              </a:defRPr>
            </a:pPr>
            <a:r>
              <a:t>• Habit 5: empathic communication and listening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2A2334"/>
                </a:solidFill>
                <a:latin typeface="Aptos"/>
              </a:defRPr>
            </a:pPr>
            <a:r>
              <a:t>• Week 12: continued reading and reflection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2A2334"/>
                </a:solidFill>
                <a:latin typeface="Aptos"/>
              </a:defRPr>
            </a:pPr>
            <a:r>
              <a:t>• Homework: watch Inside Out (2015) for discussion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5B3791"/>
          </a:solidFill>
          <a:ln>
            <a:solidFill>
              <a:srgbClr val="5B3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84048" y="6419088"/>
            <a:ext cx="91440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6C6378"/>
                </a:solidFill>
                <a:latin typeface="Aptos"/>
              </a:defRPr>
            </a:pPr>
            <a:r>
              <a:t>INTRODUCTION TO FUNCTIONAL ENGLISH | SUPERIOR UNIVERSITY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382512"/>
            <a:ext cx="5486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5B3791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2500" b="1">
                <a:solidFill>
                  <a:srgbClr val="361F5B"/>
                </a:solidFill>
                <a:latin typeface="Aptos"/>
              </a:defRPr>
            </a:pPr>
            <a:r>
              <a:t>Week-by-Week Course Outline: Weeks 13–15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005840"/>
            <a:ext cx="1051560" cy="54864"/>
          </a:xfrm>
          <a:prstGeom prst="rect">
            <a:avLst/>
          </a:prstGeom>
          <a:solidFill>
            <a:srgbClr val="5B3791"/>
          </a:solidFill>
          <a:ln>
            <a:solidFill>
              <a:srgbClr val="5B3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1097280"/>
            <a:ext cx="106984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6C6378"/>
                </a:solidFill>
                <a:latin typeface="Aptos"/>
              </a:defRPr>
            </a:pPr>
            <a:r>
              <a:t>COURSE OUTLINE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520440" cy="3611880"/>
          </a:xfrm>
          <a:prstGeom prst="roundRect">
            <a:avLst/>
          </a:prstGeom>
          <a:solidFill>
            <a:srgbClr val="F8F5FC"/>
          </a:solidFill>
          <a:ln>
            <a:solidFill>
              <a:srgbClr val="E8D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82296" cy="3611880"/>
          </a:xfrm>
          <a:prstGeom prst="rect">
            <a:avLst/>
          </a:prstGeom>
          <a:solidFill>
            <a:srgbClr val="5B3791"/>
          </a:solidFill>
          <a:ln>
            <a:solidFill>
              <a:srgbClr val="5B3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59" y="1527048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361F5B"/>
                </a:solidFill>
                <a:latin typeface="Aptos"/>
              </a:defRPr>
            </a:pPr>
            <a:r>
              <a:t>WEEK 13 | HABIT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892808"/>
            <a:ext cx="3191256" cy="30632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A2334"/>
                </a:solidFill>
                <a:latin typeface="Aptos"/>
              </a:defRPr>
            </a:pPr>
            <a:r>
              <a:t>• Habit 6: Synergize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2A2334"/>
                </a:solidFill>
                <a:latin typeface="Aptos"/>
              </a:defRPr>
            </a:pPr>
            <a:r>
              <a:t>• English topic: active and passive voice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2A2334"/>
                </a:solidFill>
                <a:latin typeface="Aptos"/>
              </a:defRPr>
            </a:pPr>
            <a:r>
              <a:t>• Identify voice in quotations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2A2334"/>
                </a:solidFill>
                <a:latin typeface="Aptos"/>
              </a:defRPr>
            </a:pPr>
            <a:r>
              <a:t>• Reading, video and vocabulary tasks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2A2334"/>
                </a:solidFill>
                <a:latin typeface="Aptos"/>
              </a:defRPr>
            </a:pPr>
            <a:r>
              <a:t>• Creative cooperation and valuing differences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417320"/>
            <a:ext cx="3520440" cy="3611880"/>
          </a:xfrm>
          <a:prstGeom prst="roundRect">
            <a:avLst/>
          </a:prstGeom>
          <a:solidFill>
            <a:srgbClr val="F8F5FC"/>
          </a:solidFill>
          <a:ln>
            <a:solidFill>
              <a:srgbClr val="E8D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417320"/>
            <a:ext cx="82296" cy="3611880"/>
          </a:xfrm>
          <a:prstGeom prst="rect">
            <a:avLst/>
          </a:prstGeom>
          <a:solidFill>
            <a:srgbClr val="B08FDA"/>
          </a:solidFill>
          <a:ln>
            <a:solidFill>
              <a:srgbClr val="B08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26280" y="1527048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361F5B"/>
                </a:solidFill>
                <a:latin typeface="Aptos"/>
              </a:defRPr>
            </a:pPr>
            <a:r>
              <a:t>WEEK 14 | HABIT 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1892808"/>
            <a:ext cx="3191256" cy="30632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A2334"/>
                </a:solidFill>
                <a:latin typeface="Aptos"/>
              </a:defRPr>
            </a:pPr>
            <a:r>
              <a:t>• Habit 7: Sharpen the Saw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2A2334"/>
                </a:solidFill>
                <a:latin typeface="Aptos"/>
              </a:defRPr>
            </a:pPr>
            <a:r>
              <a:t>• Punctuation: period, comma, apostrophe and quotation marks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2A2334"/>
                </a:solidFill>
                <a:latin typeface="Aptos"/>
              </a:defRPr>
            </a:pPr>
            <a:r>
              <a:t>• Rewrite a passage with correct punctuation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2A2334"/>
                </a:solidFill>
                <a:latin typeface="Aptos"/>
              </a:defRPr>
            </a:pPr>
            <a:r>
              <a:t>• Reflection on the four dimensions of renewal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417320"/>
            <a:ext cx="3520440" cy="3611880"/>
          </a:xfrm>
          <a:prstGeom prst="roundRect">
            <a:avLst/>
          </a:prstGeom>
          <a:solidFill>
            <a:srgbClr val="F8F5FC"/>
          </a:solidFill>
          <a:ln>
            <a:solidFill>
              <a:srgbClr val="E8D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417320"/>
            <a:ext cx="82296" cy="3611880"/>
          </a:xfrm>
          <a:prstGeom prst="rect">
            <a:avLst/>
          </a:prstGeom>
          <a:solidFill>
            <a:srgbClr val="468971"/>
          </a:solidFill>
          <a:ln>
            <a:solidFill>
              <a:srgbClr val="4689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0" y="1527048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361F5B"/>
                </a:solidFill>
                <a:latin typeface="Aptos"/>
              </a:defRPr>
            </a:pPr>
            <a:r>
              <a:t>WEEK 15 | REFLECTION 6 &amp; 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892808"/>
            <a:ext cx="3191256" cy="30632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A2334"/>
                </a:solidFill>
                <a:latin typeface="Aptos"/>
              </a:defRPr>
            </a:pPr>
            <a:r>
              <a:t>• Reflection on Habits 6 and 7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2A2334"/>
                </a:solidFill>
                <a:latin typeface="Aptos"/>
              </a:defRPr>
            </a:pPr>
            <a:r>
              <a:t>• Reading, written and speaking reflections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2A2334"/>
                </a:solidFill>
                <a:latin typeface="Aptos"/>
              </a:defRPr>
            </a:pPr>
            <a:r>
              <a:t>• Poster/comic task illustrating synergy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2A2334"/>
                </a:solidFill>
                <a:latin typeface="Aptos"/>
              </a:defRPr>
            </a:pPr>
            <a:r>
              <a:t>• Include at least four sentences and label active/passive voice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5B3791"/>
          </a:solidFill>
          <a:ln>
            <a:solidFill>
              <a:srgbClr val="5B3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84048" y="6419088"/>
            <a:ext cx="91440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6C6378"/>
                </a:solidFill>
                <a:latin typeface="Aptos"/>
              </a:defRPr>
            </a:pPr>
            <a:r>
              <a:t>INTRODUCTION TO FUNCTIONAL ENGLISH | SUPERIOR UNIVERSITY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382512"/>
            <a:ext cx="5486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5B3791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2500" b="1">
                <a:solidFill>
                  <a:srgbClr val="361F5B"/>
                </a:solidFill>
                <a:latin typeface="Aptos"/>
              </a:defRPr>
            </a:pPr>
            <a:r>
              <a:t>Week-by-Week Course Outline: Weeks 16–17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005840"/>
            <a:ext cx="1051560" cy="54864"/>
          </a:xfrm>
          <a:prstGeom prst="rect">
            <a:avLst/>
          </a:prstGeom>
          <a:solidFill>
            <a:srgbClr val="5B3791"/>
          </a:solidFill>
          <a:ln>
            <a:solidFill>
              <a:srgbClr val="5B3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1097280"/>
            <a:ext cx="106984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6C6378"/>
                </a:solidFill>
                <a:latin typeface="Aptos"/>
              </a:defRPr>
            </a:pPr>
            <a:r>
              <a:t>FINAL ASSESSMENTS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5257800" cy="3200400"/>
          </a:xfrm>
          <a:prstGeom prst="roundRect">
            <a:avLst/>
          </a:prstGeom>
          <a:solidFill>
            <a:srgbClr val="F8F5FC"/>
          </a:solidFill>
          <a:ln>
            <a:solidFill>
              <a:srgbClr val="E8D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508760"/>
            <a:ext cx="82296" cy="3200400"/>
          </a:xfrm>
          <a:prstGeom prst="rect">
            <a:avLst/>
          </a:prstGeom>
          <a:solidFill>
            <a:srgbClr val="5B3791"/>
          </a:solidFill>
          <a:ln>
            <a:solidFill>
              <a:srgbClr val="5B3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59" y="1618488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361F5B"/>
                </a:solidFill>
                <a:latin typeface="Aptos"/>
              </a:defRPr>
            </a:pPr>
            <a:r>
              <a:t>WEEK 16 | FINAL TERM PROJECT — 20%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984248"/>
            <a:ext cx="4928616" cy="2651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A2334"/>
                </a:solidFill>
                <a:latin typeface="Aptos"/>
              </a:defRPr>
            </a:pPr>
            <a:r>
              <a:t>Teacher may assign one of the following: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2A2334"/>
                </a:solidFill>
                <a:latin typeface="Aptos"/>
              </a:defRPr>
            </a:pPr>
            <a:endParaRPr/>
          </a:p>
          <a:p>
            <a:pPr algn="l">
              <a:spcAft>
                <a:spcPts val="500"/>
              </a:spcAft>
              <a:defRPr sz="1400" b="0">
                <a:solidFill>
                  <a:srgbClr val="2A2334"/>
                </a:solidFill>
                <a:latin typeface="Aptos"/>
              </a:defRPr>
            </a:pPr>
            <a:r>
              <a:t>1. Voiceover of a movie/drama clip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2A2334"/>
                </a:solidFill>
                <a:latin typeface="Aptos"/>
              </a:defRPr>
            </a:pPr>
            <a:r>
              <a:t>2. Role-play enactment of a movie/drama clip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2A2334"/>
                </a:solidFill>
                <a:latin typeface="Aptos"/>
              </a:defRPr>
            </a:pPr>
            <a:r>
              <a:t>3. Stand-up comedy talk sharing three funny anecdotes from the university journey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508760"/>
            <a:ext cx="5257800" cy="3200400"/>
          </a:xfrm>
          <a:prstGeom prst="roundRect">
            <a:avLst/>
          </a:prstGeom>
          <a:solidFill>
            <a:srgbClr val="F8F5FC"/>
          </a:solidFill>
          <a:ln>
            <a:solidFill>
              <a:srgbClr val="E8D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63640" y="1508760"/>
            <a:ext cx="82296" cy="3200400"/>
          </a:xfrm>
          <a:prstGeom prst="rect">
            <a:avLst/>
          </a:prstGeom>
          <a:solidFill>
            <a:srgbClr val="B08FDA"/>
          </a:solidFill>
          <a:ln>
            <a:solidFill>
              <a:srgbClr val="B08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1618488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361F5B"/>
                </a:solidFill>
                <a:latin typeface="Aptos"/>
              </a:defRPr>
            </a:pPr>
            <a:r>
              <a:t>WEEK 17 | FINAL WRITTEN EXAM — 40%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984248"/>
            <a:ext cx="4928616" cy="2651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A2334"/>
                </a:solidFill>
                <a:latin typeface="Aptos"/>
              </a:defRPr>
            </a:pPr>
            <a:r>
              <a:t>Written examination based on questions with real-life contexts.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2A2334"/>
                </a:solidFill>
                <a:latin typeface="Aptos"/>
              </a:defRPr>
            </a:pPr>
            <a:endParaRPr/>
          </a:p>
          <a:p>
            <a:pPr algn="l">
              <a:spcAft>
                <a:spcPts val="500"/>
              </a:spcAft>
              <a:defRPr sz="1400" b="0">
                <a:solidFill>
                  <a:srgbClr val="2A2334"/>
                </a:solidFill>
                <a:latin typeface="Aptos"/>
              </a:defRPr>
            </a:pPr>
            <a:r>
              <a:t>Focus: apply grammar and language concepts to practical situations and demonstrate course learning outcomes.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28800" y="5074920"/>
            <a:ext cx="8503920" cy="685800"/>
          </a:xfrm>
          <a:prstGeom prst="roundRect">
            <a:avLst/>
          </a:prstGeom>
          <a:solidFill>
            <a:srgbClr val="E8DFF6"/>
          </a:solidFill>
          <a:ln>
            <a:solidFill>
              <a:srgbClr val="E8D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965960" y="525780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361F5B"/>
                </a:solidFill>
                <a:latin typeface="Aptos"/>
              </a:defRPr>
            </a:pPr>
            <a:r>
              <a:t>Plan early: the project rewards preparation, creativity, clear language and audience awareness.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5B3791"/>
          </a:solidFill>
          <a:ln>
            <a:solidFill>
              <a:srgbClr val="5B3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84048" y="6419088"/>
            <a:ext cx="91440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6C6378"/>
                </a:solidFill>
                <a:latin typeface="Aptos"/>
              </a:defRPr>
            </a:pPr>
            <a:r>
              <a:t>INTRODUCTION TO FUNCTIONAL ENGLISH | SUPERIOR UNIVERSITY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382512"/>
            <a:ext cx="5486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5B3791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2500" b="1">
                <a:solidFill>
                  <a:srgbClr val="361F5B"/>
                </a:solidFill>
                <a:latin typeface="Aptos"/>
              </a:defRPr>
            </a:pPr>
            <a:r>
              <a:t>How a Typical Functional English Session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005840"/>
            <a:ext cx="1051560" cy="54864"/>
          </a:xfrm>
          <a:prstGeom prst="rect">
            <a:avLst/>
          </a:prstGeom>
          <a:solidFill>
            <a:srgbClr val="5B3791"/>
          </a:solidFill>
          <a:ln>
            <a:solidFill>
              <a:srgbClr val="5B3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1097280"/>
            <a:ext cx="106984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6C6378"/>
                </a:solidFill>
                <a:latin typeface="Aptos"/>
              </a:defRPr>
            </a:pPr>
            <a:r>
              <a:t>TEACHING-LEARNING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500"/>
              </a:spcAft>
              <a:defRPr sz="1600" b="0">
                <a:solidFill>
                  <a:srgbClr val="2A2334"/>
                </a:solidFill>
                <a:latin typeface="Aptos"/>
              </a:defRPr>
            </a:pPr>
            <a:r>
              <a:t>The course combines language learning with the Seven Habits through repeated practice and reflection.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2423160"/>
            <a:ext cx="2057400" cy="1143000"/>
          </a:xfrm>
          <a:prstGeom prst="roundRect">
            <a:avLst/>
          </a:prstGeom>
          <a:solidFill>
            <a:srgbClr val="5B3791"/>
          </a:solidFill>
          <a:ln>
            <a:solidFill>
              <a:srgbClr val="5B3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4632" y="2587752"/>
            <a:ext cx="19110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LANGUAGE CONTENT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" y="2971800"/>
            <a:ext cx="1837943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FFFFFF"/>
                </a:solidFill>
                <a:latin typeface="Aptos"/>
              </a:defRPr>
            </a:pPr>
            <a:r>
              <a:t>Grammar or communication skill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87168" y="2743200"/>
            <a:ext cx="25603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500"/>
              </a:spcAft>
              <a:defRPr sz="1900" b="1">
                <a:solidFill>
                  <a:srgbClr val="5B379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70632" y="2423160"/>
            <a:ext cx="2057400" cy="1143000"/>
          </a:xfrm>
          <a:prstGeom prst="roundRect">
            <a:avLst/>
          </a:prstGeom>
          <a:solidFill>
            <a:srgbClr val="B08FDA"/>
          </a:solidFill>
          <a:ln>
            <a:solidFill>
              <a:srgbClr val="B08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843784" y="2587752"/>
            <a:ext cx="19110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VIDEO SECTION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2971800"/>
            <a:ext cx="1837943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FFFFFF"/>
                </a:solidFill>
                <a:latin typeface="Aptos"/>
              </a:defRPr>
            </a:pPr>
            <a:r>
              <a:t>Listen, observe and answer questions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743200"/>
            <a:ext cx="25603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500"/>
              </a:spcAft>
              <a:defRPr sz="1900" b="1">
                <a:solidFill>
                  <a:srgbClr val="5B379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29784" y="2423160"/>
            <a:ext cx="2057400" cy="1143000"/>
          </a:xfrm>
          <a:prstGeom prst="roundRect">
            <a:avLst/>
          </a:prstGeom>
          <a:solidFill>
            <a:srgbClr val="468971"/>
          </a:solidFill>
          <a:ln>
            <a:solidFill>
              <a:srgbClr val="4689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202936" y="2587752"/>
            <a:ext cx="19110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READING SECTION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39512" y="2971800"/>
            <a:ext cx="1837943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FFFFFF"/>
                </a:solidFill>
                <a:latin typeface="Aptos"/>
              </a:defRPr>
            </a:pPr>
            <a:r>
              <a:t>Explore Habit concepts and 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05472" y="2743200"/>
            <a:ext cx="25603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500"/>
              </a:spcAft>
              <a:defRPr sz="1900" b="1">
                <a:solidFill>
                  <a:srgbClr val="5B379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88936" y="2423160"/>
            <a:ext cx="2057400" cy="1143000"/>
          </a:xfrm>
          <a:prstGeom prst="roundRect">
            <a:avLst/>
          </a:prstGeom>
          <a:solidFill>
            <a:srgbClr val="CCA045"/>
          </a:solidFill>
          <a:ln>
            <a:solidFill>
              <a:srgbClr val="CCA0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562088" y="2587752"/>
            <a:ext cx="19110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VOCABULARY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98663" y="2971800"/>
            <a:ext cx="1837943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FFFFFF"/>
                </a:solidFill>
                <a:latin typeface="Aptos"/>
              </a:defRPr>
            </a:pPr>
            <a:r>
              <a:t>Learn words and use them in sentences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64624" y="2743200"/>
            <a:ext cx="25603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500"/>
              </a:spcAft>
              <a:defRPr sz="1900" b="1">
                <a:solidFill>
                  <a:srgbClr val="5B379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48088" y="2423160"/>
            <a:ext cx="2057400" cy="1143000"/>
          </a:xfrm>
          <a:prstGeom prst="roundRect">
            <a:avLst/>
          </a:prstGeom>
          <a:solidFill>
            <a:srgbClr val="B85363"/>
          </a:solidFill>
          <a:ln>
            <a:solidFill>
              <a:srgbClr val="B85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921240" y="2587752"/>
            <a:ext cx="19110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REFLECTION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57815" y="2971800"/>
            <a:ext cx="1837943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FFFFFF"/>
                </a:solidFill>
                <a:latin typeface="Aptos"/>
              </a:defRPr>
            </a:pPr>
            <a:r>
              <a:t>Write, speak, discuss and apply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4251960"/>
            <a:ext cx="4892040" cy="1051560"/>
          </a:xfrm>
          <a:prstGeom prst="roundRect">
            <a:avLst/>
          </a:prstGeom>
          <a:solidFill>
            <a:srgbClr val="F8F5FC"/>
          </a:solidFill>
          <a:ln>
            <a:solidFill>
              <a:srgbClr val="E8D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14400" y="4251960"/>
            <a:ext cx="82296" cy="1051560"/>
          </a:xfrm>
          <a:prstGeom prst="rect">
            <a:avLst/>
          </a:prstGeom>
          <a:solidFill>
            <a:srgbClr val="5B3791"/>
          </a:solidFill>
          <a:ln>
            <a:solidFill>
              <a:srgbClr val="5B3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97280" y="4361688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400" b="1">
                <a:solidFill>
                  <a:srgbClr val="361F5B"/>
                </a:solidFill>
                <a:latin typeface="Aptos"/>
              </a:defRPr>
            </a:pPr>
            <a:r>
              <a:t>CLO 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4727448"/>
            <a:ext cx="4562855" cy="502919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A2334"/>
                </a:solidFill>
                <a:latin typeface="Aptos"/>
              </a:defRPr>
            </a:pPr>
            <a:r>
              <a:t>Grammar and language skills applied in context.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4251960"/>
            <a:ext cx="4892040" cy="1051560"/>
          </a:xfrm>
          <a:prstGeom prst="roundRect">
            <a:avLst/>
          </a:prstGeom>
          <a:solidFill>
            <a:srgbClr val="F8F5FC"/>
          </a:solidFill>
          <a:ln>
            <a:solidFill>
              <a:srgbClr val="E8D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263640" y="4251960"/>
            <a:ext cx="82296" cy="1051560"/>
          </a:xfrm>
          <a:prstGeom prst="rect">
            <a:avLst/>
          </a:prstGeom>
          <a:solidFill>
            <a:srgbClr val="B08FDA"/>
          </a:solidFill>
          <a:ln>
            <a:solidFill>
              <a:srgbClr val="B08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46520" y="4361688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400" b="1">
                <a:solidFill>
                  <a:srgbClr val="361F5B"/>
                </a:solidFill>
                <a:latin typeface="Aptos"/>
              </a:defRPr>
            </a:pPr>
            <a:r>
              <a:t>CLO 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4727448"/>
            <a:ext cx="4562855" cy="502919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A2334"/>
                </a:solidFill>
                <a:latin typeface="Aptos"/>
              </a:defRPr>
            </a:pPr>
            <a:r>
              <a:t>Analyse language, tone and structure; reflect on character-centred communication.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5B3791"/>
          </a:solidFill>
          <a:ln>
            <a:solidFill>
              <a:srgbClr val="5B3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84048" y="6419088"/>
            <a:ext cx="91440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6C6378"/>
                </a:solidFill>
                <a:latin typeface="Aptos"/>
              </a:defRPr>
            </a:pPr>
            <a:r>
              <a:t>INTRODUCTION TO FUNCTIONAL ENGLISH | SUPERIOR UNIVERSITY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01400" y="6382512"/>
            <a:ext cx="5486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5B3791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2500" b="1">
                <a:solidFill>
                  <a:srgbClr val="361F5B"/>
                </a:solidFill>
                <a:latin typeface="Aptos"/>
              </a:defRPr>
            </a:pPr>
            <a:r>
              <a:t>Official Assessment Plan: 100%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005840"/>
            <a:ext cx="1051560" cy="54864"/>
          </a:xfrm>
          <a:prstGeom prst="rect">
            <a:avLst/>
          </a:prstGeom>
          <a:solidFill>
            <a:srgbClr val="5B3791"/>
          </a:solidFill>
          <a:ln>
            <a:solidFill>
              <a:srgbClr val="5B3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1097280"/>
            <a:ext cx="106984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6C6378"/>
                </a:solidFill>
                <a:latin typeface="Aptos"/>
              </a:defRPr>
            </a:pPr>
            <a:r>
              <a:t>ASSESSMENT CRITERIA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71600"/>
            <a:ext cx="10835640" cy="841248"/>
          </a:xfrm>
          <a:prstGeom prst="roundRect">
            <a:avLst/>
          </a:prstGeom>
          <a:solidFill>
            <a:srgbClr val="F8F5FC"/>
          </a:solidFill>
          <a:ln>
            <a:solidFill>
              <a:srgbClr val="E8D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371600"/>
            <a:ext cx="91440" cy="841248"/>
          </a:xfrm>
          <a:prstGeom prst="rect">
            <a:avLst/>
          </a:prstGeom>
          <a:solidFill>
            <a:srgbClr val="5B3791"/>
          </a:solidFill>
          <a:ln>
            <a:solidFill>
              <a:srgbClr val="5B3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481328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300" b="1">
                <a:solidFill>
                  <a:srgbClr val="361F5B"/>
                </a:solidFill>
                <a:latin typeface="Aptos"/>
              </a:defRPr>
            </a:pPr>
            <a:r>
              <a:t>ASSESSMENT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1463040"/>
            <a:ext cx="3749039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A2334"/>
                </a:solidFill>
                <a:latin typeface="Aptos"/>
              </a:defRPr>
            </a:pPr>
            <a:r>
              <a:t>Assignment / quiz / interactive activity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12280" y="1463040"/>
            <a:ext cx="283464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000" b="0">
                <a:solidFill>
                  <a:srgbClr val="6C6378"/>
                </a:solidFill>
                <a:latin typeface="Aptos"/>
              </a:defRPr>
            </a:pPr>
            <a:r>
              <a:t>Week 4–6 range; official outline states 4th–6th week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1490472"/>
            <a:ext cx="914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500"/>
              </a:spcAft>
              <a:defRPr sz="1700" b="1">
                <a:solidFill>
                  <a:srgbClr val="361F5B"/>
                </a:solidFill>
                <a:latin typeface="Aptos"/>
              </a:defRPr>
            </a:pPr>
            <a:r>
              <a:t>10%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450591"/>
            <a:ext cx="10835640" cy="841248"/>
          </a:xfrm>
          <a:prstGeom prst="roundRect">
            <a:avLst/>
          </a:prstGeom>
          <a:solidFill>
            <a:srgbClr val="F8F5FC"/>
          </a:solidFill>
          <a:ln>
            <a:solidFill>
              <a:srgbClr val="E8D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85800" y="2450591"/>
            <a:ext cx="91440" cy="841248"/>
          </a:xfrm>
          <a:prstGeom prst="rect">
            <a:avLst/>
          </a:prstGeom>
          <a:solidFill>
            <a:srgbClr val="B08FDA"/>
          </a:solidFill>
          <a:ln>
            <a:solidFill>
              <a:srgbClr val="B08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2560320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300" b="1">
                <a:solidFill>
                  <a:srgbClr val="361F5B"/>
                </a:solidFill>
                <a:latin typeface="Aptos"/>
              </a:defRPr>
            </a:pPr>
            <a:r>
              <a:t>MIDTERM PROJECT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2542032"/>
            <a:ext cx="3749039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A2334"/>
                </a:solidFill>
                <a:latin typeface="Aptos"/>
              </a:defRPr>
            </a:pPr>
            <a:r>
              <a:t>Semi-formal presentation / vlog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2542032"/>
            <a:ext cx="283464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000" b="0">
                <a:solidFill>
                  <a:srgbClr val="6C6378"/>
                </a:solidFill>
                <a:latin typeface="Aptos"/>
              </a:defRPr>
            </a:pPr>
            <a:r>
              <a:t>Week 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0" y="2569463"/>
            <a:ext cx="914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500"/>
              </a:spcAft>
              <a:defRPr sz="1700" b="1">
                <a:solidFill>
                  <a:srgbClr val="361F5B"/>
                </a:solidFill>
                <a:latin typeface="Aptos"/>
              </a:defRPr>
            </a:pPr>
            <a:r>
              <a:t>30%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529584"/>
            <a:ext cx="10835640" cy="841248"/>
          </a:xfrm>
          <a:prstGeom prst="roundRect">
            <a:avLst/>
          </a:prstGeom>
          <a:solidFill>
            <a:srgbClr val="F8F5FC"/>
          </a:solidFill>
          <a:ln>
            <a:solidFill>
              <a:srgbClr val="E8D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85800" y="3529584"/>
            <a:ext cx="91440" cy="841248"/>
          </a:xfrm>
          <a:prstGeom prst="rect">
            <a:avLst/>
          </a:prstGeom>
          <a:solidFill>
            <a:srgbClr val="468971"/>
          </a:solidFill>
          <a:ln>
            <a:solidFill>
              <a:srgbClr val="4689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3639312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300" b="1">
                <a:solidFill>
                  <a:srgbClr val="361F5B"/>
                </a:solidFill>
                <a:latin typeface="Aptos"/>
              </a:defRPr>
            </a:pPr>
            <a:r>
              <a:t>FINAL TERM PROJECT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3621024"/>
            <a:ext cx="3749039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A2334"/>
                </a:solidFill>
                <a:latin typeface="Aptos"/>
              </a:defRPr>
            </a:pPr>
            <a:r>
              <a:t>Voiceover / role-play / stand-up comedy talk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80" y="3621024"/>
            <a:ext cx="283464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000" b="0">
                <a:solidFill>
                  <a:srgbClr val="6C6378"/>
                </a:solidFill>
                <a:latin typeface="Aptos"/>
              </a:defRPr>
            </a:pPr>
            <a:r>
              <a:t>Week 16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3648456"/>
            <a:ext cx="914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500"/>
              </a:spcAft>
              <a:defRPr sz="1700" b="1">
                <a:solidFill>
                  <a:srgbClr val="361F5B"/>
                </a:solidFill>
                <a:latin typeface="Aptos"/>
              </a:defRPr>
            </a:pPr>
            <a:r>
              <a:t>20%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608576"/>
            <a:ext cx="10835640" cy="841248"/>
          </a:xfrm>
          <a:prstGeom prst="roundRect">
            <a:avLst/>
          </a:prstGeom>
          <a:solidFill>
            <a:srgbClr val="F8F5FC"/>
          </a:solidFill>
          <a:ln>
            <a:solidFill>
              <a:srgbClr val="E8D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85800" y="4608576"/>
            <a:ext cx="91440" cy="841248"/>
          </a:xfrm>
          <a:prstGeom prst="rect">
            <a:avLst/>
          </a:prstGeom>
          <a:solidFill>
            <a:srgbClr val="CCA045"/>
          </a:solidFill>
          <a:ln>
            <a:solidFill>
              <a:srgbClr val="CCA0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4400" y="4718304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300" b="1">
                <a:solidFill>
                  <a:srgbClr val="361F5B"/>
                </a:solidFill>
                <a:latin typeface="Aptos"/>
              </a:defRPr>
            </a:pPr>
            <a:r>
              <a:t>FINAL WRITTEN EXAM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17520" y="4700016"/>
            <a:ext cx="3749039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A2334"/>
                </a:solidFill>
                <a:latin typeface="Aptos"/>
              </a:defRPr>
            </a:pPr>
            <a:r>
              <a:t>Real-life-context written questions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12280" y="4700016"/>
            <a:ext cx="283464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000" b="0">
                <a:solidFill>
                  <a:srgbClr val="6C6378"/>
                </a:solidFill>
                <a:latin typeface="Aptos"/>
              </a:defRPr>
            </a:pPr>
            <a:r>
              <a:t>Week 17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0" y="4727448"/>
            <a:ext cx="914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500"/>
              </a:spcAft>
              <a:defRPr sz="1700" b="1">
                <a:solidFill>
                  <a:srgbClr val="361F5B"/>
                </a:solidFill>
                <a:latin typeface="Aptos"/>
              </a:defRPr>
            </a:pPr>
            <a:r>
              <a:t>40%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806440"/>
            <a:ext cx="10332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6C6378"/>
                </a:solidFill>
                <a:latin typeface="Aptos"/>
              </a:defRPr>
            </a:pPr>
            <a:r>
              <a:t>Total = 100%  |  Assessment details should be confirmed against the instructor’s current instructions.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5B3791"/>
          </a:solidFill>
          <a:ln>
            <a:solidFill>
              <a:srgbClr val="5B3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84048" y="6419088"/>
            <a:ext cx="91440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6C6378"/>
                </a:solidFill>
                <a:latin typeface="Aptos"/>
              </a:defRPr>
            </a:pPr>
            <a:r>
              <a:t>INTRODUCTION TO FUNCTIONAL ENGLISH | SUPERIOR UNIVERSITY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01400" y="6382512"/>
            <a:ext cx="5486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5B3791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2500" b="1">
                <a:solidFill>
                  <a:srgbClr val="361F5B"/>
                </a:solidFill>
                <a:latin typeface="Aptos"/>
              </a:defRPr>
            </a:pPr>
            <a:r>
              <a:t>Understanding the Semester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005840"/>
            <a:ext cx="1051560" cy="54864"/>
          </a:xfrm>
          <a:prstGeom prst="rect">
            <a:avLst/>
          </a:prstGeom>
          <a:solidFill>
            <a:srgbClr val="5B3791"/>
          </a:solidFill>
          <a:ln>
            <a:solidFill>
              <a:srgbClr val="5B3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1097280"/>
            <a:ext cx="106984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6C6378"/>
                </a:solidFill>
                <a:latin typeface="Aptos"/>
              </a:defRPr>
            </a:pPr>
            <a:r>
              <a:t>ACADEMIC EXPECTATIONS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5257800" cy="1234440"/>
          </a:xfrm>
          <a:prstGeom prst="roundRect">
            <a:avLst/>
          </a:prstGeom>
          <a:solidFill>
            <a:srgbClr val="F8F5FC"/>
          </a:solidFill>
          <a:ln>
            <a:solidFill>
              <a:srgbClr val="E8D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82296" cy="1234440"/>
          </a:xfrm>
          <a:prstGeom prst="rect">
            <a:avLst/>
          </a:prstGeom>
          <a:solidFill>
            <a:srgbClr val="5B3791"/>
          </a:solidFill>
          <a:ln>
            <a:solidFill>
              <a:srgbClr val="5B3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59" y="1527048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361F5B"/>
                </a:solidFill>
                <a:latin typeface="Aptos"/>
              </a:defRPr>
            </a:pPr>
            <a:r>
              <a:t>WHAT THE SEMESTER SYSTEM MEANS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892808"/>
            <a:ext cx="4928616" cy="6858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A2334"/>
                </a:solidFill>
                <a:latin typeface="Aptos"/>
              </a:defRPr>
            </a:pPr>
            <a:r>
              <a:t>A defined teaching period with scheduled classes, learning activities, deadlines and assessments.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257800" cy="1234440"/>
          </a:xfrm>
          <a:prstGeom prst="roundRect">
            <a:avLst/>
          </a:prstGeom>
          <a:solidFill>
            <a:srgbClr val="F8F5FC"/>
          </a:solidFill>
          <a:ln>
            <a:solidFill>
              <a:srgbClr val="E8D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63640" y="1417320"/>
            <a:ext cx="82296" cy="1234440"/>
          </a:xfrm>
          <a:prstGeom prst="rect">
            <a:avLst/>
          </a:prstGeom>
          <a:solidFill>
            <a:srgbClr val="B08FDA"/>
          </a:solidFill>
          <a:ln>
            <a:solidFill>
              <a:srgbClr val="B08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1527048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361F5B"/>
                </a:solidFill>
                <a:latin typeface="Aptos"/>
              </a:defRPr>
            </a:pPr>
            <a:r>
              <a:t>THIS COURSE AT A GLANCE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892808"/>
            <a:ext cx="4928616" cy="6858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A2334"/>
                </a:solidFill>
                <a:latin typeface="Aptos"/>
              </a:defRPr>
            </a:pPr>
            <a:r>
              <a:t>17-week plan in the provided outline; 3 credit hours; 3 hours per week; preferred semester 1.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06324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361F5B"/>
                </a:solidFill>
                <a:latin typeface="Aptos"/>
              </a:defRPr>
            </a:pPr>
            <a:r>
              <a:t>YOUR LEARNING CYCLE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657600"/>
            <a:ext cx="1600200" cy="685800"/>
          </a:xfrm>
          <a:prstGeom prst="roundRect">
            <a:avLst/>
          </a:prstGeom>
          <a:solidFill>
            <a:srgbClr val="5B3791"/>
          </a:solidFill>
          <a:ln>
            <a:solidFill>
              <a:srgbClr val="5B3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3858768"/>
            <a:ext cx="15087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ATTEND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66543" y="384048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500"/>
              </a:spcAft>
              <a:defRPr sz="1800" b="1">
                <a:solidFill>
                  <a:srgbClr val="5B379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395728" y="3657600"/>
            <a:ext cx="1600200" cy="685800"/>
          </a:xfrm>
          <a:prstGeom prst="roundRect">
            <a:avLst/>
          </a:prstGeom>
          <a:solidFill>
            <a:srgbClr val="B08FDA"/>
          </a:solidFill>
          <a:ln>
            <a:solidFill>
              <a:srgbClr val="B08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441448" y="3858768"/>
            <a:ext cx="15087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LEARN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05072" y="384048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500"/>
              </a:spcAft>
              <a:defRPr sz="1800" b="1">
                <a:solidFill>
                  <a:srgbClr val="5B379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34256" y="3657600"/>
            <a:ext cx="1600200" cy="685800"/>
          </a:xfrm>
          <a:prstGeom prst="roundRect">
            <a:avLst/>
          </a:prstGeom>
          <a:solidFill>
            <a:srgbClr val="468971"/>
          </a:solidFill>
          <a:ln>
            <a:solidFill>
              <a:srgbClr val="4689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379976" y="3858768"/>
            <a:ext cx="15087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PRACTISE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384048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500"/>
              </a:spcAft>
              <a:defRPr sz="1800" b="1">
                <a:solidFill>
                  <a:srgbClr val="5B379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72784" y="3657600"/>
            <a:ext cx="1600200" cy="685800"/>
          </a:xfrm>
          <a:prstGeom prst="roundRect">
            <a:avLst/>
          </a:prstGeom>
          <a:solidFill>
            <a:srgbClr val="CCA045"/>
          </a:solidFill>
          <a:ln>
            <a:solidFill>
              <a:srgbClr val="CCA0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18504" y="3858768"/>
            <a:ext cx="15087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REFLECT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82128" y="384048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500"/>
              </a:spcAft>
              <a:defRPr sz="1800" b="1">
                <a:solidFill>
                  <a:srgbClr val="5B379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11312" y="3657600"/>
            <a:ext cx="1600200" cy="685800"/>
          </a:xfrm>
          <a:prstGeom prst="roundRect">
            <a:avLst/>
          </a:prstGeom>
          <a:solidFill>
            <a:srgbClr val="B85363"/>
          </a:solidFill>
          <a:ln>
            <a:solidFill>
              <a:srgbClr val="B85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57032" y="3858768"/>
            <a:ext cx="15087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ASSESS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20656" y="384048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500"/>
              </a:spcAft>
              <a:defRPr sz="1800" b="1">
                <a:solidFill>
                  <a:srgbClr val="5B379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149840" y="3657600"/>
            <a:ext cx="1600200" cy="685800"/>
          </a:xfrm>
          <a:prstGeom prst="roundRect">
            <a:avLst/>
          </a:prstGeom>
          <a:solidFill>
            <a:srgbClr val="5B3791"/>
          </a:solidFill>
          <a:ln>
            <a:solidFill>
              <a:srgbClr val="5B3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195560" y="3858768"/>
            <a:ext cx="15087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IMPROVE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400" y="4800600"/>
            <a:ext cx="10332720" cy="777240"/>
          </a:xfrm>
          <a:prstGeom prst="roundRect">
            <a:avLst/>
          </a:prstGeom>
          <a:solidFill>
            <a:srgbClr val="F8F5FC"/>
          </a:solidFill>
          <a:ln>
            <a:solidFill>
              <a:srgbClr val="E8D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914400" y="4800600"/>
            <a:ext cx="82296" cy="777240"/>
          </a:xfrm>
          <a:prstGeom prst="rect">
            <a:avLst/>
          </a:prstGeom>
          <a:solidFill>
            <a:srgbClr val="B08FDA"/>
          </a:solidFill>
          <a:ln>
            <a:solidFill>
              <a:srgbClr val="B08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97280" y="4910328"/>
            <a:ext cx="100126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400" b="1">
                <a:solidFill>
                  <a:srgbClr val="361F5B"/>
                </a:solidFill>
                <a:latin typeface="Aptos"/>
              </a:defRPr>
            </a:pPr>
            <a:r>
              <a:t>Semester success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" y="5276088"/>
            <a:ext cx="10003536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2A2334"/>
                </a:solidFill>
                <a:latin typeface="Aptos"/>
              </a:defRPr>
            </a:pPr>
            <a:r>
              <a:t>Attend consistently, bring the prescribed book/notes, complete weekly homework, participate, and track feedback and deadlines.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5B3791"/>
          </a:solidFill>
          <a:ln>
            <a:solidFill>
              <a:srgbClr val="5B3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84048" y="6419088"/>
            <a:ext cx="91440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6C6378"/>
                </a:solidFill>
                <a:latin typeface="Aptos"/>
              </a:defRPr>
            </a:pPr>
            <a:r>
              <a:t>INTRODUCTION TO FUNCTIONAL ENGLISH | SUPERIOR UNIVERSITY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01400" y="6382512"/>
            <a:ext cx="5486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5B3791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61F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692640" y="365760"/>
            <a:ext cx="1188720" cy="1188720"/>
          </a:xfrm>
          <a:prstGeom prst="ellipse">
            <a:avLst/>
          </a:prstGeom>
          <a:solidFill>
            <a:srgbClr val="5B3791"/>
          </a:solidFill>
          <a:ln>
            <a:solidFill>
              <a:srgbClr val="5B3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698480" y="5029200"/>
            <a:ext cx="731520" cy="731520"/>
          </a:xfrm>
          <a:prstGeom prst="ellipse">
            <a:avLst/>
          </a:prstGeom>
          <a:solidFill>
            <a:srgbClr val="B08FDA"/>
          </a:solidFill>
          <a:ln>
            <a:solidFill>
              <a:srgbClr val="B08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274320" y="5577840"/>
            <a:ext cx="822960" cy="822960"/>
          </a:xfrm>
          <a:prstGeom prst="ellipse">
            <a:avLst/>
          </a:prstGeom>
          <a:solidFill>
            <a:srgbClr val="B08FDA"/>
          </a:solidFill>
          <a:ln>
            <a:solidFill>
              <a:srgbClr val="B08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828800" y="548640"/>
            <a:ext cx="457200" cy="457200"/>
          </a:xfrm>
          <a:prstGeom prst="ellipse">
            <a:avLst/>
          </a:prstGeom>
          <a:solidFill>
            <a:srgbClr val="5B3791"/>
          </a:solidFill>
          <a:ln>
            <a:solidFill>
              <a:srgbClr val="5B3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325880"/>
            <a:ext cx="10149840" cy="19202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700"/>
              </a:spcAft>
              <a:defRPr sz="3000" b="1" i="0">
                <a:solidFill>
                  <a:srgbClr val="FFFFFF"/>
                </a:solidFill>
                <a:latin typeface="Aptos"/>
              </a:defRPr>
            </a:pPr>
            <a:r>
              <a:t>LANGUAGE IS A TOOL.</a:t>
            </a:r>
          </a:p>
          <a:p>
            <a:pPr algn="ctr">
              <a:spcAft>
                <a:spcPts val="700"/>
              </a:spcAft>
              <a:defRPr sz="3000" b="1" i="0">
                <a:solidFill>
                  <a:srgbClr val="FFFFFF"/>
                </a:solidFill>
                <a:latin typeface="Aptos"/>
              </a:defRPr>
            </a:pPr>
            <a:r>
              <a:t>COMMUNICATION IS A SKILL.</a:t>
            </a:r>
          </a:p>
          <a:p>
            <a:pPr algn="ctr">
              <a:spcAft>
                <a:spcPts val="700"/>
              </a:spcAft>
              <a:defRPr sz="3000" b="1" i="0">
                <a:solidFill>
                  <a:srgbClr val="FFFFFF"/>
                </a:solidFill>
                <a:latin typeface="Aptos"/>
              </a:defRPr>
            </a:pPr>
            <a:r>
              <a:t>IMPROVEMENT IS A HABIT.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977639"/>
            <a:ext cx="85039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700"/>
              </a:spcAft>
              <a:defRPr sz="2000" b="0" i="0">
                <a:solidFill>
                  <a:srgbClr val="E8DFF6"/>
                </a:solidFill>
                <a:latin typeface="Aptos"/>
              </a:defRPr>
            </a:pPr>
            <a:r>
              <a:t>Thank you for your participation.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4892040"/>
            <a:ext cx="6583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  <a:defRPr sz="1400" b="1" i="0">
                <a:solidFill>
                  <a:srgbClr val="FFFFFF"/>
                </a:solidFill>
                <a:latin typeface="Aptos"/>
              </a:defRPr>
            </a:pPr>
            <a:r>
              <a:t>Superior University | Okara Campus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5B3791"/>
          </a:solidFill>
          <a:ln>
            <a:solidFill>
              <a:srgbClr val="5B3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84048" y="6419088"/>
            <a:ext cx="88696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  <a:defRPr sz="800" b="1" i="0">
                <a:solidFill>
                  <a:srgbClr val="6C6378"/>
                </a:solidFill>
                <a:latin typeface="Aptos"/>
              </a:defRPr>
            </a:pPr>
            <a:r>
              <a:t>INTRODUCTION TO FUNCTIONAL ENGLISH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382512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  <a:defRPr sz="1000" b="1" i="0">
                <a:solidFill>
                  <a:srgbClr val="5B3791"/>
                </a:solidFill>
                <a:latin typeface="Aptos"/>
              </a:defRPr>
            </a:pPr>
            <a:r>
              <a:t>45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1570</Words>
  <Application>Microsoft Office PowerPoint</Application>
  <PresentationFormat>Widescreen</PresentationFormat>
  <Paragraphs>241</Paragraphs>
  <Slides>13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RAO</dc:creator>
  <cp:keywords/>
  <dc:description>generated using python-pptx</dc:description>
  <cp:lastModifiedBy>FA23-BEE-009(ABDULLAH SHAHAB)</cp:lastModifiedBy>
  <cp:revision>3</cp:revision>
  <dcterms:created xsi:type="dcterms:W3CDTF">2013-01-27T09:14:16Z</dcterms:created>
  <dcterms:modified xsi:type="dcterms:W3CDTF">2026-10-18T17:07:19Z</dcterms:modified>
  <cp:category/>
</cp:coreProperties>
</file>