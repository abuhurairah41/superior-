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049326f-da94-fd14-7418-44942267e5b8}">
          <p14:sldIdLst>
            <p14:sldId id="256"/>
            <p14:sldId id="257"/>
            <p14:sldId id="258"/>
          </p14:sldIdLst>
        </p14:section>
        <p14:section name="Number Systems" id="{7783bf98-6a99-78f2-fba7-054de91fbe62}">
          <p14:sldIdLst>
            <p14:sldId id="259"/>
            <p14:sldId id="260"/>
            <p14:sldId id="261"/>
            <p14:sldId id="262"/>
          </p14:sldIdLst>
        </p14:section>
        <p14:section name="Conversions" id="{f51a0df1-a678-7e95-bc26-80a10426bb42}">
          <p14:sldIdLst>
            <p14:sldId id="263"/>
          </p14:sldIdLst>
        </p14:section>
        <p14:section name="Decimal to Binary" id="{d186d642-d6d6-45ff-55db-8b375ec12ce2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Decimal to Octal" id="{e1993ed0-3d2f-9fd9-44b8-2f3bbc8a6d8d}">
          <p14:sldIdLst>
            <p14:sldId id="271"/>
            <p14:sldId id="272"/>
            <p14:sldId id="273"/>
            <p14:sldId id="274"/>
            <p14:sldId id="275"/>
          </p14:sldIdLst>
        </p14:section>
        <p14:section name="Decimal to Hexadecimal" id="{edf08ea4-8c68-fd24-35d1-aa29c523af39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To Decimal" id="{26e0bd8b-20f8-0390-2c7c-d05c7a919c44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Digital Logic Design  |  Number Systems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Course: Digital Logic Design</a:t>
            </a:r>
            <a:endParaRPr lang="en-US" sz="3600" dirty="0"/>
          </a:p>
        </p:txBody>
      </p:sp>
      <p:sp>
        <p:nvSpPr>
          <p:cNvPr id="3" name="Card Number System"/>
          <p:cNvSpPr/>
          <p:nvPr/>
        </p:nvSpPr>
        <p:spPr>
          <a:xfrm>
            <a:off x="548640" y="1463040"/>
            <a:ext cx="4114800" cy="47091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ber System circle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Number Syst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516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91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Number System</a:t>
            </a:r>
            <a:endParaRPr lang="en-US" sz="2600" dirty="0"/>
          </a:p>
        </p:txBody>
      </p:sp>
      <p:sp>
        <p:nvSpPr>
          <p:cNvPr id="7" name="Number System list"/>
          <p:cNvSpPr txBox="1"/>
          <p:nvPr/>
        </p:nvSpPr>
        <p:spPr>
          <a:xfrm>
            <a:off x="822960" y="25146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Decimal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Binary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Hexa Decimal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Octal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Addition / Subtraction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Multiplication / Division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How Computer Add or Subtract</a:t>
            </a:r>
            <a:endParaRPr lang="en-US" sz="2400" dirty="0"/>
          </a:p>
        </p:txBody>
      </p:sp>
      <p:sp>
        <p:nvSpPr>
          <p:cNvPr id="8" name="Card Gates"/>
          <p:cNvSpPr/>
          <p:nvPr/>
        </p:nvSpPr>
        <p:spPr>
          <a:xfrm>
            <a:off x="4873752" y="1463040"/>
            <a:ext cx="3429000" cy="470916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Gates circle"/>
          <p:cNvSpPr/>
          <p:nvPr/>
        </p:nvSpPr>
        <p:spPr>
          <a:xfrm>
            <a:off x="5102352" y="16916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Gat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372" y="18516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79592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Gates</a:t>
            </a:r>
            <a:endParaRPr lang="en-US" sz="2600" dirty="0"/>
          </a:p>
        </p:txBody>
      </p:sp>
      <p:sp>
        <p:nvSpPr>
          <p:cNvPr id="12" name="Gates list"/>
          <p:cNvSpPr txBox="1"/>
          <p:nvPr/>
        </p:nvSpPr>
        <p:spPr>
          <a:xfrm>
            <a:off x="5148072" y="2514600"/>
            <a:ext cx="2971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Boolean Algebra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types of Boolean Algebra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K-Map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etc</a:t>
            </a:r>
            <a:endParaRPr lang="en-US" sz="2400" dirty="0"/>
          </a:p>
        </p:txBody>
      </p:sp>
      <p:sp>
        <p:nvSpPr>
          <p:cNvPr id="13" name="Card Circuits"/>
          <p:cNvSpPr/>
          <p:nvPr/>
        </p:nvSpPr>
        <p:spPr>
          <a:xfrm>
            <a:off x="8513064" y="1463040"/>
            <a:ext cx="3337560" cy="47091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ircuits circle"/>
          <p:cNvSpPr/>
          <p:nvPr/>
        </p:nvSpPr>
        <p:spPr>
          <a:xfrm>
            <a:off x="8741664" y="169164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Circuit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684" y="18516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518904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Circuits</a:t>
            </a:r>
            <a:endParaRPr lang="en-US" sz="2600" dirty="0"/>
          </a:p>
        </p:txBody>
      </p:sp>
      <p:sp>
        <p:nvSpPr>
          <p:cNvPr id="17" name="Circuits list"/>
          <p:cNvSpPr txBox="1"/>
          <p:nvPr/>
        </p:nvSpPr>
        <p:spPr>
          <a:xfrm>
            <a:off x="8787384" y="2514600"/>
            <a:ext cx="2880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Combinational Circuit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Can't store Data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Sequential Circuit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Can store Data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Number System</a:t>
            </a:r>
            <a:endParaRPr lang="en-US" sz="3600" dirty="0"/>
          </a:p>
        </p:txBody>
      </p:sp>
      <p:sp>
        <p:nvSpPr>
          <p:cNvPr id="3" name="Definition card"/>
          <p:cNvSpPr/>
          <p:nvPr/>
        </p:nvSpPr>
        <p:spPr>
          <a:xfrm>
            <a:off x="548640" y="1508760"/>
            <a:ext cx="1109167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It is Basically a system in which we able to know how to express a Number and how to deal with the Number.</a:t>
            </a:r>
            <a:endParaRPr lang="en-US" sz="2600" dirty="0"/>
          </a:p>
        </p:txBody>
      </p:sp>
      <p:sp>
        <p:nvSpPr>
          <p:cNvPr id="4" name="Point 1 circle"/>
          <p:cNvSpPr/>
          <p:nvPr/>
        </p:nvSpPr>
        <p:spPr>
          <a:xfrm>
            <a:off x="685800" y="33375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oin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35090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33375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Add / Sub / Multiplication / Division</a:t>
            </a:r>
            <a:endParaRPr lang="en-US" sz="2600" dirty="0"/>
          </a:p>
        </p:txBody>
      </p:sp>
      <p:sp>
        <p:nvSpPr>
          <p:cNvPr id="7" name="Point 2 circle"/>
          <p:cNvSpPr/>
          <p:nvPr/>
        </p:nvSpPr>
        <p:spPr>
          <a:xfrm>
            <a:off x="685800" y="42976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Poin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446913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42976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How to convert a number from one system to another</a:t>
            </a:r>
            <a:endParaRPr lang="en-US" sz="2600" dirty="0"/>
          </a:p>
        </p:txBody>
      </p:sp>
      <p:sp>
        <p:nvSpPr>
          <p:cNvPr id="10" name="Point 3 circle"/>
          <p:cNvSpPr/>
          <p:nvPr/>
        </p:nvSpPr>
        <p:spPr>
          <a:xfrm>
            <a:off x="685800" y="5257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Poin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542925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45920" y="52578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etc.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Number Systems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548640" y="150876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ber 1"/>
          <p:cNvSpPr/>
          <p:nvPr/>
        </p:nvSpPr>
        <p:spPr>
          <a:xfrm>
            <a:off x="914400" y="210312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Decimal Number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2651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Base 10</a:t>
            </a:r>
            <a:endParaRPr lang="en-US" sz="2800" dirty="0"/>
          </a:p>
        </p:txBody>
      </p:sp>
      <p:sp>
        <p:nvSpPr>
          <p:cNvPr id="7" name="Card 2"/>
          <p:cNvSpPr/>
          <p:nvPr/>
        </p:nvSpPr>
        <p:spPr>
          <a:xfrm>
            <a:off x="6245352" y="150876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ber 2"/>
          <p:cNvSpPr/>
          <p:nvPr/>
        </p:nvSpPr>
        <p:spPr>
          <a:xfrm>
            <a:off x="6611112" y="210312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891272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Binary Numbers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891272" y="2651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Base 2</a:t>
            </a:r>
            <a:endParaRPr lang="en-US" sz="2800" dirty="0"/>
          </a:p>
        </p:txBody>
      </p:sp>
      <p:sp>
        <p:nvSpPr>
          <p:cNvPr id="11" name="Card 3"/>
          <p:cNvSpPr/>
          <p:nvPr/>
        </p:nvSpPr>
        <p:spPr>
          <a:xfrm>
            <a:off x="548640" y="397764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umber 3"/>
          <p:cNvSpPr/>
          <p:nvPr/>
        </p:nvSpPr>
        <p:spPr>
          <a:xfrm>
            <a:off x="914400" y="4572000"/>
            <a:ext cx="1005840" cy="10058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4389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Octal Number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5120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Base 8</a:t>
            </a:r>
            <a:endParaRPr lang="en-US" sz="2800" dirty="0"/>
          </a:p>
        </p:txBody>
      </p:sp>
      <p:sp>
        <p:nvSpPr>
          <p:cNvPr id="15" name="Card 4"/>
          <p:cNvSpPr/>
          <p:nvPr/>
        </p:nvSpPr>
        <p:spPr>
          <a:xfrm>
            <a:off x="6245352" y="397764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ber 4"/>
          <p:cNvSpPr/>
          <p:nvPr/>
        </p:nvSpPr>
        <p:spPr>
          <a:xfrm>
            <a:off x="6611112" y="457200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891272" y="4389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Hexadecimal Number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891272" y="5120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Base 16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Number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Definition:</a:t>
            </a:r>
            <a:endParaRPr lang="en-US" sz="2200" dirty="0"/>
          </a:p>
        </p:txBody>
      </p:sp>
      <p:sp>
        <p:nvSpPr>
          <p:cNvPr id="4" name="Definition text"/>
          <p:cNvSpPr txBox="1"/>
          <p:nvPr/>
        </p:nvSpPr>
        <p:spPr>
          <a:xfrm>
            <a:off x="548640" y="164592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It is a standard number system used to represent integers and non-integer numbers.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This is the number system we use in daily life.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Digits: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0876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46888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8912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34924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0936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26948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8972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9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Base (Radix):  </a:t>
            </a:r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29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Representation: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5458968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(375)₁₀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697480" y="5458968"/>
            <a:ext cx="22860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(25.75)₁₀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212080" y="5458968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(100)₁₀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60920" y="5458968"/>
            <a:ext cx="246888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(13.625)₁₀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Binary Number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Definition:</a:t>
            </a:r>
            <a:endParaRPr lang="en-US" sz="2200" dirty="0"/>
          </a:p>
        </p:txBody>
      </p:sp>
      <p:sp>
        <p:nvSpPr>
          <p:cNvPr id="4" name="Definition text"/>
          <p:cNvSpPr txBox="1"/>
          <p:nvPr/>
        </p:nvSpPr>
        <p:spPr>
          <a:xfrm>
            <a:off x="548640" y="164592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Binary is the language of computers. It uses only two digits.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It's used to store, access, and manipulate data in computers.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Digits: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0876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Base (Radix):  </a:t>
            </a:r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29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Representation: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5458968"/>
            <a:ext cx="28346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(101110111)₂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11880" y="5458968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(11001)₂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0" y="5458968"/>
            <a:ext cx="22860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(101101)₂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458200" y="5458968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(1101.101)₂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Octal Number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Definition:</a:t>
            </a:r>
            <a:endParaRPr lang="en-US" sz="2200" dirty="0"/>
          </a:p>
        </p:txBody>
      </p:sp>
      <p:sp>
        <p:nvSpPr>
          <p:cNvPr id="4" name="Definition text"/>
          <p:cNvSpPr txBox="1"/>
          <p:nvPr/>
        </p:nvSpPr>
        <p:spPr>
          <a:xfrm>
            <a:off x="548640" y="164592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Octal number system uses 8 digits. One octal digit represents exactly 3 binary bits.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It is convenient for representing binary numbers in shorter form.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Digits: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0876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46888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8912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34924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0936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269480" y="3273552"/>
            <a:ext cx="822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7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434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Base (Radix):  </a:t>
            </a:r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8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29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Representation: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5458968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(567)₈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14600" y="5458968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(144)₈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80560" y="5458968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(31.6)₈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29400" y="5458968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(113.2)₈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Hexadecimal Number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Definition:</a:t>
            </a:r>
            <a:endParaRPr lang="en-US" sz="2200" dirty="0"/>
          </a:p>
        </p:txBody>
      </p:sp>
      <p:sp>
        <p:nvSpPr>
          <p:cNvPr id="4" name="Definition text"/>
          <p:cNvSpPr txBox="1"/>
          <p:nvPr/>
        </p:nvSpPr>
        <p:spPr>
          <a:xfrm>
            <a:off x="548640" y="164592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Hexadecimal uses 16 symbols. One hex digit represents exactly 4 binary bits.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Widely used in memory addresses, color codes, and debugging.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Digits &amp; Characters: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43584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938528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33472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28416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23360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18304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13248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08192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03136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193024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887968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582912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0277856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972800" y="3273552"/>
            <a:ext cx="621792" cy="6400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8678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A=10   B=11   C=12   D=13   E=14   F=15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434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Base (Radix):  </a:t>
            </a:r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16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29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Representation: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8640" y="5458968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(177)₁₆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697480" y="5458968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(FF)₁₆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663440" y="5458968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(17D)₁₆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812280" y="5458968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(2D.4)₁₆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CONVERSIONS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7490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Decimal → Binary / Octal / Hexadecimal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Binary / Octal / Hexadecimal → Decimal</a:t>
            </a:r>
            <a:endParaRPr lang="en-US" sz="2600" dirty="0"/>
          </a:p>
        </p:txBody>
      </p:sp>
      <p:sp>
        <p:nvSpPr>
          <p:cNvPr id="4" name="Icon circle"/>
          <p:cNvSpPr/>
          <p:nvPr/>
        </p:nvSpPr>
        <p:spPr>
          <a:xfrm>
            <a:off x="9235440" y="2240280"/>
            <a:ext cx="2377440" cy="2377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8346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BINARY CONVERSION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(375)₁₀ → Binary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64008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00784" y="1874520"/>
            <a:ext cx="1645920" cy="405384"/>
          </a:xfrm>
          <a:prstGeom prst="roundRect">
            <a:avLst>
              <a:gd name="adj" fmla="val 1804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375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62200"/>
            <a:ext cx="64008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00784" y="2362200"/>
            <a:ext cx="1645920" cy="405384"/>
          </a:xfrm>
          <a:prstGeom prst="roundRect">
            <a:avLst>
              <a:gd name="adj" fmla="val 1804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187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74720" y="2362200"/>
            <a:ext cx="914400" cy="405384"/>
          </a:xfrm>
          <a:prstGeom prst="roundRect">
            <a:avLst>
              <a:gd name="adj" fmla="val 1804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49880"/>
            <a:ext cx="64008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00784" y="2849880"/>
            <a:ext cx="1645920" cy="405384"/>
          </a:xfrm>
          <a:prstGeom prst="roundRect">
            <a:avLst>
              <a:gd name="adj" fmla="val 1804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93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2849880"/>
            <a:ext cx="914400" cy="405384"/>
          </a:xfrm>
          <a:prstGeom prst="roundRect">
            <a:avLst>
              <a:gd name="adj" fmla="val 1804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37560"/>
            <a:ext cx="64008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00784" y="3337560"/>
            <a:ext cx="1645920" cy="405384"/>
          </a:xfrm>
          <a:prstGeom prst="roundRect">
            <a:avLst>
              <a:gd name="adj" fmla="val 1804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74720" y="3337560"/>
            <a:ext cx="914400" cy="405384"/>
          </a:xfrm>
          <a:prstGeom prst="roundRect">
            <a:avLst>
              <a:gd name="adj" fmla="val 1804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825240"/>
            <a:ext cx="64008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00784" y="3825240"/>
            <a:ext cx="1645920" cy="405384"/>
          </a:xfrm>
          <a:prstGeom prst="roundRect">
            <a:avLst>
              <a:gd name="adj" fmla="val 1804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74720" y="3825240"/>
            <a:ext cx="914400" cy="405384"/>
          </a:xfrm>
          <a:prstGeom prst="roundRect">
            <a:avLst>
              <a:gd name="adj" fmla="val 1804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312920"/>
            <a:ext cx="64008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00784" y="4312920"/>
            <a:ext cx="1645920" cy="405384"/>
          </a:xfrm>
          <a:prstGeom prst="roundRect">
            <a:avLst>
              <a:gd name="adj" fmla="val 1804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474720" y="4312920"/>
            <a:ext cx="914400" cy="405384"/>
          </a:xfrm>
          <a:prstGeom prst="roundRect">
            <a:avLst>
              <a:gd name="adj" fmla="val 1804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800600"/>
            <a:ext cx="64008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00784" y="4800600"/>
            <a:ext cx="1645920" cy="405384"/>
          </a:xfrm>
          <a:prstGeom prst="roundRect">
            <a:avLst>
              <a:gd name="adj" fmla="val 1804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474720" y="4800600"/>
            <a:ext cx="914400" cy="405384"/>
          </a:xfrm>
          <a:prstGeom prst="roundRect">
            <a:avLst>
              <a:gd name="adj" fmla="val 1804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288280"/>
            <a:ext cx="64008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700784" y="5288280"/>
            <a:ext cx="1645920" cy="405384"/>
          </a:xfrm>
          <a:prstGeom prst="roundRect">
            <a:avLst>
              <a:gd name="adj" fmla="val 1804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474720" y="5288280"/>
            <a:ext cx="914400" cy="405384"/>
          </a:xfrm>
          <a:prstGeom prst="roundRect">
            <a:avLst>
              <a:gd name="adj" fmla="val 1804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700784" y="5775960"/>
            <a:ext cx="1645920" cy="405384"/>
          </a:xfrm>
          <a:prstGeom prst="roundRect">
            <a:avLst>
              <a:gd name="adj" fmla="val 1804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474720" y="5775960"/>
            <a:ext cx="914400" cy="405384"/>
          </a:xfrm>
          <a:prstGeom prst="roundRect">
            <a:avLst>
              <a:gd name="adj" fmla="val 1804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572768" y="1874520"/>
            <a:ext cx="0" cy="43434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72768" y="2321052"/>
            <a:ext cx="190195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31" name="Read direction arrow"/>
          <p:cNvSpPr/>
          <p:nvPr/>
        </p:nvSpPr>
        <p:spPr>
          <a:xfrm>
            <a:off x="4663440" y="2362200"/>
            <a:ext cx="384048" cy="3819144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Note card"/>
          <p:cNvSpPr/>
          <p:nvPr/>
        </p:nvSpPr>
        <p:spPr>
          <a:xfrm>
            <a:off x="6126480" y="2194560"/>
            <a:ext cx="551383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Note arrow"/>
          <p:cNvSpPr/>
          <p:nvPr/>
        </p:nvSpPr>
        <p:spPr>
          <a:xfrm>
            <a:off x="6446520" y="2468880"/>
            <a:ext cx="548640" cy="822960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0" y="22860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Read remainders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bottom → top</a:t>
            </a:r>
            <a:endParaRPr lang="en-US" sz="2600" dirty="0"/>
          </a:p>
        </p:txBody>
      </p:sp>
      <p:sp>
        <p:nvSpPr>
          <p:cNvPr id="35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(101110111)₂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BINARY CONVERSION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(25)₁₀ → Binary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83664" y="1874520"/>
            <a:ext cx="1920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25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83664" y="2606040"/>
            <a:ext cx="1920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931920" y="2606040"/>
            <a:ext cx="118872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83664" y="3337560"/>
            <a:ext cx="1920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931920" y="3337560"/>
            <a:ext cx="118872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6908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883664" y="4069080"/>
            <a:ext cx="1920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931920" y="4069080"/>
            <a:ext cx="118872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0060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883664" y="4800600"/>
            <a:ext cx="1920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931920" y="4800600"/>
            <a:ext cx="118872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883664" y="5532120"/>
            <a:ext cx="192024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931920" y="5532120"/>
            <a:ext cx="118872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1755648" y="1874520"/>
            <a:ext cx="0" cy="43434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55648" y="2564892"/>
            <a:ext cx="217627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2" name="Read direction arrow"/>
          <p:cNvSpPr/>
          <p:nvPr/>
        </p:nvSpPr>
        <p:spPr>
          <a:xfrm>
            <a:off x="5394960" y="2606040"/>
            <a:ext cx="384048" cy="3575304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ote card"/>
          <p:cNvSpPr/>
          <p:nvPr/>
        </p:nvSpPr>
        <p:spPr>
          <a:xfrm>
            <a:off x="6126480" y="2194560"/>
            <a:ext cx="551383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ote arrow"/>
          <p:cNvSpPr/>
          <p:nvPr/>
        </p:nvSpPr>
        <p:spPr>
          <a:xfrm>
            <a:off x="6446520" y="2468880"/>
            <a:ext cx="548640" cy="822960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22860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Read remainders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bottom → top</a:t>
            </a:r>
            <a:endParaRPr lang="en-US" sz="2600" dirty="0"/>
          </a:p>
        </p:txBody>
      </p:sp>
      <p:sp>
        <p:nvSpPr>
          <p:cNvPr id="26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(11001)₂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BINARY CONVERSION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(45)₁₀ → Binary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83664" y="1874520"/>
            <a:ext cx="1920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45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83664" y="2606040"/>
            <a:ext cx="1920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22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931920" y="2606040"/>
            <a:ext cx="118872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83664" y="3337560"/>
            <a:ext cx="1920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931920" y="3337560"/>
            <a:ext cx="118872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6908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883664" y="4069080"/>
            <a:ext cx="1920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931920" y="4069080"/>
            <a:ext cx="118872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0060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883664" y="4800600"/>
            <a:ext cx="1920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931920" y="4800600"/>
            <a:ext cx="118872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883664" y="5532120"/>
            <a:ext cx="192024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931920" y="5532120"/>
            <a:ext cx="118872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1755648" y="1874520"/>
            <a:ext cx="0" cy="43434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55648" y="2564892"/>
            <a:ext cx="217627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2" name="Read direction arrow"/>
          <p:cNvSpPr/>
          <p:nvPr/>
        </p:nvSpPr>
        <p:spPr>
          <a:xfrm>
            <a:off x="5394960" y="2606040"/>
            <a:ext cx="384048" cy="3575304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ote card"/>
          <p:cNvSpPr/>
          <p:nvPr/>
        </p:nvSpPr>
        <p:spPr>
          <a:xfrm>
            <a:off x="6126480" y="2194560"/>
            <a:ext cx="551383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ote arrow"/>
          <p:cNvSpPr/>
          <p:nvPr/>
        </p:nvSpPr>
        <p:spPr>
          <a:xfrm>
            <a:off x="6446520" y="2468880"/>
            <a:ext cx="548640" cy="822960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22860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Read remainders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bottom → top</a:t>
            </a:r>
            <a:endParaRPr lang="en-US" sz="2600" dirty="0"/>
          </a:p>
        </p:txBody>
      </p:sp>
      <p:sp>
        <p:nvSpPr>
          <p:cNvPr id="26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(101101)₂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BINARY CONVERSION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(100)₁₀ → Binary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640080" cy="54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00784" y="1874520"/>
            <a:ext cx="1645920" cy="544721"/>
          </a:xfrm>
          <a:prstGeom prst="roundRect">
            <a:avLst>
              <a:gd name="adj" fmla="val 13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01537"/>
            <a:ext cx="640080" cy="54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00784" y="2501537"/>
            <a:ext cx="1645920" cy="544721"/>
          </a:xfrm>
          <a:prstGeom prst="roundRect">
            <a:avLst>
              <a:gd name="adj" fmla="val 13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74720" y="2501537"/>
            <a:ext cx="914400" cy="544721"/>
          </a:xfrm>
          <a:prstGeom prst="roundRect">
            <a:avLst>
              <a:gd name="adj" fmla="val 1342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28554"/>
            <a:ext cx="640080" cy="54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00784" y="3128554"/>
            <a:ext cx="1645920" cy="544721"/>
          </a:xfrm>
          <a:prstGeom prst="roundRect">
            <a:avLst>
              <a:gd name="adj" fmla="val 13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3128554"/>
            <a:ext cx="914400" cy="544721"/>
          </a:xfrm>
          <a:prstGeom prst="roundRect">
            <a:avLst>
              <a:gd name="adj" fmla="val 1342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55571"/>
            <a:ext cx="640080" cy="54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00784" y="3755571"/>
            <a:ext cx="1645920" cy="544721"/>
          </a:xfrm>
          <a:prstGeom prst="roundRect">
            <a:avLst>
              <a:gd name="adj" fmla="val 13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74720" y="3755571"/>
            <a:ext cx="914400" cy="544721"/>
          </a:xfrm>
          <a:prstGeom prst="roundRect">
            <a:avLst>
              <a:gd name="adj" fmla="val 1342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82589"/>
            <a:ext cx="640080" cy="54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00784" y="4382589"/>
            <a:ext cx="1645920" cy="544721"/>
          </a:xfrm>
          <a:prstGeom prst="roundRect">
            <a:avLst>
              <a:gd name="adj" fmla="val 13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74720" y="4382589"/>
            <a:ext cx="914400" cy="544721"/>
          </a:xfrm>
          <a:prstGeom prst="roundRect">
            <a:avLst>
              <a:gd name="adj" fmla="val 1342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09606"/>
            <a:ext cx="640080" cy="54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00784" y="5009606"/>
            <a:ext cx="1645920" cy="544721"/>
          </a:xfrm>
          <a:prstGeom prst="roundRect">
            <a:avLst>
              <a:gd name="adj" fmla="val 13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474720" y="5009606"/>
            <a:ext cx="914400" cy="544721"/>
          </a:xfrm>
          <a:prstGeom prst="roundRect">
            <a:avLst>
              <a:gd name="adj" fmla="val 1342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700784" y="5636623"/>
            <a:ext cx="1645920" cy="544721"/>
          </a:xfrm>
          <a:prstGeom prst="roundRect">
            <a:avLst>
              <a:gd name="adj" fmla="val 1342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474720" y="5636623"/>
            <a:ext cx="914400" cy="544721"/>
          </a:xfrm>
          <a:prstGeom prst="roundRect">
            <a:avLst>
              <a:gd name="adj" fmla="val 1342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572768" y="1874520"/>
            <a:ext cx="0" cy="43434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72768" y="2460389"/>
            <a:ext cx="190195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5" name="Read direction arrow"/>
          <p:cNvSpPr/>
          <p:nvPr/>
        </p:nvSpPr>
        <p:spPr>
          <a:xfrm>
            <a:off x="4663440" y="2501537"/>
            <a:ext cx="384048" cy="3679807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Note card"/>
          <p:cNvSpPr/>
          <p:nvPr/>
        </p:nvSpPr>
        <p:spPr>
          <a:xfrm>
            <a:off x="6126480" y="2194560"/>
            <a:ext cx="551383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Note arrow"/>
          <p:cNvSpPr/>
          <p:nvPr/>
        </p:nvSpPr>
        <p:spPr>
          <a:xfrm>
            <a:off x="6446520" y="2468880"/>
            <a:ext cx="548640" cy="822960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0" y="22860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Read remainders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bottom → top</a:t>
            </a:r>
            <a:endParaRPr lang="en-US" sz="2600" dirty="0"/>
          </a:p>
        </p:txBody>
      </p:sp>
      <p:sp>
        <p:nvSpPr>
          <p:cNvPr id="29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(1100100)₂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BINARY CONVERSION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(13)₁₀ → Binary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83664" y="187452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83664" y="274320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931920" y="2743200"/>
            <a:ext cx="118872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83664" y="361188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931920" y="3611880"/>
            <a:ext cx="118872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8056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883664" y="448056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931920" y="4480560"/>
            <a:ext cx="118872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883664" y="534924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931920" y="5349240"/>
            <a:ext cx="118872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1755648" y="1874520"/>
            <a:ext cx="0" cy="429768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55648" y="2702052"/>
            <a:ext cx="217627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9" name="Read direction arrow"/>
          <p:cNvSpPr/>
          <p:nvPr/>
        </p:nvSpPr>
        <p:spPr>
          <a:xfrm>
            <a:off x="5394960" y="2743200"/>
            <a:ext cx="384048" cy="3392424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ote card"/>
          <p:cNvSpPr/>
          <p:nvPr/>
        </p:nvSpPr>
        <p:spPr>
          <a:xfrm>
            <a:off x="6126480" y="2194560"/>
            <a:ext cx="551383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ote arrow"/>
          <p:cNvSpPr/>
          <p:nvPr/>
        </p:nvSpPr>
        <p:spPr>
          <a:xfrm>
            <a:off x="6446520" y="2468880"/>
            <a:ext cx="548640" cy="822960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0" y="22860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Read remainders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bottom → top</a:t>
            </a:r>
            <a:endParaRPr lang="en-US" sz="2600" dirty="0"/>
          </a:p>
        </p:txBody>
      </p:sp>
      <p:sp>
        <p:nvSpPr>
          <p:cNvPr id="23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(1101)₂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BINARY (with Point)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(75.25)₁₀ → Binary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Integer Part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640080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00784" y="2286000"/>
            <a:ext cx="1371600" cy="479407"/>
          </a:xfrm>
          <a:prstGeom prst="roundRect">
            <a:avLst>
              <a:gd name="adj" fmla="val 1525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75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47703"/>
            <a:ext cx="640080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00784" y="2847703"/>
            <a:ext cx="1371600" cy="479407"/>
          </a:xfrm>
          <a:prstGeom prst="roundRect">
            <a:avLst>
              <a:gd name="adj" fmla="val 1525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0" y="2847703"/>
            <a:ext cx="822960" cy="479407"/>
          </a:xfrm>
          <a:prstGeom prst="roundRect">
            <a:avLst>
              <a:gd name="adj" fmla="val 1525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09406"/>
            <a:ext cx="640080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00784" y="3409406"/>
            <a:ext cx="1371600" cy="479407"/>
          </a:xfrm>
          <a:prstGeom prst="roundRect">
            <a:avLst>
              <a:gd name="adj" fmla="val 1525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0" y="3409406"/>
            <a:ext cx="822960" cy="479407"/>
          </a:xfrm>
          <a:prstGeom prst="roundRect">
            <a:avLst>
              <a:gd name="adj" fmla="val 1525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971109"/>
            <a:ext cx="640080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00784" y="3971109"/>
            <a:ext cx="1371600" cy="479407"/>
          </a:xfrm>
          <a:prstGeom prst="roundRect">
            <a:avLst>
              <a:gd name="adj" fmla="val 1525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00400" y="3971109"/>
            <a:ext cx="822960" cy="479407"/>
          </a:xfrm>
          <a:prstGeom prst="roundRect">
            <a:avLst>
              <a:gd name="adj" fmla="val 1525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32811"/>
            <a:ext cx="640080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00784" y="4532811"/>
            <a:ext cx="1371600" cy="479407"/>
          </a:xfrm>
          <a:prstGeom prst="roundRect">
            <a:avLst>
              <a:gd name="adj" fmla="val 1525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00400" y="4532811"/>
            <a:ext cx="822960" cy="479407"/>
          </a:xfrm>
          <a:prstGeom prst="roundRect">
            <a:avLst>
              <a:gd name="adj" fmla="val 1525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094514"/>
            <a:ext cx="640080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00784" y="5094514"/>
            <a:ext cx="1371600" cy="479407"/>
          </a:xfrm>
          <a:prstGeom prst="roundRect">
            <a:avLst>
              <a:gd name="adj" fmla="val 1525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00400" y="5094514"/>
            <a:ext cx="822960" cy="479407"/>
          </a:xfrm>
          <a:prstGeom prst="roundRect">
            <a:avLst>
              <a:gd name="adj" fmla="val 1525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00784" y="5656217"/>
            <a:ext cx="1371600" cy="479407"/>
          </a:xfrm>
          <a:prstGeom prst="roundRect">
            <a:avLst>
              <a:gd name="adj" fmla="val 1525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200400" y="5656217"/>
            <a:ext cx="822960" cy="479407"/>
          </a:xfrm>
          <a:prstGeom prst="roundRect">
            <a:avLst>
              <a:gd name="adj" fmla="val 1525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572768" y="2286000"/>
            <a:ext cx="0" cy="38862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72768" y="2806555"/>
            <a:ext cx="162763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6" name="Read direction arrow"/>
          <p:cNvSpPr/>
          <p:nvPr/>
        </p:nvSpPr>
        <p:spPr>
          <a:xfrm>
            <a:off x="4297680" y="2847703"/>
            <a:ext cx="384048" cy="3287921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2648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Fractional Part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26480" y="2286000"/>
            <a:ext cx="3566160" cy="649224"/>
          </a:xfrm>
          <a:prstGeom prst="roundRect">
            <a:avLst>
              <a:gd name="adj" fmla="val 1126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0.25 × 2 = 0.50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9738360" y="2286000"/>
            <a:ext cx="502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→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0287000" y="2286000"/>
            <a:ext cx="731520" cy="649224"/>
          </a:xfrm>
          <a:prstGeom prst="roundRect">
            <a:avLst>
              <a:gd name="adj" fmla="val 1126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0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126480" y="3063240"/>
            <a:ext cx="3566160" cy="649224"/>
          </a:xfrm>
          <a:prstGeom prst="roundRect">
            <a:avLst>
              <a:gd name="adj" fmla="val 1126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0.50 × 2 = 1.00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9738360" y="3063240"/>
            <a:ext cx="502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→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0287000" y="3063240"/>
            <a:ext cx="731520" cy="649224"/>
          </a:xfrm>
          <a:prstGeom prst="roundRect">
            <a:avLst>
              <a:gd name="adj" fmla="val 1126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</a:t>
            </a:r>
            <a:endParaRPr lang="en-US" sz="2800" dirty="0"/>
          </a:p>
        </p:txBody>
      </p:sp>
      <p:sp>
        <p:nvSpPr>
          <p:cNvPr id="34" name="Fraction direction arrow"/>
          <p:cNvSpPr/>
          <p:nvPr/>
        </p:nvSpPr>
        <p:spPr>
          <a:xfrm>
            <a:off x="6126480" y="3931920"/>
            <a:ext cx="384048" cy="548640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7512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top → bottom</a:t>
            </a:r>
            <a:endParaRPr lang="en-US" sz="2400" dirty="0"/>
          </a:p>
        </p:txBody>
      </p:sp>
      <p:sp>
        <p:nvSpPr>
          <p:cNvPr id="36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(1001011.01)₂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BINARY (with Point)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(13.625)₁₀ → Binary</a:t>
            </a:r>
            <a:endParaRPr lang="en-US" sz="2800" dirty="0"/>
          </a:p>
        </p:txBody>
      </p:sp>
      <p:sp>
        <p:nvSpPr>
          <p:cNvPr id="4" name="Integer card"/>
          <p:cNvSpPr/>
          <p:nvPr/>
        </p:nvSpPr>
        <p:spPr>
          <a:xfrm>
            <a:off x="548640" y="1874520"/>
            <a:ext cx="53949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  <p:txBody>
          <a:bodyPr wrap="square" lIns="3810" tIns="3810" rIns="3810" bIns="381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Integer: 13 → 1101₂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Fractional: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3657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0.625 × 2 = 1.25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3520440"/>
            <a:ext cx="502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00600" y="3520440"/>
            <a:ext cx="731520" cy="740664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3657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0.25 × 2 = 0.50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4389120"/>
            <a:ext cx="502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00600" y="4389120"/>
            <a:ext cx="731520" cy="740664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5257800"/>
            <a:ext cx="3657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0.50 × 2 = 1.00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5257800"/>
            <a:ext cx="502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00600" y="5257800"/>
            <a:ext cx="731520" cy="740664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</a:t>
            </a:r>
            <a:endParaRPr lang="en-US" sz="2800" dirty="0"/>
          </a:p>
        </p:txBody>
      </p:sp>
      <p:sp>
        <p:nvSpPr>
          <p:cNvPr id="15" name="Answer"/>
          <p:cNvSpPr/>
          <p:nvPr/>
        </p:nvSpPr>
        <p:spPr>
          <a:xfrm>
            <a:off x="6400800" y="2377440"/>
            <a:ext cx="5239512" cy="2377440"/>
          </a:xfrm>
          <a:prstGeom prst="roundRect">
            <a:avLst>
              <a:gd name="adj" fmla="val 4615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(1101.101)₂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OCTAL CONVERSION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(375)₁₀ → Octal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8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83664" y="187452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375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83664" y="274320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46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931920" y="2743200"/>
            <a:ext cx="118872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7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83664" y="361188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931920" y="3611880"/>
            <a:ext cx="118872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883664" y="448056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931920" y="4480560"/>
            <a:ext cx="118872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5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1755648" y="1874520"/>
            <a:ext cx="0" cy="34290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55648" y="2702052"/>
            <a:ext cx="217627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6" name="Read direction arrow"/>
          <p:cNvSpPr/>
          <p:nvPr/>
        </p:nvSpPr>
        <p:spPr>
          <a:xfrm>
            <a:off x="5394960" y="2743200"/>
            <a:ext cx="384048" cy="2523744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(567)₈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OCTAL CONVERSION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(100)₁₀ → Octal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8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83664" y="187452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83664" y="274320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931920" y="2743200"/>
            <a:ext cx="118872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83664" y="361188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931920" y="3611880"/>
            <a:ext cx="118872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883664" y="448056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931920" y="4480560"/>
            <a:ext cx="118872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1755648" y="1874520"/>
            <a:ext cx="0" cy="34290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55648" y="2702052"/>
            <a:ext cx="217627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6" name="Read direction arrow"/>
          <p:cNvSpPr/>
          <p:nvPr/>
        </p:nvSpPr>
        <p:spPr>
          <a:xfrm>
            <a:off x="5394960" y="2743200"/>
            <a:ext cx="384048" cy="2523744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(144)₈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OCTAL CONVERSION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(50)₁₀ → Octal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8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83664" y="187452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50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83664" y="274320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931920" y="2743200"/>
            <a:ext cx="118872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883664" y="3611880"/>
            <a:ext cx="19202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931920" y="3611880"/>
            <a:ext cx="118872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6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755648" y="1874520"/>
            <a:ext cx="0" cy="256032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5648" y="2702052"/>
            <a:ext cx="217627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3" name="Read direction arrow"/>
          <p:cNvSpPr/>
          <p:nvPr/>
        </p:nvSpPr>
        <p:spPr>
          <a:xfrm>
            <a:off x="5394960" y="2743200"/>
            <a:ext cx="384048" cy="1655064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(62)₈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OCTAL (with Point)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(75.25)₁₀ → Octal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Integer Part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83664" y="2286000"/>
            <a:ext cx="1371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75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83664" y="3017520"/>
            <a:ext cx="1371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3017520"/>
            <a:ext cx="82296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83664" y="3749040"/>
            <a:ext cx="137160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83280" y="3749040"/>
            <a:ext cx="82296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1755648" y="2286000"/>
            <a:ext cx="0" cy="21488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55648" y="2976372"/>
            <a:ext cx="162763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4" name="Read direction arrow"/>
          <p:cNvSpPr/>
          <p:nvPr/>
        </p:nvSpPr>
        <p:spPr>
          <a:xfrm>
            <a:off x="4480560" y="3017520"/>
            <a:ext cx="384048" cy="1380744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Fractional Part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286000"/>
            <a:ext cx="3566160" cy="649224"/>
          </a:xfrm>
          <a:prstGeom prst="roundRect">
            <a:avLst>
              <a:gd name="adj" fmla="val 1126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0.25 × 8 = 2.00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738360" y="2286000"/>
            <a:ext cx="502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287000" y="2286000"/>
            <a:ext cx="731520" cy="649224"/>
          </a:xfrm>
          <a:prstGeom prst="roundRect">
            <a:avLst>
              <a:gd name="adj" fmla="val 1126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en-US" sz="2800" dirty="0"/>
          </a:p>
        </p:txBody>
      </p:sp>
      <p:sp>
        <p:nvSpPr>
          <p:cNvPr id="19" name="Fraction direction arrow"/>
          <p:cNvSpPr/>
          <p:nvPr/>
        </p:nvSpPr>
        <p:spPr>
          <a:xfrm>
            <a:off x="6126480" y="3154680"/>
            <a:ext cx="384048" cy="548640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top → bottom</a:t>
            </a:r>
            <a:endParaRPr lang="en-US" sz="2400" dirty="0"/>
          </a:p>
        </p:txBody>
      </p:sp>
      <p:sp>
        <p:nvSpPr>
          <p:cNvPr id="21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(113.2)₈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OCTAL (with Point)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(25.75)₁₀ → Octal</a:t>
            </a:r>
            <a:endParaRPr lang="en-US" sz="2800" dirty="0"/>
          </a:p>
        </p:txBody>
      </p:sp>
      <p:sp>
        <p:nvSpPr>
          <p:cNvPr id="4" name="Integer card"/>
          <p:cNvSpPr/>
          <p:nvPr/>
        </p:nvSpPr>
        <p:spPr>
          <a:xfrm>
            <a:off x="548640" y="1874520"/>
            <a:ext cx="53949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  <p:txBody>
          <a:bodyPr wrap="square" lIns="3810" tIns="3810" rIns="3810" bIns="381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Integer: 25 → 31₈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Fractional: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3657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0.75 × 8 = 6.00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3520440"/>
            <a:ext cx="502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00600" y="3520440"/>
            <a:ext cx="731520" cy="740664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6</a:t>
            </a:r>
            <a:endParaRPr lang="en-US" sz="2800" dirty="0"/>
          </a:p>
        </p:txBody>
      </p:sp>
      <p:sp>
        <p:nvSpPr>
          <p:cNvPr id="9" name="Answer"/>
          <p:cNvSpPr/>
          <p:nvPr/>
        </p:nvSpPr>
        <p:spPr>
          <a:xfrm>
            <a:off x="6400800" y="2377440"/>
            <a:ext cx="5239512" cy="2377440"/>
          </a:xfrm>
          <a:prstGeom prst="roundRect">
            <a:avLst>
              <a:gd name="adj" fmla="val 4615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(31.6)₈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HEXADECIMAL CONVERSION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(381)₁₀ → Hexadecimal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83664" y="187452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381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83664" y="274320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23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74720" y="274320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13 (D)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883664" y="361188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361188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7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755648" y="1874520"/>
            <a:ext cx="0" cy="256032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5648" y="2702052"/>
            <a:ext cx="171907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3" name="Read direction arrow"/>
          <p:cNvSpPr/>
          <p:nvPr/>
        </p:nvSpPr>
        <p:spPr>
          <a:xfrm>
            <a:off x="5212080" y="2743200"/>
            <a:ext cx="384048" cy="1655064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2377440"/>
            <a:ext cx="10113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Hex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090672"/>
            <a:ext cx="10113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Decimal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65822" y="2377440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5822" y="3090672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001000" y="2377440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001000" y="3090672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736178" y="2377440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736178" y="3090672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471355" y="2377440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471355" y="3090672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0206533" y="2377440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E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0206533" y="3090672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941710" y="2377440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F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0941710" y="3090672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15</a:t>
            </a:r>
            <a:endParaRPr lang="en-US" sz="2600" dirty="0"/>
          </a:p>
        </p:txBody>
      </p:sp>
      <p:sp>
        <p:nvSpPr>
          <p:cNvPr id="28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(17D)₁₆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HEXADECIMAL CONVERSION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(255)₁₀ → Hexadecimal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83664" y="187452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255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83664" y="274320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74720" y="274320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15 (F)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883664" y="361188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361188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15 (F)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755648" y="1874520"/>
            <a:ext cx="0" cy="256032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5648" y="2702052"/>
            <a:ext cx="171907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3" name="Read direction arrow"/>
          <p:cNvSpPr/>
          <p:nvPr/>
        </p:nvSpPr>
        <p:spPr>
          <a:xfrm>
            <a:off x="5212080" y="2743200"/>
            <a:ext cx="384048" cy="1655064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2377440"/>
            <a:ext cx="10113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Hex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090672"/>
            <a:ext cx="10113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Decimal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65822" y="2377440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5822" y="3090672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001000" y="2377440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001000" y="3090672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736178" y="2377440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736178" y="3090672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471355" y="2377440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471355" y="3090672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0206533" y="2377440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E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0206533" y="3090672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941710" y="2377440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F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0941710" y="3090672"/>
            <a:ext cx="662026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15</a:t>
            </a:r>
            <a:endParaRPr lang="en-US" sz="2600" dirty="0"/>
          </a:p>
        </p:txBody>
      </p:sp>
      <p:sp>
        <p:nvSpPr>
          <p:cNvPr id="28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(FF)₁₆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HEXADECIMAL CONVERSION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(100)₁₀ → Hexadecimal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83664" y="187452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83664" y="274320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74720" y="274320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883664" y="361188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361188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6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755648" y="1874520"/>
            <a:ext cx="0" cy="256032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5648" y="2702052"/>
            <a:ext cx="171907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3" name="Read direction arrow"/>
          <p:cNvSpPr/>
          <p:nvPr/>
        </p:nvSpPr>
        <p:spPr>
          <a:xfrm>
            <a:off x="5212080" y="2743200"/>
            <a:ext cx="384048" cy="1655064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(64)₁₆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HEXADECIMAL CONVERSION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(375)₁₀ → Hexadecimal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83664" y="187452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375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83664" y="274320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23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74720" y="274320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883664" y="361188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3611880"/>
            <a:ext cx="1463040" cy="758952"/>
          </a:xfrm>
          <a:prstGeom prst="roundRect">
            <a:avLst>
              <a:gd name="adj" fmla="val 963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7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755648" y="1874520"/>
            <a:ext cx="0" cy="256032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5648" y="2702052"/>
            <a:ext cx="171907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3" name="Read direction arrow"/>
          <p:cNvSpPr/>
          <p:nvPr/>
        </p:nvSpPr>
        <p:spPr>
          <a:xfrm>
            <a:off x="5212080" y="2743200"/>
            <a:ext cx="384048" cy="1655064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(177)₁₆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HEXADECIMAL (with Point)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(76.25)₁₀ → Hexadecimal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Integer: 76 → 4C₁₆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83664" y="2286000"/>
            <a:ext cx="1371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76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83664" y="3017520"/>
            <a:ext cx="1371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3017520"/>
            <a:ext cx="155448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12 (C)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83664" y="3749040"/>
            <a:ext cx="137160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83280" y="3749040"/>
            <a:ext cx="155448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4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1755648" y="2286000"/>
            <a:ext cx="0" cy="21488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55648" y="2976372"/>
            <a:ext cx="162763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4" name="Read direction arrow"/>
          <p:cNvSpPr/>
          <p:nvPr/>
        </p:nvSpPr>
        <p:spPr>
          <a:xfrm>
            <a:off x="5212080" y="3017520"/>
            <a:ext cx="384048" cy="1380744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Fractional: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286000"/>
            <a:ext cx="3566160" cy="649224"/>
          </a:xfrm>
          <a:prstGeom prst="roundRect">
            <a:avLst>
              <a:gd name="adj" fmla="val 1126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0.25 × 16 = 4.00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738360" y="2286000"/>
            <a:ext cx="502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287000" y="2286000"/>
            <a:ext cx="731520" cy="649224"/>
          </a:xfrm>
          <a:prstGeom prst="roundRect">
            <a:avLst>
              <a:gd name="adj" fmla="val 1126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3429000"/>
            <a:ext cx="10113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Hex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4050792"/>
            <a:ext cx="10113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Decimal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65822" y="3429000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65822" y="4050792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001000" y="3429000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B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001000" y="4050792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736178" y="3429000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736178" y="4050792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471355" y="3429000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471355" y="4050792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0206533" y="3429000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E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206533" y="4050792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941710" y="3429000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0941710" y="4050792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15</a:t>
            </a:r>
            <a:endParaRPr lang="en-US" sz="2400" dirty="0"/>
          </a:p>
        </p:txBody>
      </p:sp>
      <p:sp>
        <p:nvSpPr>
          <p:cNvPr id="33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(4C.4)₁₆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DECIMAL TO HEXADECIMAL (with Point)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(45.25)₁₀ → Hexadecimal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Integer: 45 → 2D₁₆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83664" y="2286000"/>
            <a:ext cx="1371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45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83664" y="3017520"/>
            <a:ext cx="1371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3017520"/>
            <a:ext cx="155448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13 (D)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83664" y="3749040"/>
            <a:ext cx="137160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83280" y="3749040"/>
            <a:ext cx="155448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1755648" y="2286000"/>
            <a:ext cx="0" cy="21488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55648" y="2976372"/>
            <a:ext cx="162763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4" name="Read direction arrow"/>
          <p:cNvSpPr/>
          <p:nvPr/>
        </p:nvSpPr>
        <p:spPr>
          <a:xfrm>
            <a:off x="5212080" y="3017520"/>
            <a:ext cx="384048" cy="1380744"/>
          </a:xfrm>
          <a:prstGeom prst="up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Fractional: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286000"/>
            <a:ext cx="3566160" cy="649224"/>
          </a:xfrm>
          <a:prstGeom prst="roundRect">
            <a:avLst>
              <a:gd name="adj" fmla="val 1126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0.25 × 16 = 4.00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738360" y="2286000"/>
            <a:ext cx="502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287000" y="2286000"/>
            <a:ext cx="731520" cy="649224"/>
          </a:xfrm>
          <a:prstGeom prst="roundRect">
            <a:avLst>
              <a:gd name="adj" fmla="val 1126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3429000"/>
            <a:ext cx="10113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Hex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4050792"/>
            <a:ext cx="10113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Decimal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65822" y="3429000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65822" y="4050792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001000" y="3429000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B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001000" y="4050792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736178" y="3429000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736178" y="4050792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471355" y="3429000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471355" y="4050792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0206533" y="3429000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E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206533" y="4050792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941710" y="3429000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0941710" y="4050792"/>
            <a:ext cx="662026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15</a:t>
            </a:r>
            <a:endParaRPr lang="en-US" sz="2400" dirty="0"/>
          </a:p>
        </p:txBody>
      </p:sp>
      <p:sp>
        <p:nvSpPr>
          <p:cNvPr id="33" name="Answer"/>
          <p:cNvSpPr/>
          <p:nvPr/>
        </p:nvSpPr>
        <p:spPr>
          <a:xfrm>
            <a:off x="6126480" y="5166360"/>
            <a:ext cx="5513832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3"/>
                </a:solidFill>
              </a:rPr>
              <a:t>Answer: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(2D.4)₁₆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Binary → Decimal  |  (1101.101)₂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Position :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Binary :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41401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6557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1713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6869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1463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148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.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–1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07745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–2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12901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0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–3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8057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Value: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1349393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1×(2)³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898033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172353" y="3840480"/>
            <a:ext cx="1349393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1×(2)²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3521746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796066" y="3840480"/>
            <a:ext cx="1349393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0×(2)¹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145459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419779" y="3840480"/>
            <a:ext cx="1349393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1×(2)⁰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769173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043493" y="3840480"/>
            <a:ext cx="1349393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1×(2)⁻¹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392886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667206" y="3840480"/>
            <a:ext cx="1349393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0×(2)⁻²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0016599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0290919" y="3840480"/>
            <a:ext cx="1349393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1×(2)⁻³</a:t>
            </a:r>
            <a:endParaRPr lang="en-US" sz="2200" dirty="0"/>
          </a:p>
        </p:txBody>
      </p:sp>
      <p:sp>
        <p:nvSpPr>
          <p:cNvPr id="35" name="Result"/>
          <p:cNvSpPr/>
          <p:nvPr/>
        </p:nvSpPr>
        <p:spPr>
          <a:xfrm>
            <a:off x="548640" y="493776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8 + 4 + 0 + 1 + 0.5 + 0 + 0.125 = (13.625)₁₀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Binary → Decimal  |  (1011.11)₂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Position :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Binary :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41401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6557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1713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6869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1463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148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.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–1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07745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–2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12901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Value: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162001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1×(2)³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168652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442972" y="3840480"/>
            <a:ext cx="162001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0×(2)²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062984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337304" y="3840480"/>
            <a:ext cx="162001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1×(2)¹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5957316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31636" y="3840480"/>
            <a:ext cx="162001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1×(2)⁰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851648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125968" y="3840480"/>
            <a:ext cx="162001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1×(2)⁻¹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9745980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0020300" y="3840480"/>
            <a:ext cx="162001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1×(2)⁻²</a:t>
            </a:r>
            <a:endParaRPr lang="en-US" sz="2200" dirty="0"/>
          </a:p>
        </p:txBody>
      </p:sp>
      <p:sp>
        <p:nvSpPr>
          <p:cNvPr id="31" name="Result"/>
          <p:cNvSpPr/>
          <p:nvPr/>
        </p:nvSpPr>
        <p:spPr>
          <a:xfrm>
            <a:off x="548640" y="493776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8 + 0 + 2 + 1 + 0.5 + 0.25 = (11.75)₁₀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Binary → Decimal  |  (1110.01)₂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Position :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Binary :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41401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6557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1713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6869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0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1463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148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.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–1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07745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0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–2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12901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Value: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162001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1×(2)³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168652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442972" y="3840480"/>
            <a:ext cx="162001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1×(2)²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062984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337304" y="3840480"/>
            <a:ext cx="162001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1×(2)¹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5957316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31636" y="3840480"/>
            <a:ext cx="162001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0×(2)⁰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851648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125968" y="3840480"/>
            <a:ext cx="162001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0×(2)⁻¹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9745980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0020300" y="3840480"/>
            <a:ext cx="162001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1×(2)⁻²</a:t>
            </a:r>
            <a:endParaRPr lang="en-US" sz="2200" dirty="0"/>
          </a:p>
        </p:txBody>
      </p:sp>
      <p:sp>
        <p:nvSpPr>
          <p:cNvPr id="31" name="Result"/>
          <p:cNvSpPr/>
          <p:nvPr/>
        </p:nvSpPr>
        <p:spPr>
          <a:xfrm>
            <a:off x="548640" y="493776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8 + 4 + 2 + 0 + 0 + 0.25 = (14.25)₁₀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Binary → Decimal  |  (1101)₂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Position :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Binary :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41401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6557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1713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6869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Value: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1×(2)³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8404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00400" y="384048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1×(2)²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38404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852160" y="384048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0×(2)¹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8404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503920" y="384048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1×(2)⁰</a:t>
            </a:r>
            <a:endParaRPr lang="en-US" sz="2800" dirty="0"/>
          </a:p>
        </p:txBody>
      </p:sp>
      <p:sp>
        <p:nvSpPr>
          <p:cNvPr id="21" name="Result"/>
          <p:cNvSpPr/>
          <p:nvPr/>
        </p:nvSpPr>
        <p:spPr>
          <a:xfrm>
            <a:off x="548640" y="507492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3"/>
                </a:solidFill>
              </a:rPr>
              <a:t>8 + 4 + 0 + 1 = (13)₁₀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Binary → Decimal  |  (10110)₂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Position :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Binary :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41401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6557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1713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6869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20256" y="2148840"/>
            <a:ext cx="97840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Value: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1998878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1×(2)⁴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547518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821838" y="3840480"/>
            <a:ext cx="1998878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0×(2)³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820717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095037" y="3840480"/>
            <a:ext cx="1998878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1×(2)²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093915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68235" y="3840480"/>
            <a:ext cx="1998878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1×(2)¹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367114" y="3840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641434" y="3840480"/>
            <a:ext cx="1998878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0×(2)⁰</a:t>
            </a:r>
            <a:endParaRPr lang="en-US" sz="2200" dirty="0"/>
          </a:p>
        </p:txBody>
      </p:sp>
      <p:sp>
        <p:nvSpPr>
          <p:cNvPr id="25" name="Result"/>
          <p:cNvSpPr/>
          <p:nvPr/>
        </p:nvSpPr>
        <p:spPr>
          <a:xfrm>
            <a:off x="548640" y="493776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16 + 0 + 4 + 2 + 0 = (22)₁₀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Octal → Decimal  |  (567.4)₈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Value: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5×(8)²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25603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25603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6×(8)¹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25603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852160" y="25603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7×(8)⁰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5603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503920" y="25603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4×(8)⁻¹</a:t>
            </a:r>
            <a:endParaRPr lang="en-US" sz="2800" dirty="0"/>
          </a:p>
        </p:txBody>
      </p:sp>
      <p:sp>
        <p:nvSpPr>
          <p:cNvPr id="11" name="Result"/>
          <p:cNvSpPr/>
          <p:nvPr/>
        </p:nvSpPr>
        <p:spPr>
          <a:xfrm>
            <a:off x="548640" y="379476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3"/>
                </a:solidFill>
              </a:rPr>
              <a:t>320 + 48 + 7 + 0.5 = (375.5)₁₀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Octal → Decimal  |  (144.2)₈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Value: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1×(8)²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25603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25603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4×(8)¹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25603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852160" y="25603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4×(8)⁰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5603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503920" y="25603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2×(8)⁻¹</a:t>
            </a:r>
            <a:endParaRPr lang="en-US" sz="2800" dirty="0"/>
          </a:p>
        </p:txBody>
      </p:sp>
      <p:sp>
        <p:nvSpPr>
          <p:cNvPr id="11" name="Result"/>
          <p:cNvSpPr/>
          <p:nvPr/>
        </p:nvSpPr>
        <p:spPr>
          <a:xfrm>
            <a:off x="548640" y="379476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3"/>
                </a:solidFill>
              </a:rPr>
              <a:t>64 + 32 + 4 + 0.25 = (100.25)₁₀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Octal → Decimal  |  (31.6)₈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Value: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3×(8)¹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25603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25603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1×(8)⁰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25603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852160" y="25603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6×(8)⁻¹</a:t>
            </a:r>
            <a:endParaRPr lang="en-US" sz="2800" dirty="0"/>
          </a:p>
        </p:txBody>
      </p:sp>
      <p:sp>
        <p:nvSpPr>
          <p:cNvPr id="9" name="Result"/>
          <p:cNvSpPr/>
          <p:nvPr/>
        </p:nvSpPr>
        <p:spPr>
          <a:xfrm>
            <a:off x="548640" y="379476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3"/>
                </a:solidFill>
              </a:rPr>
              <a:t>24 + 1 + 0.75 = (25.75)₁₀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Hexadecimal → Decimal  |  (177.A)₁₆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Value: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1×(16)²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96596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196596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7×(16)¹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96596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852160" y="196596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7×(16)⁰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96596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503920" y="196596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10×(16)⁻¹</a:t>
            </a:r>
            <a:endParaRPr lang="en-US" sz="2800" dirty="0"/>
          </a:p>
        </p:txBody>
      </p:sp>
      <p:sp>
        <p:nvSpPr>
          <p:cNvPr id="11" name="Result"/>
          <p:cNvSpPr/>
          <p:nvPr/>
        </p:nvSpPr>
        <p:spPr>
          <a:xfrm>
            <a:off x="548640" y="320040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3"/>
                </a:solidFill>
              </a:rPr>
              <a:t>256 + 112 + 7 + 0.625 = (375.625)₁₀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09160"/>
            <a:ext cx="21268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Hex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76672"/>
            <a:ext cx="21268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Decimal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03550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803550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282440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282440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761330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761330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40219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40219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719109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719109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0197998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F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0197998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15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Hexadecimal → Decimal  |  (FF.8)₁₆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Value: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15×(16)¹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96596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196596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15×(16)⁰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96596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852160" y="196596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8×(16)⁻¹</a:t>
            </a:r>
            <a:endParaRPr lang="en-US" sz="2800" dirty="0"/>
          </a:p>
        </p:txBody>
      </p:sp>
      <p:sp>
        <p:nvSpPr>
          <p:cNvPr id="9" name="Result"/>
          <p:cNvSpPr/>
          <p:nvPr/>
        </p:nvSpPr>
        <p:spPr>
          <a:xfrm>
            <a:off x="548640" y="320040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3"/>
                </a:solidFill>
              </a:rPr>
              <a:t>240 + 15 + 0.5 = (255.5)₁₀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21268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Hex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76672"/>
            <a:ext cx="21268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Decimal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03550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803550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282440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282440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761330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761330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40219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40219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719109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E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719109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197998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F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197998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15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Hexadecimal → Decimal  |  (2D.4)₁₆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Value: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2×(16)¹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96596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196596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13×(16)⁰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96596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852160" y="196596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4×(16)⁻¹</a:t>
            </a:r>
            <a:endParaRPr lang="en-US" sz="2800" dirty="0"/>
          </a:p>
        </p:txBody>
      </p:sp>
      <p:sp>
        <p:nvSpPr>
          <p:cNvPr id="9" name="Result"/>
          <p:cNvSpPr/>
          <p:nvPr/>
        </p:nvSpPr>
        <p:spPr>
          <a:xfrm>
            <a:off x="548640" y="320040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2000"/>
            </a:schemeClr>
          </a:solidFill>
          <a:ln w="2540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3"/>
                </a:solidFill>
              </a:rPr>
              <a:t>32 + 13 + 0.25 = (45.25)₁₀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21268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Hex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76672"/>
            <a:ext cx="21268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Decimal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03550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803550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282440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282440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761330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761330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40219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40219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719109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E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719109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197998" y="4709160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F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197998" y="5376672"/>
            <a:ext cx="1405738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15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umber Systems Lecture">
  <a:themeElements>
    <a:clrScheme name="Number Systems Lecture">
      <a:dk1>
        <a:srgbClr val="1E293B"/>
      </a:dk1>
      <a:lt1>
        <a:srgbClr val="FFFFFF"/>
      </a:lt1>
      <a:dk2>
        <a:srgbClr val="14213D"/>
      </a:dk2>
      <a:lt2>
        <a:srgbClr val="EEF2F7"/>
      </a:lt2>
      <a:accent1>
        <a:srgbClr val="0F766E"/>
      </a:accent1>
      <a:accent2>
        <a:srgbClr val="FBBF24"/>
      </a:accent2>
      <a:accent3>
        <a:srgbClr val="15803D"/>
      </a:accent3>
      <a:accent4>
        <a:srgbClr val="DC2626"/>
      </a:accent4>
      <a:accent5>
        <a:srgbClr val="2563EB"/>
      </a:accent5>
      <a:accent6>
        <a:srgbClr val="EA580C"/>
      </a:accent6>
      <a:hlink>
        <a:srgbClr val="2563EB"/>
      </a:hlink>
      <a:folHlink>
        <a:srgbClr val="7C3AED"/>
      </a:folHlink>
    </a:clrScheme>
    <a:fontScheme name="Number Systems Lectu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Systems Lecture</dc:title>
  <dc:subject>PptxGenJS Presentation</dc:subject>
  <dc:creator>PptxGenJS</dc:creator>
  <cp:lastModifiedBy>PptxGenJS</cp:lastModifiedBy>
  <cp:revision>1</cp:revision>
  <dcterms:created xsi:type="dcterms:W3CDTF">2026-10-14T00:26:12Z</dcterms:created>
  <dcterms:modified xsi:type="dcterms:W3CDTF">2026-10-14T00:26:12Z</dcterms:modified>
</cp:coreProperties>
</file>