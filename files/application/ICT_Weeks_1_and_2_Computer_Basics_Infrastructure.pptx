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Introduce the course as a practical guide to technology used in study, work, and digital finance. Tell students that these two weeks establish the vocabulary needed for later work with office tools and business data. Ask: Which computer-based service did you use today?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Connect these outcomes to the course module. Explain that C2 means students should understand and explain the ideas, not merely memorize terms. Invite students to note unfamiliar words as they appear.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students to name devices they consider computers: laptop, desktop, smartphone, tablet, ATM, smart TV. Clarify that computers vary in size and purpose but share basic functions. Use the ATM question to preview the input-process-output cycle.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data are raw facts and information is data organized into a useful form. Walk through the assignment example slowly. Ask students to give a second example, such as taking a photo or using a calculator.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Which of these uses have you personally used? For FinTech, emphasize speed and convenience while noting that security and responsible use matter. Avoid implying that computers make decisions correctly in every situation; people still need to check information.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out that the illustration is schematic. Explain the CPU as the component that executes instructions, RAM as temporary working space, and SSD/HDD as long-term storage. Clarify that Microsoft Word is software, while a keyboard is hardware.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students to classify a printer, webcam, USB drive, touchscreen, and headphones. Emphasize that the classification depends on what the device does. A touchscreen is both input and output.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the distinction clear: hardware is physical; software is instructions/programs. Ask students whether Windows, Excel, a mouse, and a printer are hardware or software. Explain that both are needed for a useful computer system.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Allow pairs to discuss. Expected answers: keyboard/mouse; monitor/printer; USB drive; Word is application software; typing is input, processing occurs as instructions run, the result is displayed and saved. Accept well-reasoned alternatives.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by linking Week 2 to Week 1: computers are useful because they store data and communicate. Ask students where their photos, messages, and online banking information may be stored.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HDDs use moving mechanical parts while SSDs use flash memory. Avoid claiming that every SSD is faster in every workload; say SSDs are generally faster for typical computer use. Cloud storage relies on remote systems and internet access. Ask what happens if a USB drive is lost.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a network connects devices. A router helps direct traffic between networks and commonly connects a home or office network to the internet. Wi-Fi is a wireless connection method, not a synonym for the internet. Introduce LAN, MAN, WAN as broad categories.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Clarify that server can refer to hardware or software that provides a service. For example, a browser requests a web page and a web server sends back content. The physical server may be in a data centre or cloud provider's infrastructure.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flow simplified: the exact architecture differs between banks. Explain that requests travel through networks to systems that process them and retrieve data; a response is returned to the user's device. Ask what might go wrong if the network disconnects.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Possible answers: a LAN; external drive plus cloud backup depending on needs; web hosting/web server; strong unique passwords, access controls, updates, MFA; risk of loss from damage, theft, or accidental deletion. Encourage justification rather than one rigid answer.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answers: input, processing, storage, output; hardware examples include keyboard/monitor and software examples include Word/browser; SSD is generally faster and has no moving parts while HDD uses spinning disks; router directs traffic between networks; web server delivers website content; examples include OneDrive, Google Drive, iCloud, or another cloud service. Accept equivalent correct answers.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by asking for a volunteer to describe an online payment using at least three terms from the lesson. Reinforce that the purpose is to understand how components cooperate, not memorize brand names.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234B"/>
        </a:solidFill>
        <a:effectLst/>
      </p:bgPr>
    </p:bg>
    <p:spTree>
      <p:nvGrpSpPr>
        <p:cNvPr id="1" name=""/>
        <p:cNvGrpSpPr/>
        <p:nvPr/>
      </p:nvGrpSpPr>
      <p:grpSpPr/>
      <p:sp>
        <p:nvSpPr>
          <p:cNvPr id="2" name="Oval 1"/>
          <p:cNvSpPr/>
          <p:nvPr/>
        </p:nvSpPr>
        <p:spPr>
          <a:xfrm>
            <a:off x="8778240" y="548640"/>
            <a:ext cx="2194560" cy="2194560"/>
          </a:xfrm>
          <a:prstGeom prst="ellipse">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966960" y="1828800"/>
            <a:ext cx="1371600" cy="1371600"/>
          </a:xfrm>
          <a:prstGeom prst="ellipse">
            <a:avLst/>
          </a:prstGeom>
          <a:solidFill>
            <a:srgbClr val="FF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138160" y="3017520"/>
            <a:ext cx="1645920" cy="1645920"/>
          </a:xfrm>
          <a:prstGeom prst="ellipse">
            <a:avLst/>
          </a:prstGeom>
          <a:solidFill>
            <a:srgbClr val="1C9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241280" y="4023360"/>
            <a:ext cx="1097280" cy="1097280"/>
          </a:xfrm>
          <a:prstGeom prst="ellipse">
            <a:avLst/>
          </a:prstGeom>
          <a:solidFill>
            <a:srgbClr val="754D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594360"/>
            <a:ext cx="6766560" cy="365760"/>
          </a:xfrm>
          <a:prstGeom prst="rect">
            <a:avLst/>
          </a:prstGeom>
          <a:noFill/>
        </p:spPr>
        <p:txBody>
          <a:bodyPr wrap="square" lIns="73152" rIns="73152" tIns="73152" bIns="73152" anchor="t">
            <a:spAutoFit/>
          </a:bodyPr>
          <a:lstStyle/>
          <a:p>
            <a:pPr algn="l">
              <a:defRPr sz="1500" b="1">
                <a:solidFill>
                  <a:srgbClr val="FFA623"/>
                </a:solidFill>
                <a:latin typeface="Aptos"/>
              </a:defRPr>
            </a:pPr>
            <a:r>
              <a:t>THE SUPERIOR UNIVERSITY, LAHORE</a:t>
            </a:r>
          </a:p>
        </p:txBody>
      </p:sp>
      <p:sp>
        <p:nvSpPr>
          <p:cNvPr id="7" name="TextBox 6"/>
          <p:cNvSpPr txBox="1"/>
          <p:nvPr/>
        </p:nvSpPr>
        <p:spPr>
          <a:xfrm>
            <a:off x="731520" y="1325880"/>
            <a:ext cx="7132320" cy="1234440"/>
          </a:xfrm>
          <a:prstGeom prst="rect">
            <a:avLst/>
          </a:prstGeom>
          <a:noFill/>
        </p:spPr>
        <p:txBody>
          <a:bodyPr wrap="square" lIns="73152" rIns="73152" tIns="73152" bIns="73152" anchor="t">
            <a:spAutoFit/>
          </a:bodyPr>
          <a:lstStyle/>
          <a:p>
            <a:pPr algn="l">
              <a:defRPr sz="3600" b="1">
                <a:solidFill>
                  <a:srgbClr val="FFFFFF"/>
                </a:solidFill>
                <a:latin typeface="Aptos"/>
              </a:defRPr>
            </a:pPr>
            <a:r>
              <a:t>Applications of ICT</a:t>
            </a:r>
          </a:p>
        </p:txBody>
      </p:sp>
      <p:sp>
        <p:nvSpPr>
          <p:cNvPr id="8" name="TextBox 7"/>
          <p:cNvSpPr txBox="1"/>
          <p:nvPr/>
        </p:nvSpPr>
        <p:spPr>
          <a:xfrm>
            <a:off x="749808" y="2514600"/>
            <a:ext cx="6766560" cy="685800"/>
          </a:xfrm>
          <a:prstGeom prst="rect">
            <a:avLst/>
          </a:prstGeom>
          <a:noFill/>
        </p:spPr>
        <p:txBody>
          <a:bodyPr wrap="square" lIns="73152" rIns="73152" tIns="73152" bIns="73152" anchor="t">
            <a:spAutoFit/>
          </a:bodyPr>
          <a:lstStyle/>
          <a:p>
            <a:pPr algn="l">
              <a:defRPr sz="2400" b="1">
                <a:solidFill>
                  <a:srgbClr val="FFFFFF"/>
                </a:solidFill>
                <a:latin typeface="Aptos"/>
              </a:defRPr>
            </a:pPr>
            <a:r>
              <a:t>Computer Basics &amp; Computer Infrastructure</a:t>
            </a:r>
          </a:p>
        </p:txBody>
      </p:sp>
      <p:sp>
        <p:nvSpPr>
          <p:cNvPr id="9" name="TextBox 8"/>
          <p:cNvSpPr txBox="1"/>
          <p:nvPr/>
        </p:nvSpPr>
        <p:spPr>
          <a:xfrm>
            <a:off x="777240" y="3337560"/>
            <a:ext cx="6309360" cy="731520"/>
          </a:xfrm>
          <a:prstGeom prst="rect">
            <a:avLst/>
          </a:prstGeom>
          <a:noFill/>
        </p:spPr>
        <p:txBody>
          <a:bodyPr wrap="square" lIns="73152" rIns="73152" tIns="73152" bIns="73152" anchor="t">
            <a:spAutoFit/>
          </a:bodyPr>
          <a:lstStyle/>
          <a:p>
            <a:pPr algn="l">
              <a:defRPr sz="1700" b="0">
                <a:solidFill>
                  <a:srgbClr val="D2E1F5"/>
                </a:solidFill>
                <a:latin typeface="Aptos"/>
              </a:defRPr>
            </a:pPr>
            <a:r>
              <a:t>Weeks 1–2 • BS FinTech • Semester 1</a:t>
            </a:r>
          </a:p>
        </p:txBody>
      </p:sp>
      <p:sp>
        <p:nvSpPr>
          <p:cNvPr id="10" name="Rounded Rectangle 9"/>
          <p:cNvSpPr/>
          <p:nvPr/>
        </p:nvSpPr>
        <p:spPr>
          <a:xfrm>
            <a:off x="777240" y="4617720"/>
            <a:ext cx="6309360" cy="1051560"/>
          </a:xfrm>
          <a:prstGeom prst="roundRect">
            <a:avLst/>
          </a:prstGeom>
          <a:solidFill>
            <a:srgbClr val="13355F"/>
          </a:solidFill>
          <a:ln>
            <a:solidFill>
              <a:srgbClr val="DCE7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4617720"/>
            <a:ext cx="82296" cy="1051560"/>
          </a:xfrm>
          <a:prstGeom prst="rect">
            <a:avLst/>
          </a:prstGeom>
          <a:solidFill>
            <a:srgbClr val="FF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41832" y="4736592"/>
            <a:ext cx="6035040" cy="347472"/>
          </a:xfrm>
          <a:prstGeom prst="rect">
            <a:avLst/>
          </a:prstGeom>
          <a:noFill/>
        </p:spPr>
        <p:txBody>
          <a:bodyPr wrap="square" lIns="73152" rIns="73152" tIns="73152" bIns="73152" anchor="t">
            <a:spAutoFit/>
          </a:bodyPr>
          <a:lstStyle/>
          <a:p>
            <a:pPr algn="l">
              <a:defRPr sz="1700" b="1">
                <a:solidFill>
                  <a:srgbClr val="0A234B"/>
                </a:solidFill>
                <a:latin typeface="Aptos"/>
              </a:defRPr>
            </a:pPr>
            <a:r>
              <a:t>What students will learn</a:t>
            </a:r>
          </a:p>
        </p:txBody>
      </p:sp>
      <p:sp>
        <p:nvSpPr>
          <p:cNvPr id="13" name="TextBox 12"/>
          <p:cNvSpPr txBox="1"/>
          <p:nvPr/>
        </p:nvSpPr>
        <p:spPr>
          <a:xfrm>
            <a:off x="886968" y="5148072"/>
            <a:ext cx="6080760" cy="429767"/>
          </a:xfrm>
          <a:prstGeom prst="rect">
            <a:avLst/>
          </a:prstGeom>
          <a:noFill/>
        </p:spPr>
        <p:txBody>
          <a:bodyPr wrap="square" lIns="109728" tIns="73152">
            <a:spAutoFit/>
          </a:bodyPr>
          <a:lstStyle/>
          <a:p>
            <a:pPr>
              <a:spcAft>
                <a:spcPts val="500"/>
              </a:spcAft>
              <a:defRPr sz="1300">
                <a:solidFill>
                  <a:srgbClr val="233041"/>
                </a:solidFill>
                <a:latin typeface="Aptos"/>
              </a:defRPr>
            </a:pPr>
            <a:r>
              <a:t>•  How computers work and why they matter</a:t>
            </a:r>
          </a:p>
          <a:p>
            <a:pPr>
              <a:spcAft>
                <a:spcPts val="500"/>
              </a:spcAft>
              <a:defRPr sz="1300">
                <a:solidFill>
                  <a:srgbClr val="233041"/>
                </a:solidFill>
                <a:latin typeface="Aptos"/>
              </a:defRPr>
            </a:pPr>
            <a:r>
              <a:t>•  Hardware, software, storage, networks and servers</a:t>
            </a:r>
          </a:p>
        </p:txBody>
      </p:sp>
      <p:sp>
        <p:nvSpPr>
          <p:cNvPr id="14" name="TextBox 13"/>
          <p:cNvSpPr txBox="1"/>
          <p:nvPr/>
        </p:nvSpPr>
        <p:spPr>
          <a:xfrm>
            <a:off x="777240" y="6080760"/>
            <a:ext cx="7132320" cy="274320"/>
          </a:xfrm>
          <a:prstGeom prst="rect">
            <a:avLst/>
          </a:prstGeom>
          <a:noFill/>
        </p:spPr>
        <p:txBody>
          <a:bodyPr wrap="square" lIns="73152" rIns="73152" tIns="73152" bIns="73152" anchor="t">
            <a:spAutoFit/>
          </a:bodyPr>
          <a:lstStyle/>
          <a:p>
            <a:pPr algn="l">
              <a:defRPr sz="1100" b="0">
                <a:solidFill>
                  <a:srgbClr val="C8DCF0"/>
                </a:solidFill>
                <a:latin typeface="Aptos"/>
              </a:defRPr>
            </a:pPr>
            <a:r>
              <a:t>Lecture slides • Diagrams • Real-world examples • Class questions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0A23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828800" cy="292608"/>
          </a:xfrm>
          <a:prstGeom prst="rect">
            <a:avLst/>
          </a:prstGeom>
          <a:noFill/>
        </p:spPr>
        <p:txBody>
          <a:bodyPr wrap="square" lIns="73152" rIns="73152" tIns="73152" bIns="73152" anchor="t">
            <a:spAutoFit/>
          </a:bodyPr>
          <a:lstStyle/>
          <a:p>
            <a:pPr algn="l">
              <a:defRPr sz="1100" b="1">
                <a:solidFill>
                  <a:srgbClr val="FFA623"/>
                </a:solidFill>
                <a:latin typeface="Aptos"/>
              </a:defRPr>
            </a:pPr>
            <a:r>
              <a:t>WEEKS 1–2</a:t>
            </a:r>
          </a:p>
        </p:txBody>
      </p:sp>
      <p:sp>
        <p:nvSpPr>
          <p:cNvPr id="4" name="TextBox 3"/>
          <p:cNvSpPr txBox="1"/>
          <p:nvPr/>
        </p:nvSpPr>
        <p:spPr>
          <a:xfrm>
            <a:off x="502920" y="566928"/>
            <a:ext cx="11155680" cy="530352"/>
          </a:xfrm>
          <a:prstGeom prst="rect">
            <a:avLst/>
          </a:prstGeom>
          <a:noFill/>
        </p:spPr>
        <p:txBody>
          <a:bodyPr wrap="square" lIns="73152" rIns="73152" tIns="73152" bIns="73152" anchor="t">
            <a:spAutoFit/>
          </a:bodyPr>
          <a:lstStyle/>
          <a:p>
            <a:pPr algn="l">
              <a:defRPr sz="2900" b="1">
                <a:solidFill>
                  <a:srgbClr val="0A234B"/>
                </a:solidFill>
                <a:latin typeface="Aptos"/>
              </a:defRPr>
            </a:pPr>
            <a:r>
              <a:t>Learning Outcomes</a:t>
            </a:r>
          </a:p>
        </p:txBody>
      </p:sp>
      <p:sp>
        <p:nvSpPr>
          <p:cNvPr id="5" name="TextBox 4"/>
          <p:cNvSpPr txBox="1"/>
          <p:nvPr/>
        </p:nvSpPr>
        <p:spPr>
          <a:xfrm>
            <a:off x="530352" y="1143000"/>
            <a:ext cx="10972800" cy="384048"/>
          </a:xfrm>
          <a:prstGeom prst="rect">
            <a:avLst/>
          </a:prstGeom>
          <a:noFill/>
        </p:spPr>
        <p:txBody>
          <a:bodyPr wrap="square" lIns="73152" rIns="73152" tIns="73152" bIns="73152" anchor="t">
            <a:spAutoFit/>
          </a:bodyPr>
          <a:lstStyle/>
          <a:p>
            <a:pPr algn="l">
              <a:defRPr sz="1400" b="0">
                <a:solidFill>
                  <a:srgbClr val="5F6E7D"/>
                </a:solidFill>
                <a:latin typeface="Aptos"/>
              </a:defRPr>
            </a:pPr>
            <a:r>
              <a:t>By the end of these lectures, students should be able to…</a:t>
            </a:r>
          </a:p>
        </p:txBody>
      </p:sp>
      <p:sp>
        <p:nvSpPr>
          <p:cNvPr id="6" name="Rectangle 5"/>
          <p:cNvSpPr/>
          <p:nvPr/>
        </p:nvSpPr>
        <p:spPr>
          <a:xfrm>
            <a:off x="502920" y="6510528"/>
            <a:ext cx="11155680" cy="13716"/>
          </a:xfrm>
          <a:prstGeom prst="rect">
            <a:avLst/>
          </a:prstGeom>
          <a:solidFill>
            <a:srgbClr val="DCE6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6537960"/>
            <a:ext cx="7772400" cy="201168"/>
          </a:xfrm>
          <a:prstGeom prst="rect">
            <a:avLst/>
          </a:prstGeom>
          <a:noFill/>
        </p:spPr>
        <p:txBody>
          <a:bodyPr wrap="square" lIns="73152" rIns="73152" tIns="73152" bIns="73152" anchor="t">
            <a:spAutoFit/>
          </a:bodyPr>
          <a:lstStyle/>
          <a:p>
            <a:pPr algn="l">
              <a:defRPr sz="900" b="0">
                <a:solidFill>
                  <a:srgbClr val="5F6E7D"/>
                </a:solidFill>
                <a:latin typeface="Aptos"/>
              </a:defRPr>
            </a:pPr>
            <a:r>
              <a:t>Applications of ICT • BS FinTech • Semester 1</a:t>
            </a:r>
          </a:p>
        </p:txBody>
      </p:sp>
      <p:sp>
        <p:nvSpPr>
          <p:cNvPr id="8" name="TextBox 7"/>
          <p:cNvSpPr txBox="1"/>
          <p:nvPr/>
        </p:nvSpPr>
        <p:spPr>
          <a:xfrm>
            <a:off x="10972800" y="6528816"/>
            <a:ext cx="640080" cy="201168"/>
          </a:xfrm>
          <a:prstGeom prst="rect">
            <a:avLst/>
          </a:prstGeom>
          <a:noFill/>
        </p:spPr>
        <p:txBody>
          <a:bodyPr wrap="square" lIns="73152" rIns="73152" tIns="73152" bIns="73152" anchor="t">
            <a:spAutoFit/>
          </a:bodyPr>
          <a:lstStyle/>
          <a:p>
            <a:pPr algn="r">
              <a:defRPr sz="900" b="0">
                <a:solidFill>
                  <a:srgbClr val="5F6E7D"/>
                </a:solidFill>
                <a:latin typeface="Aptos"/>
              </a:defRPr>
            </a:pPr>
            <a:r>
              <a:t>2</a:t>
            </a:r>
          </a:p>
        </p:txBody>
      </p:sp>
      <p:sp>
        <p:nvSpPr>
          <p:cNvPr id="9" name="Rounded Rectangle 8"/>
          <p:cNvSpPr/>
          <p:nvPr/>
        </p:nvSpPr>
        <p:spPr>
          <a:xfrm>
            <a:off x="640080" y="1828800"/>
            <a:ext cx="5303520" cy="1508760"/>
          </a:xfrm>
          <a:prstGeom prst="roundRect">
            <a:avLst/>
          </a:prstGeom>
          <a:solidFill>
            <a:srgbClr val="EBF5FF"/>
          </a:solidFill>
          <a:ln>
            <a:solidFill>
              <a:srgbClr val="DCE7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1828800"/>
            <a:ext cx="82296" cy="1508760"/>
          </a:xfrm>
          <a:prstGeom prst="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1" y="1947672"/>
            <a:ext cx="5029200" cy="347472"/>
          </a:xfrm>
          <a:prstGeom prst="rect">
            <a:avLst/>
          </a:prstGeom>
          <a:noFill/>
        </p:spPr>
        <p:txBody>
          <a:bodyPr wrap="square" lIns="73152" rIns="73152" tIns="73152" bIns="73152" anchor="t">
            <a:spAutoFit/>
          </a:bodyPr>
          <a:lstStyle/>
          <a:p>
            <a:pPr algn="l">
              <a:defRPr sz="1900" b="1">
                <a:solidFill>
                  <a:srgbClr val="0A234B"/>
                </a:solidFill>
                <a:latin typeface="Aptos"/>
              </a:defRPr>
            </a:pPr>
            <a:r>
              <a:t>Week 1 • Computer Basics</a:t>
            </a:r>
          </a:p>
        </p:txBody>
      </p:sp>
      <p:sp>
        <p:nvSpPr>
          <p:cNvPr id="12" name="TextBox 11"/>
          <p:cNvSpPr txBox="1"/>
          <p:nvPr/>
        </p:nvSpPr>
        <p:spPr>
          <a:xfrm>
            <a:off x="749808" y="2359152"/>
            <a:ext cx="5074920" cy="886967"/>
          </a:xfrm>
          <a:prstGeom prst="rect">
            <a:avLst/>
          </a:prstGeom>
          <a:noFill/>
        </p:spPr>
        <p:txBody>
          <a:bodyPr wrap="square" lIns="109728" tIns="73152">
            <a:spAutoFit/>
          </a:bodyPr>
          <a:lstStyle/>
          <a:p>
            <a:pPr>
              <a:spcAft>
                <a:spcPts val="500"/>
              </a:spcAft>
              <a:defRPr sz="1600">
                <a:solidFill>
                  <a:srgbClr val="233041"/>
                </a:solidFill>
                <a:latin typeface="Aptos"/>
              </a:defRPr>
            </a:pPr>
            <a:r>
              <a:t>•  Explain the role of computers in daily life and business.</a:t>
            </a:r>
          </a:p>
          <a:p>
            <a:pPr>
              <a:spcAft>
                <a:spcPts val="500"/>
              </a:spcAft>
              <a:defRPr sz="1600">
                <a:solidFill>
                  <a:srgbClr val="233041"/>
                </a:solidFill>
                <a:latin typeface="Aptos"/>
              </a:defRPr>
            </a:pPr>
            <a:r>
              <a:t>•  Describe input, processing, storage and output.</a:t>
            </a:r>
          </a:p>
          <a:p>
            <a:pPr>
              <a:spcAft>
                <a:spcPts val="500"/>
              </a:spcAft>
              <a:defRPr sz="1600">
                <a:solidFill>
                  <a:srgbClr val="233041"/>
                </a:solidFill>
                <a:latin typeface="Aptos"/>
              </a:defRPr>
            </a:pPr>
            <a:r>
              <a:t>•  Differentiate hardware from software.</a:t>
            </a:r>
          </a:p>
        </p:txBody>
      </p:sp>
      <p:sp>
        <p:nvSpPr>
          <p:cNvPr id="13" name="Rounded Rectangle 12"/>
          <p:cNvSpPr/>
          <p:nvPr/>
        </p:nvSpPr>
        <p:spPr>
          <a:xfrm>
            <a:off x="6217920" y="1828800"/>
            <a:ext cx="5303520" cy="1508760"/>
          </a:xfrm>
          <a:prstGeom prst="roundRect">
            <a:avLst/>
          </a:prstGeom>
          <a:solidFill>
            <a:srgbClr val="EBFAF4"/>
          </a:solidFill>
          <a:ln>
            <a:solidFill>
              <a:srgbClr val="DCE7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828800"/>
            <a:ext cx="82296" cy="1508760"/>
          </a:xfrm>
          <a:prstGeom prst="rect">
            <a:avLst/>
          </a:prstGeom>
          <a:solidFill>
            <a:srgbClr val="1C9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2" y="1947672"/>
            <a:ext cx="5029200" cy="347472"/>
          </a:xfrm>
          <a:prstGeom prst="rect">
            <a:avLst/>
          </a:prstGeom>
          <a:noFill/>
        </p:spPr>
        <p:txBody>
          <a:bodyPr wrap="square" lIns="73152" rIns="73152" tIns="73152" bIns="73152" anchor="t">
            <a:spAutoFit/>
          </a:bodyPr>
          <a:lstStyle/>
          <a:p>
            <a:pPr algn="l">
              <a:defRPr sz="1900" b="1">
                <a:solidFill>
                  <a:srgbClr val="0A234B"/>
                </a:solidFill>
                <a:latin typeface="Aptos"/>
              </a:defRPr>
            </a:pPr>
            <a:r>
              <a:t>Week 2 • Infrastructure</a:t>
            </a:r>
          </a:p>
        </p:txBody>
      </p:sp>
      <p:sp>
        <p:nvSpPr>
          <p:cNvPr id="16" name="TextBox 15"/>
          <p:cNvSpPr txBox="1"/>
          <p:nvPr/>
        </p:nvSpPr>
        <p:spPr>
          <a:xfrm>
            <a:off x="6327648" y="2359152"/>
            <a:ext cx="5074920" cy="886967"/>
          </a:xfrm>
          <a:prstGeom prst="rect">
            <a:avLst/>
          </a:prstGeom>
          <a:noFill/>
        </p:spPr>
        <p:txBody>
          <a:bodyPr wrap="square" lIns="109728" tIns="73152">
            <a:spAutoFit/>
          </a:bodyPr>
          <a:lstStyle/>
          <a:p>
            <a:pPr>
              <a:spcAft>
                <a:spcPts val="500"/>
              </a:spcAft>
              <a:defRPr sz="1600">
                <a:solidFill>
                  <a:srgbClr val="233041"/>
                </a:solidFill>
                <a:latin typeface="Aptos"/>
              </a:defRPr>
            </a:pPr>
            <a:r>
              <a:t>•  Compare common storage technologies.</a:t>
            </a:r>
          </a:p>
          <a:p>
            <a:pPr>
              <a:spcAft>
                <a:spcPts val="500"/>
              </a:spcAft>
              <a:defRPr sz="1600">
                <a:solidFill>
                  <a:srgbClr val="233041"/>
                </a:solidFill>
                <a:latin typeface="Aptos"/>
              </a:defRPr>
            </a:pPr>
            <a:r>
              <a:t>•  Explain how devices connect through networks.</a:t>
            </a:r>
          </a:p>
          <a:p>
            <a:pPr>
              <a:spcAft>
                <a:spcPts val="500"/>
              </a:spcAft>
              <a:defRPr sz="1600">
                <a:solidFill>
                  <a:srgbClr val="233041"/>
                </a:solidFill>
                <a:latin typeface="Aptos"/>
              </a:defRPr>
            </a:pPr>
            <a:r>
              <a:t>•  Describe what internet servers do.</a:t>
            </a:r>
          </a:p>
        </p:txBody>
      </p:sp>
      <p:sp>
        <p:nvSpPr>
          <p:cNvPr id="17" name="TextBox 16"/>
          <p:cNvSpPr txBox="1"/>
          <p:nvPr/>
        </p:nvSpPr>
        <p:spPr>
          <a:xfrm>
            <a:off x="777240" y="3977639"/>
            <a:ext cx="10698480" cy="548640"/>
          </a:xfrm>
          <a:prstGeom prst="rect">
            <a:avLst/>
          </a:prstGeom>
          <a:noFill/>
        </p:spPr>
        <p:txBody>
          <a:bodyPr wrap="square" lIns="73152" rIns="73152" tIns="73152" bIns="73152" anchor="t">
            <a:spAutoFit/>
          </a:bodyPr>
          <a:lstStyle/>
          <a:p>
            <a:pPr algn="ctr">
              <a:defRPr sz="1800" b="1">
                <a:solidFill>
                  <a:srgbClr val="0A234B"/>
                </a:solidFill>
                <a:latin typeface="Aptos"/>
              </a:defRPr>
            </a:pPr>
            <a:r>
              <a:t>Course alignment: CLO 1 • C2 (Understand) • PLO 1</a:t>
            </a:r>
          </a:p>
        </p:txBody>
      </p:sp>
      <p:sp>
        <p:nvSpPr>
          <p:cNvPr id="18" name="TextBox 17"/>
          <p:cNvSpPr txBox="1"/>
          <p:nvPr/>
        </p:nvSpPr>
        <p:spPr>
          <a:xfrm>
            <a:off x="1143000" y="4892040"/>
            <a:ext cx="9875520" cy="822960"/>
          </a:xfrm>
          <a:prstGeom prst="rect">
            <a:avLst/>
          </a:prstGeom>
          <a:noFill/>
        </p:spPr>
        <p:txBody>
          <a:bodyPr wrap="square" lIns="73152" rIns="73152" tIns="73152" bIns="73152" anchor="t">
            <a:spAutoFit/>
          </a:bodyPr>
          <a:lstStyle/>
          <a:p>
            <a:pPr algn="ctr">
              <a:defRPr sz="1800" b="0">
                <a:solidFill>
                  <a:srgbClr val="5F6E7D"/>
                </a:solidFill>
                <a:latin typeface="Aptos"/>
              </a:defRPr>
            </a:pPr>
            <a:r>
              <a:t>Teaching approach: multimedia explanation + live demonstration + short case study + student participation.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234B"/>
        </a:solidFill>
        <a:effectLst/>
      </p:bgPr>
    </p:bg>
    <p:spTree>
      <p:nvGrpSpPr>
        <p:cNvPr id="1" name=""/>
        <p:cNvGrpSpPr/>
        <p:nvPr/>
      </p:nvGrpSpPr>
      <p:grpSpPr/>
      <p:sp>
        <p:nvSpPr>
          <p:cNvPr id="2" name="TextBox 1"/>
          <p:cNvSpPr txBox="1"/>
          <p:nvPr/>
        </p:nvSpPr>
        <p:spPr>
          <a:xfrm>
            <a:off x="777240" y="685800"/>
            <a:ext cx="2286000" cy="320040"/>
          </a:xfrm>
          <a:prstGeom prst="rect">
            <a:avLst/>
          </a:prstGeom>
          <a:noFill/>
        </p:spPr>
        <p:txBody>
          <a:bodyPr wrap="square" lIns="73152" rIns="73152" tIns="73152" bIns="73152" anchor="t">
            <a:spAutoFit/>
          </a:bodyPr>
          <a:lstStyle/>
          <a:p>
            <a:pPr algn="l">
              <a:defRPr sz="1300" b="1">
                <a:solidFill>
                  <a:srgbClr val="FFA623"/>
                </a:solidFill>
                <a:latin typeface="Aptos"/>
              </a:defRPr>
            </a:pPr>
            <a:r>
              <a:t>WEEK 1</a:t>
            </a:r>
          </a:p>
        </p:txBody>
      </p:sp>
      <p:sp>
        <p:nvSpPr>
          <p:cNvPr id="3" name="TextBox 2"/>
          <p:cNvSpPr txBox="1"/>
          <p:nvPr/>
        </p:nvSpPr>
        <p:spPr>
          <a:xfrm>
            <a:off x="777240" y="1234440"/>
            <a:ext cx="6583680" cy="914400"/>
          </a:xfrm>
          <a:prstGeom prst="rect">
            <a:avLst/>
          </a:prstGeom>
          <a:noFill/>
        </p:spPr>
        <p:txBody>
          <a:bodyPr wrap="square" lIns="73152" rIns="73152" tIns="73152" bIns="73152" anchor="t">
            <a:spAutoFit/>
          </a:bodyPr>
          <a:lstStyle/>
          <a:p>
            <a:pPr algn="l">
              <a:defRPr sz="3800" b="1">
                <a:solidFill>
                  <a:srgbClr val="FFFFFF"/>
                </a:solidFill>
                <a:latin typeface="Aptos"/>
              </a:defRPr>
            </a:pPr>
            <a:r>
              <a:t>Computer Basics</a:t>
            </a:r>
          </a:p>
        </p:txBody>
      </p:sp>
      <p:sp>
        <p:nvSpPr>
          <p:cNvPr id="4" name="TextBox 3"/>
          <p:cNvSpPr txBox="1"/>
          <p:nvPr/>
        </p:nvSpPr>
        <p:spPr>
          <a:xfrm>
            <a:off x="822960" y="2331720"/>
            <a:ext cx="5943600" cy="822960"/>
          </a:xfrm>
          <a:prstGeom prst="rect">
            <a:avLst/>
          </a:prstGeom>
          <a:noFill/>
        </p:spPr>
        <p:txBody>
          <a:bodyPr wrap="square" lIns="73152" rIns="73152" tIns="73152" bIns="73152" anchor="t">
            <a:spAutoFit/>
          </a:bodyPr>
          <a:lstStyle/>
          <a:p>
            <a:pPr algn="l">
              <a:defRPr sz="2100" b="0">
                <a:solidFill>
                  <a:srgbClr val="DCE8F6"/>
                </a:solidFill>
                <a:latin typeface="Aptos"/>
              </a:defRPr>
            </a:pPr>
            <a:r>
              <a:t>Understand the role of computers and the basic parts that make them work.</a:t>
            </a:r>
          </a:p>
        </p:txBody>
      </p:sp>
      <p:sp>
        <p:nvSpPr>
          <p:cNvPr id="5" name="Rounded Rectangle 4"/>
          <p:cNvSpPr/>
          <p:nvPr/>
        </p:nvSpPr>
        <p:spPr>
          <a:xfrm>
            <a:off x="822960" y="3886200"/>
            <a:ext cx="5577840" cy="1417320"/>
          </a:xfrm>
          <a:prstGeom prst="roundRect">
            <a:avLst/>
          </a:prstGeom>
          <a:solidFill>
            <a:srgbClr val="14345B"/>
          </a:solidFill>
          <a:ln>
            <a:solidFill>
              <a:srgbClr val="DCE7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3886200"/>
            <a:ext cx="82296" cy="1417320"/>
          </a:xfrm>
          <a:prstGeom prst="rect">
            <a:avLst/>
          </a:prstGeom>
          <a:solidFill>
            <a:srgbClr val="FF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87552" y="4005072"/>
            <a:ext cx="5303520" cy="347472"/>
          </a:xfrm>
          <a:prstGeom prst="rect">
            <a:avLst/>
          </a:prstGeom>
          <a:noFill/>
        </p:spPr>
        <p:txBody>
          <a:bodyPr wrap="square" lIns="73152" rIns="73152" tIns="73152" bIns="73152" anchor="t">
            <a:spAutoFit/>
          </a:bodyPr>
          <a:lstStyle/>
          <a:p>
            <a:pPr algn="l">
              <a:defRPr sz="1800" b="1">
                <a:solidFill>
                  <a:srgbClr val="0A234B"/>
                </a:solidFill>
                <a:latin typeface="Aptos"/>
              </a:defRPr>
            </a:pPr>
            <a:r>
              <a:t>Think about it</a:t>
            </a:r>
          </a:p>
        </p:txBody>
      </p:sp>
      <p:sp>
        <p:nvSpPr>
          <p:cNvPr id="8" name="TextBox 7"/>
          <p:cNvSpPr txBox="1"/>
          <p:nvPr/>
        </p:nvSpPr>
        <p:spPr>
          <a:xfrm>
            <a:off x="932688" y="4416552"/>
            <a:ext cx="5349240" cy="795528"/>
          </a:xfrm>
          <a:prstGeom prst="rect">
            <a:avLst/>
          </a:prstGeom>
          <a:noFill/>
        </p:spPr>
        <p:txBody>
          <a:bodyPr wrap="square" lIns="109728" tIns="73152">
            <a:spAutoFit/>
          </a:bodyPr>
          <a:lstStyle/>
          <a:p>
            <a:pPr>
              <a:spcAft>
                <a:spcPts val="500"/>
              </a:spcAft>
              <a:defRPr sz="1500">
                <a:solidFill>
                  <a:srgbClr val="233041"/>
                </a:solidFill>
                <a:latin typeface="Aptos"/>
              </a:defRPr>
            </a:pPr>
            <a:r>
              <a:t>•  How does an ATM know how much money to dispense?</a:t>
            </a:r>
          </a:p>
          <a:p>
            <a:pPr>
              <a:spcAft>
                <a:spcPts val="500"/>
              </a:spcAft>
              <a:defRPr sz="1500">
                <a:solidFill>
                  <a:srgbClr val="233041"/>
                </a:solidFill>
                <a:latin typeface="Aptos"/>
              </a:defRPr>
            </a:pPr>
            <a:r>
              <a:t>•  What happens when you click “Submit” on a website?</a:t>
            </a:r>
          </a:p>
        </p:txBody>
      </p:sp>
      <p:sp>
        <p:nvSpPr>
          <p:cNvPr id="9" name="Rounded Rectangle 8"/>
          <p:cNvSpPr/>
          <p:nvPr/>
        </p:nvSpPr>
        <p:spPr>
          <a:xfrm>
            <a:off x="7406640" y="1417320"/>
            <a:ext cx="3840480" cy="3566160"/>
          </a:xfrm>
          <a:prstGeom prst="roundRect">
            <a:avLst/>
          </a:prstGeom>
          <a:solidFill>
            <a:srgbClr val="FFFFFF"/>
          </a:solidFill>
          <a:ln>
            <a:solidFill>
              <a:srgbClr val="DCE7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406640" y="1417320"/>
            <a:ext cx="82296" cy="3566160"/>
          </a:xfrm>
          <a:prstGeom prst="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71231" y="1536192"/>
            <a:ext cx="3566160" cy="347472"/>
          </a:xfrm>
          <a:prstGeom prst="rect">
            <a:avLst/>
          </a:prstGeom>
          <a:noFill/>
        </p:spPr>
        <p:txBody>
          <a:bodyPr wrap="square" lIns="73152" rIns="73152" tIns="73152" bIns="73152" anchor="t">
            <a:spAutoFit/>
          </a:bodyPr>
          <a:lstStyle/>
          <a:p>
            <a:pPr algn="l">
              <a:defRPr sz="2000" b="1">
                <a:solidFill>
                  <a:srgbClr val="0A234B"/>
                </a:solidFill>
                <a:latin typeface="Aptos"/>
              </a:defRPr>
            </a:pPr>
            <a:r>
              <a:t>A computer system</a:t>
            </a:r>
          </a:p>
        </p:txBody>
      </p:sp>
      <p:sp>
        <p:nvSpPr>
          <p:cNvPr id="12" name="TextBox 11"/>
          <p:cNvSpPr txBox="1"/>
          <p:nvPr/>
        </p:nvSpPr>
        <p:spPr>
          <a:xfrm>
            <a:off x="7516367" y="1947672"/>
            <a:ext cx="3611880" cy="2944368"/>
          </a:xfrm>
          <a:prstGeom prst="rect">
            <a:avLst/>
          </a:prstGeom>
          <a:noFill/>
        </p:spPr>
        <p:txBody>
          <a:bodyPr wrap="square" lIns="109728" tIns="73152">
            <a:spAutoFit/>
          </a:bodyPr>
          <a:lstStyle/>
          <a:p>
            <a:pPr>
              <a:spcAft>
                <a:spcPts val="500"/>
              </a:spcAft>
              <a:defRPr sz="1600">
                <a:solidFill>
                  <a:srgbClr val="233041"/>
                </a:solidFill>
                <a:latin typeface="Aptos"/>
              </a:defRPr>
            </a:pPr>
            <a:r>
              <a:t>•  Monitor — displays information</a:t>
            </a:r>
          </a:p>
          <a:p>
            <a:pPr>
              <a:spcAft>
                <a:spcPts val="500"/>
              </a:spcAft>
              <a:defRPr sz="1600">
                <a:solidFill>
                  <a:srgbClr val="233041"/>
                </a:solidFill>
                <a:latin typeface="Aptos"/>
              </a:defRPr>
            </a:pPr>
            <a:r>
              <a:t>•  System unit — processes data</a:t>
            </a:r>
          </a:p>
          <a:p>
            <a:pPr>
              <a:spcAft>
                <a:spcPts val="500"/>
              </a:spcAft>
              <a:defRPr sz="1600">
                <a:solidFill>
                  <a:srgbClr val="233041"/>
                </a:solidFill>
                <a:latin typeface="Aptos"/>
              </a:defRPr>
            </a:pPr>
            <a:r>
              <a:t>•  Keyboard and mouse — input</a:t>
            </a:r>
          </a:p>
          <a:p>
            <a:pPr>
              <a:spcAft>
                <a:spcPts val="500"/>
              </a:spcAft>
              <a:defRPr sz="1600">
                <a:solidFill>
                  <a:srgbClr val="233041"/>
                </a:solidFill>
                <a:latin typeface="Aptos"/>
              </a:defRPr>
            </a:pPr>
            <a:r>
              <a:t>•  Storage — keeps files and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0A23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828800" cy="292608"/>
          </a:xfrm>
          <a:prstGeom prst="rect">
            <a:avLst/>
          </a:prstGeom>
          <a:noFill/>
        </p:spPr>
        <p:txBody>
          <a:bodyPr wrap="square" lIns="73152" rIns="73152" tIns="73152" bIns="73152" anchor="t">
            <a:spAutoFit/>
          </a:bodyPr>
          <a:lstStyle/>
          <a:p>
            <a:pPr algn="l">
              <a:defRPr sz="1100" b="1">
                <a:solidFill>
                  <a:srgbClr val="FFA623"/>
                </a:solidFill>
                <a:latin typeface="Aptos"/>
              </a:defRPr>
            </a:pPr>
            <a:r>
              <a:t>WEEK 1</a:t>
            </a:r>
          </a:p>
        </p:txBody>
      </p:sp>
      <p:sp>
        <p:nvSpPr>
          <p:cNvPr id="4" name="TextBox 3"/>
          <p:cNvSpPr txBox="1"/>
          <p:nvPr/>
        </p:nvSpPr>
        <p:spPr>
          <a:xfrm>
            <a:off x="502920" y="566928"/>
            <a:ext cx="11155680" cy="530352"/>
          </a:xfrm>
          <a:prstGeom prst="rect">
            <a:avLst/>
          </a:prstGeom>
          <a:noFill/>
        </p:spPr>
        <p:txBody>
          <a:bodyPr wrap="square" lIns="73152" rIns="73152" tIns="73152" bIns="73152" anchor="t">
            <a:spAutoFit/>
          </a:bodyPr>
          <a:lstStyle/>
          <a:p>
            <a:pPr algn="l">
              <a:defRPr sz="2900" b="1">
                <a:solidFill>
                  <a:srgbClr val="0A234B"/>
                </a:solidFill>
                <a:latin typeface="Aptos"/>
              </a:defRPr>
            </a:pPr>
            <a:r>
              <a:t>What Is a Computer?</a:t>
            </a:r>
          </a:p>
        </p:txBody>
      </p:sp>
      <p:sp>
        <p:nvSpPr>
          <p:cNvPr id="5" name="TextBox 4"/>
          <p:cNvSpPr txBox="1"/>
          <p:nvPr/>
        </p:nvSpPr>
        <p:spPr>
          <a:xfrm>
            <a:off x="530352" y="1143000"/>
            <a:ext cx="10972800" cy="384048"/>
          </a:xfrm>
          <a:prstGeom prst="rect">
            <a:avLst/>
          </a:prstGeom>
          <a:noFill/>
        </p:spPr>
        <p:txBody>
          <a:bodyPr wrap="square" lIns="73152" rIns="73152" tIns="73152" bIns="73152" anchor="t">
            <a:spAutoFit/>
          </a:bodyPr>
          <a:lstStyle/>
          <a:p>
            <a:pPr algn="l">
              <a:defRPr sz="1400" b="0">
                <a:solidFill>
                  <a:srgbClr val="5F6E7D"/>
                </a:solidFill>
                <a:latin typeface="Aptos"/>
              </a:defRPr>
            </a:pPr>
            <a:r>
              <a:t>A computer accepts input, processes data, stores information and produces output.</a:t>
            </a:r>
          </a:p>
        </p:txBody>
      </p:sp>
      <p:sp>
        <p:nvSpPr>
          <p:cNvPr id="6" name="Rectangle 5"/>
          <p:cNvSpPr/>
          <p:nvPr/>
        </p:nvSpPr>
        <p:spPr>
          <a:xfrm>
            <a:off x="502920" y="6510528"/>
            <a:ext cx="11155680" cy="13716"/>
          </a:xfrm>
          <a:prstGeom prst="rect">
            <a:avLst/>
          </a:prstGeom>
          <a:solidFill>
            <a:srgbClr val="DCE6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6537960"/>
            <a:ext cx="7772400" cy="201168"/>
          </a:xfrm>
          <a:prstGeom prst="rect">
            <a:avLst/>
          </a:prstGeom>
          <a:noFill/>
        </p:spPr>
        <p:txBody>
          <a:bodyPr wrap="square" lIns="73152" rIns="73152" tIns="73152" bIns="73152" anchor="t">
            <a:spAutoFit/>
          </a:bodyPr>
          <a:lstStyle/>
          <a:p>
            <a:pPr algn="l">
              <a:defRPr sz="900" b="0">
                <a:solidFill>
                  <a:srgbClr val="5F6E7D"/>
                </a:solidFill>
                <a:latin typeface="Aptos"/>
              </a:defRPr>
            </a:pPr>
            <a:r>
              <a:t>Applications of ICT • BS FinTech • Semester 1</a:t>
            </a:r>
          </a:p>
        </p:txBody>
      </p:sp>
      <p:sp>
        <p:nvSpPr>
          <p:cNvPr id="8" name="TextBox 7"/>
          <p:cNvSpPr txBox="1"/>
          <p:nvPr/>
        </p:nvSpPr>
        <p:spPr>
          <a:xfrm>
            <a:off x="10972800" y="6528816"/>
            <a:ext cx="640080" cy="201168"/>
          </a:xfrm>
          <a:prstGeom prst="rect">
            <a:avLst/>
          </a:prstGeom>
          <a:noFill/>
        </p:spPr>
        <p:txBody>
          <a:bodyPr wrap="square" lIns="73152" rIns="73152" tIns="73152" bIns="73152" anchor="t">
            <a:spAutoFit/>
          </a:bodyPr>
          <a:lstStyle/>
          <a:p>
            <a:pPr algn="r">
              <a:defRPr sz="900" b="0">
                <a:solidFill>
                  <a:srgbClr val="5F6E7D"/>
                </a:solidFill>
                <a:latin typeface="Aptos"/>
              </a:defRPr>
            </a:pPr>
            <a:r>
              <a:t>4</a:t>
            </a:r>
          </a:p>
        </p:txBody>
      </p:sp>
      <p:sp>
        <p:nvSpPr>
          <p:cNvPr id="9" name="Oval 8"/>
          <p:cNvSpPr/>
          <p:nvPr/>
        </p:nvSpPr>
        <p:spPr>
          <a:xfrm>
            <a:off x="1097280" y="1965960"/>
            <a:ext cx="1325880" cy="1325880"/>
          </a:xfrm>
          <a:prstGeom prst="ellipse">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43000" y="2121408"/>
            <a:ext cx="1234439" cy="1097280"/>
          </a:xfrm>
          <a:prstGeom prst="rect">
            <a:avLst/>
          </a:prstGeom>
          <a:noFill/>
        </p:spPr>
        <p:txBody>
          <a:bodyPr wrap="square" lIns="73152" rIns="73152" tIns="73152" bIns="73152" anchor="ctr">
            <a:spAutoFit/>
          </a:bodyPr>
          <a:lstStyle/>
          <a:p>
            <a:pPr algn="ctr">
              <a:defRPr sz="1600" b="1">
                <a:solidFill>
                  <a:srgbClr val="FFFFFF"/>
                </a:solidFill>
                <a:latin typeface="Aptos"/>
              </a:defRPr>
            </a:pPr>
            <a:r>
              <a:t>INPUT</a:t>
            </a:r>
          </a:p>
        </p:txBody>
      </p:sp>
      <p:sp>
        <p:nvSpPr>
          <p:cNvPr id="11" name="TextBox 10"/>
          <p:cNvSpPr txBox="1"/>
          <p:nvPr/>
        </p:nvSpPr>
        <p:spPr>
          <a:xfrm>
            <a:off x="685800" y="3657600"/>
            <a:ext cx="2194560" cy="640080"/>
          </a:xfrm>
          <a:prstGeom prst="rect">
            <a:avLst/>
          </a:prstGeom>
          <a:noFill/>
        </p:spPr>
        <p:txBody>
          <a:bodyPr wrap="square" lIns="73152" rIns="73152" tIns="73152" bIns="73152" anchor="t">
            <a:spAutoFit/>
          </a:bodyPr>
          <a:lstStyle/>
          <a:p>
            <a:pPr algn="ctr">
              <a:defRPr sz="1500" b="0">
                <a:solidFill>
                  <a:srgbClr val="233041"/>
                </a:solidFill>
                <a:latin typeface="Aptos"/>
              </a:defRPr>
            </a:pPr>
            <a:r>
              <a:t>Keyboard, mouse,</a:t>
            </a:r>
            <a:br/>
            <a:r>
              <a:t>touchscreen</a:t>
            </a:r>
          </a:p>
        </p:txBody>
      </p:sp>
      <p:sp>
        <p:nvSpPr>
          <p:cNvPr id="12" name="TextBox 11"/>
          <p:cNvSpPr txBox="1"/>
          <p:nvPr/>
        </p:nvSpPr>
        <p:spPr>
          <a:xfrm>
            <a:off x="2560320" y="2395728"/>
            <a:ext cx="685800" cy="457200"/>
          </a:xfrm>
          <a:prstGeom prst="rect">
            <a:avLst/>
          </a:prstGeom>
          <a:noFill/>
        </p:spPr>
        <p:txBody>
          <a:bodyPr wrap="square" lIns="73152" rIns="73152" tIns="73152" bIns="73152" anchor="t">
            <a:spAutoFit/>
          </a:bodyPr>
          <a:lstStyle/>
          <a:p>
            <a:pPr algn="ctr">
              <a:defRPr sz="2900" b="1">
                <a:solidFill>
                  <a:srgbClr val="0A234B"/>
                </a:solidFill>
                <a:latin typeface="Aptos"/>
              </a:defRPr>
            </a:pPr>
            <a:r>
              <a:t>→</a:t>
            </a:r>
          </a:p>
        </p:txBody>
      </p:sp>
      <p:sp>
        <p:nvSpPr>
          <p:cNvPr id="13" name="Oval 12"/>
          <p:cNvSpPr/>
          <p:nvPr/>
        </p:nvSpPr>
        <p:spPr>
          <a:xfrm>
            <a:off x="3931920" y="1965960"/>
            <a:ext cx="1325880" cy="1325880"/>
          </a:xfrm>
          <a:prstGeom prst="ellipse">
            <a:avLst/>
          </a:prstGeom>
          <a:solidFill>
            <a:srgbClr val="754D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977639" y="2121408"/>
            <a:ext cx="1234439" cy="1097280"/>
          </a:xfrm>
          <a:prstGeom prst="rect">
            <a:avLst/>
          </a:prstGeom>
          <a:noFill/>
        </p:spPr>
        <p:txBody>
          <a:bodyPr wrap="square" lIns="73152" rIns="73152" tIns="73152" bIns="73152" anchor="ctr">
            <a:spAutoFit/>
          </a:bodyPr>
          <a:lstStyle/>
          <a:p>
            <a:pPr algn="ctr">
              <a:defRPr sz="1600" b="1">
                <a:solidFill>
                  <a:srgbClr val="FFFFFF"/>
                </a:solidFill>
                <a:latin typeface="Aptos"/>
              </a:defRPr>
            </a:pPr>
            <a:r>
              <a:t>PROCESSING</a:t>
            </a:r>
          </a:p>
        </p:txBody>
      </p:sp>
      <p:sp>
        <p:nvSpPr>
          <p:cNvPr id="15" name="TextBox 14"/>
          <p:cNvSpPr txBox="1"/>
          <p:nvPr/>
        </p:nvSpPr>
        <p:spPr>
          <a:xfrm>
            <a:off x="3520440" y="3657600"/>
            <a:ext cx="2194560" cy="640080"/>
          </a:xfrm>
          <a:prstGeom prst="rect">
            <a:avLst/>
          </a:prstGeom>
          <a:noFill/>
        </p:spPr>
        <p:txBody>
          <a:bodyPr wrap="square" lIns="73152" rIns="73152" tIns="73152" bIns="73152" anchor="t">
            <a:spAutoFit/>
          </a:bodyPr>
          <a:lstStyle/>
          <a:p>
            <a:pPr algn="ctr">
              <a:defRPr sz="1500" b="0">
                <a:solidFill>
                  <a:srgbClr val="233041"/>
                </a:solidFill>
                <a:latin typeface="Aptos"/>
              </a:defRPr>
            </a:pPr>
            <a:r>
              <a:t>CPU follows</a:t>
            </a:r>
            <a:br/>
            <a:r>
              <a:t>instructions</a:t>
            </a:r>
          </a:p>
        </p:txBody>
      </p:sp>
      <p:sp>
        <p:nvSpPr>
          <p:cNvPr id="16" name="TextBox 15"/>
          <p:cNvSpPr txBox="1"/>
          <p:nvPr/>
        </p:nvSpPr>
        <p:spPr>
          <a:xfrm>
            <a:off x="5394960" y="2395728"/>
            <a:ext cx="685800" cy="457200"/>
          </a:xfrm>
          <a:prstGeom prst="rect">
            <a:avLst/>
          </a:prstGeom>
          <a:noFill/>
        </p:spPr>
        <p:txBody>
          <a:bodyPr wrap="square" lIns="73152" rIns="73152" tIns="73152" bIns="73152" anchor="t">
            <a:spAutoFit/>
          </a:bodyPr>
          <a:lstStyle/>
          <a:p>
            <a:pPr algn="ctr">
              <a:defRPr sz="2900" b="1">
                <a:solidFill>
                  <a:srgbClr val="0A234B"/>
                </a:solidFill>
                <a:latin typeface="Aptos"/>
              </a:defRPr>
            </a:pPr>
            <a:r>
              <a:t>→</a:t>
            </a:r>
          </a:p>
        </p:txBody>
      </p:sp>
      <p:sp>
        <p:nvSpPr>
          <p:cNvPr id="17" name="Oval 16"/>
          <p:cNvSpPr/>
          <p:nvPr/>
        </p:nvSpPr>
        <p:spPr>
          <a:xfrm>
            <a:off x="6766560" y="1965960"/>
            <a:ext cx="1325880" cy="1325880"/>
          </a:xfrm>
          <a:prstGeom prst="ellipse">
            <a:avLst/>
          </a:prstGeom>
          <a:solidFill>
            <a:srgbClr val="1C9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12280" y="2121408"/>
            <a:ext cx="1234439" cy="1097280"/>
          </a:xfrm>
          <a:prstGeom prst="rect">
            <a:avLst/>
          </a:prstGeom>
          <a:noFill/>
        </p:spPr>
        <p:txBody>
          <a:bodyPr wrap="square" lIns="73152" rIns="73152" tIns="73152" bIns="73152" anchor="ctr">
            <a:spAutoFit/>
          </a:bodyPr>
          <a:lstStyle/>
          <a:p>
            <a:pPr algn="ctr">
              <a:defRPr sz="1600" b="1">
                <a:solidFill>
                  <a:srgbClr val="FFFFFF"/>
                </a:solidFill>
                <a:latin typeface="Aptos"/>
              </a:defRPr>
            </a:pPr>
            <a:r>
              <a:t>STORAGE</a:t>
            </a:r>
          </a:p>
        </p:txBody>
      </p:sp>
      <p:sp>
        <p:nvSpPr>
          <p:cNvPr id="19" name="TextBox 18"/>
          <p:cNvSpPr txBox="1"/>
          <p:nvPr/>
        </p:nvSpPr>
        <p:spPr>
          <a:xfrm>
            <a:off x="6355080" y="3657600"/>
            <a:ext cx="2194560" cy="640080"/>
          </a:xfrm>
          <a:prstGeom prst="rect">
            <a:avLst/>
          </a:prstGeom>
          <a:noFill/>
        </p:spPr>
        <p:txBody>
          <a:bodyPr wrap="square" lIns="73152" rIns="73152" tIns="73152" bIns="73152" anchor="t">
            <a:spAutoFit/>
          </a:bodyPr>
          <a:lstStyle/>
          <a:p>
            <a:pPr algn="ctr">
              <a:defRPr sz="1500" b="0">
                <a:solidFill>
                  <a:srgbClr val="233041"/>
                </a:solidFill>
                <a:latin typeface="Aptos"/>
              </a:defRPr>
            </a:pPr>
            <a:r>
              <a:t>Files and data</a:t>
            </a:r>
            <a:br/>
            <a:r>
              <a:t>are saved</a:t>
            </a:r>
          </a:p>
        </p:txBody>
      </p:sp>
      <p:sp>
        <p:nvSpPr>
          <p:cNvPr id="20" name="TextBox 19"/>
          <p:cNvSpPr txBox="1"/>
          <p:nvPr/>
        </p:nvSpPr>
        <p:spPr>
          <a:xfrm>
            <a:off x="8229600" y="2395728"/>
            <a:ext cx="685800" cy="457200"/>
          </a:xfrm>
          <a:prstGeom prst="rect">
            <a:avLst/>
          </a:prstGeom>
          <a:noFill/>
        </p:spPr>
        <p:txBody>
          <a:bodyPr wrap="square" lIns="73152" rIns="73152" tIns="73152" bIns="73152" anchor="t">
            <a:spAutoFit/>
          </a:bodyPr>
          <a:lstStyle/>
          <a:p>
            <a:pPr algn="ctr">
              <a:defRPr sz="2900" b="1">
                <a:solidFill>
                  <a:srgbClr val="0A234B"/>
                </a:solidFill>
                <a:latin typeface="Aptos"/>
              </a:defRPr>
            </a:pPr>
            <a:r>
              <a:t>→</a:t>
            </a:r>
          </a:p>
        </p:txBody>
      </p:sp>
      <p:sp>
        <p:nvSpPr>
          <p:cNvPr id="21" name="Oval 20"/>
          <p:cNvSpPr/>
          <p:nvPr/>
        </p:nvSpPr>
        <p:spPr>
          <a:xfrm>
            <a:off x="9601200" y="1965960"/>
            <a:ext cx="1325880" cy="1325880"/>
          </a:xfrm>
          <a:prstGeom prst="ellipse">
            <a:avLst/>
          </a:prstGeom>
          <a:solidFill>
            <a:srgbClr val="FF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46920" y="2121408"/>
            <a:ext cx="1234439" cy="1097280"/>
          </a:xfrm>
          <a:prstGeom prst="rect">
            <a:avLst/>
          </a:prstGeom>
          <a:noFill/>
        </p:spPr>
        <p:txBody>
          <a:bodyPr wrap="square" lIns="73152" rIns="73152" tIns="73152" bIns="73152" anchor="ctr">
            <a:spAutoFit/>
          </a:bodyPr>
          <a:lstStyle/>
          <a:p>
            <a:pPr algn="ctr">
              <a:defRPr sz="1600" b="1">
                <a:solidFill>
                  <a:srgbClr val="FFFFFF"/>
                </a:solidFill>
                <a:latin typeface="Aptos"/>
              </a:defRPr>
            </a:pPr>
            <a:r>
              <a:t>OUTPUT</a:t>
            </a:r>
          </a:p>
        </p:txBody>
      </p:sp>
      <p:sp>
        <p:nvSpPr>
          <p:cNvPr id="23" name="TextBox 22"/>
          <p:cNvSpPr txBox="1"/>
          <p:nvPr/>
        </p:nvSpPr>
        <p:spPr>
          <a:xfrm>
            <a:off x="9189720" y="3657600"/>
            <a:ext cx="2194560" cy="640080"/>
          </a:xfrm>
          <a:prstGeom prst="rect">
            <a:avLst/>
          </a:prstGeom>
          <a:noFill/>
        </p:spPr>
        <p:txBody>
          <a:bodyPr wrap="square" lIns="73152" rIns="73152" tIns="73152" bIns="73152" anchor="t">
            <a:spAutoFit/>
          </a:bodyPr>
          <a:lstStyle/>
          <a:p>
            <a:pPr algn="ctr">
              <a:defRPr sz="1500" b="0">
                <a:solidFill>
                  <a:srgbClr val="233041"/>
                </a:solidFill>
                <a:latin typeface="Aptos"/>
              </a:defRPr>
            </a:pPr>
            <a:r>
              <a:t>Screen, printout,</a:t>
            </a:r>
            <a:br/>
            <a:r>
              <a:t>sound</a:t>
            </a:r>
          </a:p>
        </p:txBody>
      </p:sp>
      <p:sp>
        <p:nvSpPr>
          <p:cNvPr id="24" name="Rounded Rectangle 23"/>
          <p:cNvSpPr/>
          <p:nvPr/>
        </p:nvSpPr>
        <p:spPr>
          <a:xfrm>
            <a:off x="914400" y="4800600"/>
            <a:ext cx="10332720" cy="914400"/>
          </a:xfrm>
          <a:prstGeom prst="roundRect">
            <a:avLst/>
          </a:prstGeom>
          <a:solidFill>
            <a:srgbClr val="EBF5FF"/>
          </a:solidFill>
          <a:ln>
            <a:solidFill>
              <a:srgbClr val="DCE7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14400" y="4800600"/>
            <a:ext cx="82296" cy="914400"/>
          </a:xfrm>
          <a:prstGeom prst="rect">
            <a:avLst/>
          </a:prstGeom>
          <a:solidFill>
            <a:srgbClr val="FF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78992" y="4919472"/>
            <a:ext cx="10058400" cy="347472"/>
          </a:xfrm>
          <a:prstGeom prst="rect">
            <a:avLst/>
          </a:prstGeom>
          <a:noFill/>
        </p:spPr>
        <p:txBody>
          <a:bodyPr wrap="square" lIns="73152" rIns="73152" tIns="73152" bIns="73152" anchor="t">
            <a:spAutoFit/>
          </a:bodyPr>
          <a:lstStyle/>
          <a:p>
            <a:pPr algn="l">
              <a:defRPr sz="1700" b="1">
                <a:solidFill>
                  <a:srgbClr val="0A234B"/>
                </a:solidFill>
                <a:latin typeface="Aptos"/>
              </a:defRPr>
            </a:pPr>
            <a:r>
              <a:t>Example: typing a class assignment</a:t>
            </a:r>
          </a:p>
        </p:txBody>
      </p:sp>
      <p:sp>
        <p:nvSpPr>
          <p:cNvPr id="27" name="TextBox 26"/>
          <p:cNvSpPr txBox="1"/>
          <p:nvPr/>
        </p:nvSpPr>
        <p:spPr>
          <a:xfrm>
            <a:off x="1078992" y="5330952"/>
            <a:ext cx="10058400" cy="292607"/>
          </a:xfrm>
          <a:prstGeom prst="rect">
            <a:avLst/>
          </a:prstGeom>
          <a:noFill/>
        </p:spPr>
        <p:txBody>
          <a:bodyPr wrap="square" lIns="73152" rIns="73152" tIns="73152" bIns="73152" anchor="t">
            <a:spAutoFit/>
          </a:bodyPr>
          <a:lstStyle/>
          <a:p>
            <a:pPr algn="l">
              <a:defRPr sz="1500" b="0">
                <a:solidFill>
                  <a:srgbClr val="233041"/>
                </a:solidFill>
                <a:latin typeface="Aptos"/>
              </a:defRPr>
            </a:pPr>
            <a:r>
              <a:t>You type words (input) → the processor handles instructions (processing) → the file is saved (storage) → the text appears on screen or paper (output).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0A23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828800" cy="292608"/>
          </a:xfrm>
          <a:prstGeom prst="rect">
            <a:avLst/>
          </a:prstGeom>
          <a:noFill/>
        </p:spPr>
        <p:txBody>
          <a:bodyPr wrap="square" lIns="73152" rIns="73152" tIns="73152" bIns="73152" anchor="t">
            <a:spAutoFit/>
          </a:bodyPr>
          <a:lstStyle/>
          <a:p>
            <a:pPr algn="l">
              <a:defRPr sz="1100" b="1">
                <a:solidFill>
                  <a:srgbClr val="FFA623"/>
                </a:solidFill>
                <a:latin typeface="Aptos"/>
              </a:defRPr>
            </a:pPr>
            <a:r>
              <a:t>WEEK 1</a:t>
            </a:r>
          </a:p>
        </p:txBody>
      </p:sp>
      <p:sp>
        <p:nvSpPr>
          <p:cNvPr id="4" name="TextBox 3"/>
          <p:cNvSpPr txBox="1"/>
          <p:nvPr/>
        </p:nvSpPr>
        <p:spPr>
          <a:xfrm>
            <a:off x="502920" y="566928"/>
            <a:ext cx="11155680" cy="530352"/>
          </a:xfrm>
          <a:prstGeom prst="rect">
            <a:avLst/>
          </a:prstGeom>
          <a:noFill/>
        </p:spPr>
        <p:txBody>
          <a:bodyPr wrap="square" lIns="73152" rIns="73152" tIns="73152" bIns="73152" anchor="t">
            <a:spAutoFit/>
          </a:bodyPr>
          <a:lstStyle/>
          <a:p>
            <a:pPr algn="l">
              <a:defRPr sz="2900" b="1">
                <a:solidFill>
                  <a:srgbClr val="0A234B"/>
                </a:solidFill>
                <a:latin typeface="Aptos"/>
              </a:defRPr>
            </a:pPr>
            <a:r>
              <a:t>Why Do We Use Computers?</a:t>
            </a:r>
          </a:p>
        </p:txBody>
      </p:sp>
      <p:sp>
        <p:nvSpPr>
          <p:cNvPr id="5" name="TextBox 4"/>
          <p:cNvSpPr txBox="1"/>
          <p:nvPr/>
        </p:nvSpPr>
        <p:spPr>
          <a:xfrm>
            <a:off x="530352" y="1143000"/>
            <a:ext cx="10972800" cy="384048"/>
          </a:xfrm>
          <a:prstGeom prst="rect">
            <a:avLst/>
          </a:prstGeom>
          <a:noFill/>
        </p:spPr>
        <p:txBody>
          <a:bodyPr wrap="square" lIns="73152" rIns="73152" tIns="73152" bIns="73152" anchor="t">
            <a:spAutoFit/>
          </a:bodyPr>
          <a:lstStyle/>
          <a:p>
            <a:pPr algn="l">
              <a:defRPr sz="1400" b="0">
                <a:solidFill>
                  <a:srgbClr val="5F6E7D"/>
                </a:solidFill>
                <a:latin typeface="Aptos"/>
              </a:defRPr>
            </a:pPr>
            <a:r>
              <a:t>Computers help people work with information quickly and consistently.</a:t>
            </a:r>
          </a:p>
        </p:txBody>
      </p:sp>
      <p:sp>
        <p:nvSpPr>
          <p:cNvPr id="6" name="Rectangle 5"/>
          <p:cNvSpPr/>
          <p:nvPr/>
        </p:nvSpPr>
        <p:spPr>
          <a:xfrm>
            <a:off x="502920" y="6510528"/>
            <a:ext cx="11155680" cy="13716"/>
          </a:xfrm>
          <a:prstGeom prst="rect">
            <a:avLst/>
          </a:prstGeom>
          <a:solidFill>
            <a:srgbClr val="DCE6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6537960"/>
            <a:ext cx="7772400" cy="201168"/>
          </a:xfrm>
          <a:prstGeom prst="rect">
            <a:avLst/>
          </a:prstGeom>
          <a:noFill/>
        </p:spPr>
        <p:txBody>
          <a:bodyPr wrap="square" lIns="73152" rIns="73152" tIns="73152" bIns="73152" anchor="t">
            <a:spAutoFit/>
          </a:bodyPr>
          <a:lstStyle/>
          <a:p>
            <a:pPr algn="l">
              <a:defRPr sz="900" b="0">
                <a:solidFill>
                  <a:srgbClr val="5F6E7D"/>
                </a:solidFill>
                <a:latin typeface="Aptos"/>
              </a:defRPr>
            </a:pPr>
            <a:r>
              <a:t>Applications of ICT • BS FinTech • Semester 1</a:t>
            </a:r>
          </a:p>
        </p:txBody>
      </p:sp>
      <p:sp>
        <p:nvSpPr>
          <p:cNvPr id="8" name="TextBox 7"/>
          <p:cNvSpPr txBox="1"/>
          <p:nvPr/>
        </p:nvSpPr>
        <p:spPr>
          <a:xfrm>
            <a:off x="10972800" y="6528816"/>
            <a:ext cx="640080" cy="201168"/>
          </a:xfrm>
          <a:prstGeom prst="rect">
            <a:avLst/>
          </a:prstGeom>
          <a:noFill/>
        </p:spPr>
        <p:txBody>
          <a:bodyPr wrap="square" lIns="73152" rIns="73152" tIns="73152" bIns="73152" anchor="t">
            <a:spAutoFit/>
          </a:bodyPr>
          <a:lstStyle/>
          <a:p>
            <a:pPr algn="r">
              <a:defRPr sz="900" b="0">
                <a:solidFill>
                  <a:srgbClr val="5F6E7D"/>
                </a:solidFill>
                <a:latin typeface="Aptos"/>
              </a:defRPr>
            </a:pPr>
            <a:r>
              <a:t>5</a:t>
            </a:r>
          </a:p>
        </p:txBody>
      </p:sp>
      <p:sp>
        <p:nvSpPr>
          <p:cNvPr id="9" name="Rounded Rectangle 8"/>
          <p:cNvSpPr/>
          <p:nvPr/>
        </p:nvSpPr>
        <p:spPr>
          <a:xfrm>
            <a:off x="640080" y="1828800"/>
            <a:ext cx="2606040" cy="2240280"/>
          </a:xfrm>
          <a:prstGeom prst="roundRect">
            <a:avLst/>
          </a:prstGeom>
          <a:solidFill>
            <a:srgbClr val="EBF5FF"/>
          </a:solidFill>
          <a:ln>
            <a:solidFill>
              <a:srgbClr val="DCE7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1828800"/>
            <a:ext cx="82296" cy="2240280"/>
          </a:xfrm>
          <a:prstGeom prst="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1" y="1947672"/>
            <a:ext cx="2331720" cy="347472"/>
          </a:xfrm>
          <a:prstGeom prst="rect">
            <a:avLst/>
          </a:prstGeom>
          <a:noFill/>
        </p:spPr>
        <p:txBody>
          <a:bodyPr wrap="square" lIns="73152" rIns="73152" tIns="73152" bIns="73152" anchor="t">
            <a:spAutoFit/>
          </a:bodyPr>
          <a:lstStyle/>
          <a:p>
            <a:pPr algn="l">
              <a:defRPr sz="1800" b="1">
                <a:solidFill>
                  <a:srgbClr val="0A234B"/>
                </a:solidFill>
                <a:latin typeface="Aptos"/>
              </a:defRPr>
            </a:pPr>
            <a:r>
              <a:t>Education</a:t>
            </a:r>
          </a:p>
        </p:txBody>
      </p:sp>
      <p:sp>
        <p:nvSpPr>
          <p:cNvPr id="12" name="TextBox 11"/>
          <p:cNvSpPr txBox="1"/>
          <p:nvPr/>
        </p:nvSpPr>
        <p:spPr>
          <a:xfrm>
            <a:off x="749808" y="2359152"/>
            <a:ext cx="2377440" cy="1618488"/>
          </a:xfrm>
          <a:prstGeom prst="rect">
            <a:avLst/>
          </a:prstGeom>
          <a:noFill/>
        </p:spPr>
        <p:txBody>
          <a:bodyPr wrap="square" lIns="109728" tIns="73152">
            <a:spAutoFit/>
          </a:bodyPr>
          <a:lstStyle/>
          <a:p>
            <a:pPr>
              <a:spcAft>
                <a:spcPts val="500"/>
              </a:spcAft>
              <a:defRPr sz="1600">
                <a:solidFill>
                  <a:srgbClr val="233041"/>
                </a:solidFill>
                <a:latin typeface="Aptos"/>
              </a:defRPr>
            </a:pPr>
            <a:r>
              <a:t>•  Online learning</a:t>
            </a:r>
          </a:p>
          <a:p>
            <a:pPr>
              <a:spcAft>
                <a:spcPts val="500"/>
              </a:spcAft>
              <a:defRPr sz="1600">
                <a:solidFill>
                  <a:srgbClr val="233041"/>
                </a:solidFill>
                <a:latin typeface="Aptos"/>
              </a:defRPr>
            </a:pPr>
            <a:r>
              <a:t>•  Research and assignments</a:t>
            </a:r>
          </a:p>
        </p:txBody>
      </p:sp>
      <p:sp>
        <p:nvSpPr>
          <p:cNvPr id="13" name="Rounded Rectangle 12"/>
          <p:cNvSpPr/>
          <p:nvPr/>
        </p:nvSpPr>
        <p:spPr>
          <a:xfrm>
            <a:off x="3520439" y="1828800"/>
            <a:ext cx="2606040" cy="2240280"/>
          </a:xfrm>
          <a:prstGeom prst="roundRect">
            <a:avLst/>
          </a:prstGeom>
          <a:solidFill>
            <a:srgbClr val="F7FAFD"/>
          </a:solidFill>
          <a:ln>
            <a:solidFill>
              <a:srgbClr val="DCE7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20439" y="1828800"/>
            <a:ext cx="82296" cy="2240280"/>
          </a:xfrm>
          <a:prstGeom prst="rect">
            <a:avLst/>
          </a:prstGeom>
          <a:solidFill>
            <a:srgbClr val="1C9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85031" y="1947672"/>
            <a:ext cx="2331720" cy="347472"/>
          </a:xfrm>
          <a:prstGeom prst="rect">
            <a:avLst/>
          </a:prstGeom>
          <a:noFill/>
        </p:spPr>
        <p:txBody>
          <a:bodyPr wrap="square" lIns="73152" rIns="73152" tIns="73152" bIns="73152" anchor="t">
            <a:spAutoFit/>
          </a:bodyPr>
          <a:lstStyle/>
          <a:p>
            <a:pPr algn="l">
              <a:defRPr sz="1800" b="1">
                <a:solidFill>
                  <a:srgbClr val="0A234B"/>
                </a:solidFill>
                <a:latin typeface="Aptos"/>
              </a:defRPr>
            </a:pPr>
            <a:r>
              <a:t>Business &amp; FinTech</a:t>
            </a:r>
          </a:p>
        </p:txBody>
      </p:sp>
      <p:sp>
        <p:nvSpPr>
          <p:cNvPr id="16" name="TextBox 15"/>
          <p:cNvSpPr txBox="1"/>
          <p:nvPr/>
        </p:nvSpPr>
        <p:spPr>
          <a:xfrm>
            <a:off x="3630168" y="2359152"/>
            <a:ext cx="2377440" cy="1618488"/>
          </a:xfrm>
          <a:prstGeom prst="rect">
            <a:avLst/>
          </a:prstGeom>
          <a:noFill/>
        </p:spPr>
        <p:txBody>
          <a:bodyPr wrap="square" lIns="109728" tIns="73152">
            <a:spAutoFit/>
          </a:bodyPr>
          <a:lstStyle/>
          <a:p>
            <a:pPr>
              <a:spcAft>
                <a:spcPts val="500"/>
              </a:spcAft>
              <a:defRPr sz="1600">
                <a:solidFill>
                  <a:srgbClr val="233041"/>
                </a:solidFill>
                <a:latin typeface="Aptos"/>
              </a:defRPr>
            </a:pPr>
            <a:r>
              <a:t>•  Digital payments</a:t>
            </a:r>
          </a:p>
          <a:p>
            <a:pPr>
              <a:spcAft>
                <a:spcPts val="500"/>
              </a:spcAft>
              <a:defRPr sz="1600">
                <a:solidFill>
                  <a:srgbClr val="233041"/>
                </a:solidFill>
                <a:latin typeface="Aptos"/>
              </a:defRPr>
            </a:pPr>
            <a:r>
              <a:t>•  Records and reports</a:t>
            </a:r>
          </a:p>
        </p:txBody>
      </p:sp>
      <p:sp>
        <p:nvSpPr>
          <p:cNvPr id="17" name="Rounded Rectangle 16"/>
          <p:cNvSpPr/>
          <p:nvPr/>
        </p:nvSpPr>
        <p:spPr>
          <a:xfrm>
            <a:off x="6400800" y="1828800"/>
            <a:ext cx="2606040" cy="2240280"/>
          </a:xfrm>
          <a:prstGeom prst="roundRect">
            <a:avLst/>
          </a:prstGeom>
          <a:solidFill>
            <a:srgbClr val="EBF5FF"/>
          </a:solidFill>
          <a:ln>
            <a:solidFill>
              <a:srgbClr val="DCE7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0800" y="1828800"/>
            <a:ext cx="82296" cy="2240280"/>
          </a:xfrm>
          <a:prstGeom prst="rect">
            <a:avLst/>
          </a:prstGeom>
          <a:solidFill>
            <a:srgbClr val="754D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65392" y="1947672"/>
            <a:ext cx="2331720" cy="347472"/>
          </a:xfrm>
          <a:prstGeom prst="rect">
            <a:avLst/>
          </a:prstGeom>
          <a:noFill/>
        </p:spPr>
        <p:txBody>
          <a:bodyPr wrap="square" lIns="73152" rIns="73152" tIns="73152" bIns="73152" anchor="t">
            <a:spAutoFit/>
          </a:bodyPr>
          <a:lstStyle/>
          <a:p>
            <a:pPr algn="l">
              <a:defRPr sz="1800" b="1">
                <a:solidFill>
                  <a:srgbClr val="0A234B"/>
                </a:solidFill>
                <a:latin typeface="Aptos"/>
              </a:defRPr>
            </a:pPr>
            <a:r>
              <a:t>Communication</a:t>
            </a:r>
          </a:p>
        </p:txBody>
      </p:sp>
      <p:sp>
        <p:nvSpPr>
          <p:cNvPr id="20" name="TextBox 19"/>
          <p:cNvSpPr txBox="1"/>
          <p:nvPr/>
        </p:nvSpPr>
        <p:spPr>
          <a:xfrm>
            <a:off x="6510528" y="2359152"/>
            <a:ext cx="2377440" cy="1618488"/>
          </a:xfrm>
          <a:prstGeom prst="rect">
            <a:avLst/>
          </a:prstGeom>
          <a:noFill/>
        </p:spPr>
        <p:txBody>
          <a:bodyPr wrap="square" lIns="109728" tIns="73152">
            <a:spAutoFit/>
          </a:bodyPr>
          <a:lstStyle/>
          <a:p>
            <a:pPr>
              <a:spcAft>
                <a:spcPts val="500"/>
              </a:spcAft>
              <a:defRPr sz="1600">
                <a:solidFill>
                  <a:srgbClr val="233041"/>
                </a:solidFill>
                <a:latin typeface="Aptos"/>
              </a:defRPr>
            </a:pPr>
            <a:r>
              <a:t>•  Email and video calls</a:t>
            </a:r>
          </a:p>
          <a:p>
            <a:pPr>
              <a:spcAft>
                <a:spcPts val="500"/>
              </a:spcAft>
              <a:defRPr sz="1600">
                <a:solidFill>
                  <a:srgbClr val="233041"/>
                </a:solidFill>
                <a:latin typeface="Aptos"/>
              </a:defRPr>
            </a:pPr>
            <a:r>
              <a:t>•  Messaging and collaboration</a:t>
            </a:r>
          </a:p>
        </p:txBody>
      </p:sp>
      <p:sp>
        <p:nvSpPr>
          <p:cNvPr id="21" name="Rounded Rectangle 20"/>
          <p:cNvSpPr/>
          <p:nvPr/>
        </p:nvSpPr>
        <p:spPr>
          <a:xfrm>
            <a:off x="9281159" y="1828800"/>
            <a:ext cx="2606040" cy="2240280"/>
          </a:xfrm>
          <a:prstGeom prst="roundRect">
            <a:avLst/>
          </a:prstGeom>
          <a:solidFill>
            <a:srgbClr val="F7FAFD"/>
          </a:solidFill>
          <a:ln>
            <a:solidFill>
              <a:srgbClr val="DCE7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281159" y="1828800"/>
            <a:ext cx="82296" cy="2240280"/>
          </a:xfrm>
          <a:prstGeom prst="rect">
            <a:avLst/>
          </a:prstGeom>
          <a:solidFill>
            <a:srgbClr val="FF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45751" y="1947672"/>
            <a:ext cx="2331720" cy="347472"/>
          </a:xfrm>
          <a:prstGeom prst="rect">
            <a:avLst/>
          </a:prstGeom>
          <a:noFill/>
        </p:spPr>
        <p:txBody>
          <a:bodyPr wrap="square" lIns="73152" rIns="73152" tIns="73152" bIns="73152" anchor="t">
            <a:spAutoFit/>
          </a:bodyPr>
          <a:lstStyle/>
          <a:p>
            <a:pPr algn="l">
              <a:defRPr sz="1800" b="1">
                <a:solidFill>
                  <a:srgbClr val="0A234B"/>
                </a:solidFill>
                <a:latin typeface="Aptos"/>
              </a:defRPr>
            </a:pPr>
            <a:r>
              <a:t>Everyday life</a:t>
            </a:r>
          </a:p>
        </p:txBody>
      </p:sp>
      <p:sp>
        <p:nvSpPr>
          <p:cNvPr id="24" name="TextBox 23"/>
          <p:cNvSpPr txBox="1"/>
          <p:nvPr/>
        </p:nvSpPr>
        <p:spPr>
          <a:xfrm>
            <a:off x="9390887" y="2359152"/>
            <a:ext cx="2377440" cy="1618488"/>
          </a:xfrm>
          <a:prstGeom prst="rect">
            <a:avLst/>
          </a:prstGeom>
          <a:noFill/>
        </p:spPr>
        <p:txBody>
          <a:bodyPr wrap="square" lIns="109728" tIns="73152">
            <a:spAutoFit/>
          </a:bodyPr>
          <a:lstStyle/>
          <a:p>
            <a:pPr>
              <a:spcAft>
                <a:spcPts val="500"/>
              </a:spcAft>
              <a:defRPr sz="1600">
                <a:solidFill>
                  <a:srgbClr val="233041"/>
                </a:solidFill>
                <a:latin typeface="Aptos"/>
              </a:defRPr>
            </a:pPr>
            <a:r>
              <a:t>•  Maps and shopping</a:t>
            </a:r>
          </a:p>
          <a:p>
            <a:pPr>
              <a:spcAft>
                <a:spcPts val="500"/>
              </a:spcAft>
              <a:defRPr sz="1600">
                <a:solidFill>
                  <a:srgbClr val="233041"/>
                </a:solidFill>
                <a:latin typeface="Aptos"/>
              </a:defRPr>
            </a:pPr>
            <a:r>
              <a:t>•  Banking and entertainment</a:t>
            </a:r>
          </a:p>
        </p:txBody>
      </p:sp>
      <p:sp>
        <p:nvSpPr>
          <p:cNvPr id="25" name="Rounded Rectangle 24"/>
          <p:cNvSpPr/>
          <p:nvPr/>
        </p:nvSpPr>
        <p:spPr>
          <a:xfrm>
            <a:off x="914400" y="4572000"/>
            <a:ext cx="10241280" cy="1051560"/>
          </a:xfrm>
          <a:prstGeom prst="roundRect">
            <a:avLst/>
          </a:prstGeom>
          <a:solidFill>
            <a:srgbClr val="EBFAF4"/>
          </a:solidFill>
          <a:ln>
            <a:solidFill>
              <a:srgbClr val="DCE7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14400" y="4572000"/>
            <a:ext cx="82296" cy="1051560"/>
          </a:xfrm>
          <a:prstGeom prst="rect">
            <a:avLst/>
          </a:prstGeom>
          <a:solidFill>
            <a:srgbClr val="1C9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78992" y="4690872"/>
            <a:ext cx="9966959" cy="347472"/>
          </a:xfrm>
          <a:prstGeom prst="rect">
            <a:avLst/>
          </a:prstGeom>
          <a:noFill/>
        </p:spPr>
        <p:txBody>
          <a:bodyPr wrap="square" lIns="73152" rIns="73152" tIns="73152" bIns="73152" anchor="t">
            <a:spAutoFit/>
          </a:bodyPr>
          <a:lstStyle/>
          <a:p>
            <a:pPr algn="l">
              <a:defRPr sz="1800" b="1">
                <a:solidFill>
                  <a:srgbClr val="0A234B"/>
                </a:solidFill>
                <a:latin typeface="Aptos"/>
              </a:defRPr>
            </a:pPr>
            <a:r>
              <a:t>FinTech example</a:t>
            </a:r>
          </a:p>
        </p:txBody>
      </p:sp>
      <p:sp>
        <p:nvSpPr>
          <p:cNvPr id="28" name="TextBox 27"/>
          <p:cNvSpPr txBox="1"/>
          <p:nvPr/>
        </p:nvSpPr>
        <p:spPr>
          <a:xfrm>
            <a:off x="1078992" y="5102352"/>
            <a:ext cx="9966959" cy="429767"/>
          </a:xfrm>
          <a:prstGeom prst="rect">
            <a:avLst/>
          </a:prstGeom>
          <a:noFill/>
        </p:spPr>
        <p:txBody>
          <a:bodyPr wrap="square" lIns="73152" rIns="73152" tIns="73152" bIns="73152" anchor="t">
            <a:spAutoFit/>
          </a:bodyPr>
          <a:lstStyle/>
          <a:p>
            <a:pPr algn="l">
              <a:defRPr sz="1600" b="0">
                <a:solidFill>
                  <a:srgbClr val="233041"/>
                </a:solidFill>
                <a:latin typeface="Aptos"/>
              </a:defRPr>
            </a:pPr>
            <a:r>
              <a:t>A mobile banking app lets a customer check a balance, transfer money and review transactions without visiting a branch.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0A23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828800" cy="292608"/>
          </a:xfrm>
          <a:prstGeom prst="rect">
            <a:avLst/>
          </a:prstGeom>
          <a:noFill/>
        </p:spPr>
        <p:txBody>
          <a:bodyPr wrap="square" lIns="73152" rIns="73152" tIns="73152" bIns="73152" anchor="t">
            <a:spAutoFit/>
          </a:bodyPr>
          <a:lstStyle/>
          <a:p>
            <a:pPr algn="l">
              <a:defRPr sz="1100" b="1">
                <a:solidFill>
                  <a:srgbClr val="FFA623"/>
                </a:solidFill>
                <a:latin typeface="Aptos"/>
              </a:defRPr>
            </a:pPr>
            <a:r>
              <a:t>WEEK 1</a:t>
            </a:r>
          </a:p>
        </p:txBody>
      </p:sp>
      <p:sp>
        <p:nvSpPr>
          <p:cNvPr id="4" name="TextBox 3"/>
          <p:cNvSpPr txBox="1"/>
          <p:nvPr/>
        </p:nvSpPr>
        <p:spPr>
          <a:xfrm>
            <a:off x="502920" y="566928"/>
            <a:ext cx="11155680" cy="530352"/>
          </a:xfrm>
          <a:prstGeom prst="rect">
            <a:avLst/>
          </a:prstGeom>
          <a:noFill/>
        </p:spPr>
        <p:txBody>
          <a:bodyPr wrap="square" lIns="73152" rIns="73152" tIns="73152" bIns="73152" anchor="t">
            <a:spAutoFit/>
          </a:bodyPr>
          <a:lstStyle/>
          <a:p>
            <a:pPr algn="l">
              <a:defRPr sz="2900" b="1">
                <a:solidFill>
                  <a:srgbClr val="0A234B"/>
                </a:solidFill>
                <a:latin typeface="Aptos"/>
              </a:defRPr>
            </a:pPr>
            <a:r>
              <a:t>Computer Hardware</a:t>
            </a:r>
          </a:p>
        </p:txBody>
      </p:sp>
      <p:sp>
        <p:nvSpPr>
          <p:cNvPr id="5" name="TextBox 4"/>
          <p:cNvSpPr txBox="1"/>
          <p:nvPr/>
        </p:nvSpPr>
        <p:spPr>
          <a:xfrm>
            <a:off x="530352" y="1143000"/>
            <a:ext cx="10972800" cy="384048"/>
          </a:xfrm>
          <a:prstGeom prst="rect">
            <a:avLst/>
          </a:prstGeom>
          <a:noFill/>
        </p:spPr>
        <p:txBody>
          <a:bodyPr wrap="square" lIns="73152" rIns="73152" tIns="73152" bIns="73152" anchor="t">
            <a:spAutoFit/>
          </a:bodyPr>
          <a:lstStyle/>
          <a:p>
            <a:pPr algn="l">
              <a:defRPr sz="1400" b="0">
                <a:solidFill>
                  <a:srgbClr val="5F6E7D"/>
                </a:solidFill>
                <a:latin typeface="Aptos"/>
              </a:defRPr>
            </a:pPr>
            <a:r>
              <a:t>Hardware means the physical parts of a computer that you can touch.</a:t>
            </a:r>
          </a:p>
        </p:txBody>
      </p:sp>
      <p:sp>
        <p:nvSpPr>
          <p:cNvPr id="6" name="Rectangle 5"/>
          <p:cNvSpPr/>
          <p:nvPr/>
        </p:nvSpPr>
        <p:spPr>
          <a:xfrm>
            <a:off x="502920" y="6510528"/>
            <a:ext cx="11155680" cy="13716"/>
          </a:xfrm>
          <a:prstGeom prst="rect">
            <a:avLst/>
          </a:prstGeom>
          <a:solidFill>
            <a:srgbClr val="DCE6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6537960"/>
            <a:ext cx="7772400" cy="201168"/>
          </a:xfrm>
          <a:prstGeom prst="rect">
            <a:avLst/>
          </a:prstGeom>
          <a:noFill/>
        </p:spPr>
        <p:txBody>
          <a:bodyPr wrap="square" lIns="73152" rIns="73152" tIns="73152" bIns="73152" anchor="t">
            <a:spAutoFit/>
          </a:bodyPr>
          <a:lstStyle/>
          <a:p>
            <a:pPr algn="l">
              <a:defRPr sz="900" b="0">
                <a:solidFill>
                  <a:srgbClr val="5F6E7D"/>
                </a:solidFill>
                <a:latin typeface="Aptos"/>
              </a:defRPr>
            </a:pPr>
            <a:r>
              <a:t>Applications of ICT • BS FinTech • Semester 1</a:t>
            </a:r>
          </a:p>
        </p:txBody>
      </p:sp>
      <p:sp>
        <p:nvSpPr>
          <p:cNvPr id="8" name="TextBox 7"/>
          <p:cNvSpPr txBox="1"/>
          <p:nvPr/>
        </p:nvSpPr>
        <p:spPr>
          <a:xfrm>
            <a:off x="10972800" y="6528816"/>
            <a:ext cx="640080" cy="201168"/>
          </a:xfrm>
          <a:prstGeom prst="rect">
            <a:avLst/>
          </a:prstGeom>
          <a:noFill/>
        </p:spPr>
        <p:txBody>
          <a:bodyPr wrap="square" lIns="73152" rIns="73152" tIns="73152" bIns="73152" anchor="t">
            <a:spAutoFit/>
          </a:bodyPr>
          <a:lstStyle/>
          <a:p>
            <a:pPr algn="r">
              <a:defRPr sz="900" b="0">
                <a:solidFill>
                  <a:srgbClr val="5F6E7D"/>
                </a:solidFill>
                <a:latin typeface="Aptos"/>
              </a:defRPr>
            </a:pPr>
            <a:r>
              <a:t>6</a:t>
            </a:r>
          </a:p>
        </p:txBody>
      </p:sp>
      <p:sp>
        <p:nvSpPr>
          <p:cNvPr id="9" name="Rounded Rectangle 8"/>
          <p:cNvSpPr/>
          <p:nvPr/>
        </p:nvSpPr>
        <p:spPr>
          <a:xfrm>
            <a:off x="914400" y="1828800"/>
            <a:ext cx="3017520" cy="1920240"/>
          </a:xfrm>
          <a:prstGeom prst="roundRect">
            <a:avLst/>
          </a:prstGeom>
          <a:solidFill>
            <a:srgbClr val="233448"/>
          </a:solidFill>
          <a:ln>
            <a:solidFill>
              <a:srgbClr val="1976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97280" y="2011680"/>
            <a:ext cx="2651760" cy="1417320"/>
          </a:xfrm>
          <a:prstGeom prst="rect">
            <a:avLst/>
          </a:prstGeom>
          <a:solidFill>
            <a:srgbClr val="EB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34440" y="2423160"/>
            <a:ext cx="2377440" cy="502920"/>
          </a:xfrm>
          <a:prstGeom prst="rect">
            <a:avLst/>
          </a:prstGeom>
          <a:noFill/>
        </p:spPr>
        <p:txBody>
          <a:bodyPr wrap="square" lIns="73152" rIns="73152" tIns="73152" bIns="73152" anchor="t">
            <a:spAutoFit/>
          </a:bodyPr>
          <a:lstStyle/>
          <a:p>
            <a:pPr algn="ctr">
              <a:defRPr sz="1800" b="1">
                <a:solidFill>
                  <a:srgbClr val="1976D2"/>
                </a:solidFill>
                <a:latin typeface="Aptos"/>
              </a:defRPr>
            </a:pPr>
            <a:r>
              <a:t>DISPLAY</a:t>
            </a:r>
          </a:p>
        </p:txBody>
      </p:sp>
      <p:sp>
        <p:nvSpPr>
          <p:cNvPr id="12" name="Rectangle 11"/>
          <p:cNvSpPr/>
          <p:nvPr/>
        </p:nvSpPr>
        <p:spPr>
          <a:xfrm>
            <a:off x="2194560" y="3749039"/>
            <a:ext cx="457200" cy="320040"/>
          </a:xfrm>
          <a:prstGeom prst="rect">
            <a:avLst/>
          </a:prstGeom>
          <a:solidFill>
            <a:srgbClr val="5F6E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783080" y="4041648"/>
            <a:ext cx="1280160" cy="109728"/>
          </a:xfrm>
          <a:prstGeom prst="rect">
            <a:avLst/>
          </a:prstGeom>
          <a:solidFill>
            <a:srgbClr val="5F6E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251960" y="2057400"/>
            <a:ext cx="1051560" cy="2148840"/>
          </a:xfrm>
          <a:prstGeom prst="roundRect">
            <a:avLst/>
          </a:prstGeom>
          <a:solidFill>
            <a:srgbClr val="0A234B"/>
          </a:solidFill>
          <a:ln>
            <a:solidFill>
              <a:srgbClr val="1976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61688" y="2743200"/>
            <a:ext cx="822960" cy="548640"/>
          </a:xfrm>
          <a:prstGeom prst="rect">
            <a:avLst/>
          </a:prstGeom>
          <a:noFill/>
        </p:spPr>
        <p:txBody>
          <a:bodyPr wrap="square" lIns="73152" rIns="73152" tIns="73152" bIns="73152" anchor="t">
            <a:spAutoFit/>
          </a:bodyPr>
          <a:lstStyle/>
          <a:p>
            <a:pPr algn="ctr">
              <a:defRPr sz="1300" b="1">
                <a:solidFill>
                  <a:srgbClr val="FFFFFF"/>
                </a:solidFill>
                <a:latin typeface="Aptos"/>
              </a:defRPr>
            </a:pPr>
            <a:r>
              <a:t>CPU /</a:t>
            </a:r>
            <a:br/>
            <a:r>
              <a:t>SYSTEM</a:t>
            </a:r>
          </a:p>
        </p:txBody>
      </p:sp>
      <p:sp>
        <p:nvSpPr>
          <p:cNvPr id="16" name="Rounded Rectangle 15"/>
          <p:cNvSpPr/>
          <p:nvPr/>
        </p:nvSpPr>
        <p:spPr>
          <a:xfrm>
            <a:off x="5806440" y="1645920"/>
            <a:ext cx="5212080" cy="3337560"/>
          </a:xfrm>
          <a:prstGeom prst="roundRect">
            <a:avLst/>
          </a:prstGeom>
          <a:solidFill>
            <a:srgbClr val="F7FAFD"/>
          </a:solidFill>
          <a:ln>
            <a:solidFill>
              <a:srgbClr val="DCE7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806440" y="1645920"/>
            <a:ext cx="82296" cy="3337560"/>
          </a:xfrm>
          <a:prstGeom prst="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71031" y="1764792"/>
            <a:ext cx="4937760" cy="347472"/>
          </a:xfrm>
          <a:prstGeom prst="rect">
            <a:avLst/>
          </a:prstGeom>
          <a:noFill/>
        </p:spPr>
        <p:txBody>
          <a:bodyPr wrap="square" lIns="73152" rIns="73152" tIns="73152" bIns="73152" anchor="t">
            <a:spAutoFit/>
          </a:bodyPr>
          <a:lstStyle/>
          <a:p>
            <a:pPr algn="l">
              <a:defRPr sz="1900" b="1">
                <a:solidFill>
                  <a:srgbClr val="0A234B"/>
                </a:solidFill>
                <a:latin typeface="Aptos"/>
              </a:defRPr>
            </a:pPr>
            <a:r>
              <a:t>Common hardware components</a:t>
            </a:r>
          </a:p>
        </p:txBody>
      </p:sp>
      <p:sp>
        <p:nvSpPr>
          <p:cNvPr id="19" name="TextBox 18"/>
          <p:cNvSpPr txBox="1"/>
          <p:nvPr/>
        </p:nvSpPr>
        <p:spPr>
          <a:xfrm>
            <a:off x="5916168" y="2176272"/>
            <a:ext cx="4983480" cy="2715768"/>
          </a:xfrm>
          <a:prstGeom prst="rect">
            <a:avLst/>
          </a:prstGeom>
          <a:noFill/>
        </p:spPr>
        <p:txBody>
          <a:bodyPr wrap="square" lIns="109728" tIns="73152">
            <a:spAutoFit/>
          </a:bodyPr>
          <a:lstStyle/>
          <a:p>
            <a:pPr>
              <a:spcAft>
                <a:spcPts val="500"/>
              </a:spcAft>
              <a:defRPr sz="1600">
                <a:solidFill>
                  <a:srgbClr val="233041"/>
                </a:solidFill>
                <a:latin typeface="Aptos"/>
              </a:defRPr>
            </a:pPr>
            <a:r>
              <a:t>•  CPU — executes instructions and processes data</a:t>
            </a:r>
          </a:p>
          <a:p>
            <a:pPr>
              <a:spcAft>
                <a:spcPts val="500"/>
              </a:spcAft>
              <a:defRPr sz="1600">
                <a:solidFill>
                  <a:srgbClr val="233041"/>
                </a:solidFill>
                <a:latin typeface="Aptos"/>
              </a:defRPr>
            </a:pPr>
            <a:r>
              <a:t>•  RAM — temporary working memory</a:t>
            </a:r>
          </a:p>
          <a:p>
            <a:pPr>
              <a:spcAft>
                <a:spcPts val="500"/>
              </a:spcAft>
              <a:defRPr sz="1600">
                <a:solidFill>
                  <a:srgbClr val="233041"/>
                </a:solidFill>
                <a:latin typeface="Aptos"/>
              </a:defRPr>
            </a:pPr>
            <a:r>
              <a:t>•  SSD/HDD — long-term file storage</a:t>
            </a:r>
          </a:p>
          <a:p>
            <a:pPr>
              <a:spcAft>
                <a:spcPts val="500"/>
              </a:spcAft>
              <a:defRPr sz="1600">
                <a:solidFill>
                  <a:srgbClr val="233041"/>
                </a:solidFill>
                <a:latin typeface="Aptos"/>
              </a:defRPr>
            </a:pPr>
            <a:r>
              <a:t>•  Motherboard — connects components</a:t>
            </a:r>
          </a:p>
          <a:p>
            <a:pPr>
              <a:spcAft>
                <a:spcPts val="500"/>
              </a:spcAft>
              <a:defRPr sz="1600">
                <a:solidFill>
                  <a:srgbClr val="233041"/>
                </a:solidFill>
                <a:latin typeface="Aptos"/>
              </a:defRPr>
            </a:pPr>
            <a:r>
              <a:t>•  Keyboard, mouse and monitor — user interaction</a:t>
            </a:r>
          </a:p>
        </p:txBody>
      </p:sp>
      <p:sp>
        <p:nvSpPr>
          <p:cNvPr id="20" name="TextBox 19"/>
          <p:cNvSpPr txBox="1"/>
          <p:nvPr/>
        </p:nvSpPr>
        <p:spPr>
          <a:xfrm>
            <a:off x="868680" y="4983480"/>
            <a:ext cx="10424160" cy="548640"/>
          </a:xfrm>
          <a:prstGeom prst="rect">
            <a:avLst/>
          </a:prstGeom>
          <a:noFill/>
        </p:spPr>
        <p:txBody>
          <a:bodyPr wrap="square" lIns="73152" rIns="73152" tIns="73152" bIns="73152" anchor="t">
            <a:spAutoFit/>
          </a:bodyPr>
          <a:lstStyle/>
          <a:p>
            <a:pPr algn="ctr">
              <a:defRPr sz="1800" b="1">
                <a:solidFill>
                  <a:srgbClr val="0A234B"/>
                </a:solidFill>
                <a:latin typeface="Aptos"/>
              </a:defRPr>
            </a:pPr>
            <a:r>
              <a:t>Quick check: Is a keyboard hardware or software? What about Microsoft Word?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0A23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828800" cy="292608"/>
          </a:xfrm>
          <a:prstGeom prst="rect">
            <a:avLst/>
          </a:prstGeom>
          <a:noFill/>
        </p:spPr>
        <p:txBody>
          <a:bodyPr wrap="square" lIns="73152" rIns="73152" tIns="73152" bIns="73152" anchor="t">
            <a:spAutoFit/>
          </a:bodyPr>
          <a:lstStyle/>
          <a:p>
            <a:pPr algn="l">
              <a:defRPr sz="1100" b="1">
                <a:solidFill>
                  <a:srgbClr val="FFA623"/>
                </a:solidFill>
                <a:latin typeface="Aptos"/>
              </a:defRPr>
            </a:pPr>
            <a:r>
              <a:t>WEEK 1</a:t>
            </a:r>
          </a:p>
        </p:txBody>
      </p:sp>
      <p:sp>
        <p:nvSpPr>
          <p:cNvPr id="4" name="TextBox 3"/>
          <p:cNvSpPr txBox="1"/>
          <p:nvPr/>
        </p:nvSpPr>
        <p:spPr>
          <a:xfrm>
            <a:off x="502920" y="566928"/>
            <a:ext cx="11155680" cy="530352"/>
          </a:xfrm>
          <a:prstGeom prst="rect">
            <a:avLst/>
          </a:prstGeom>
          <a:noFill/>
        </p:spPr>
        <p:txBody>
          <a:bodyPr wrap="square" lIns="73152" rIns="73152" tIns="73152" bIns="73152" anchor="t">
            <a:spAutoFit/>
          </a:bodyPr>
          <a:lstStyle/>
          <a:p>
            <a:pPr algn="l">
              <a:defRPr sz="2900" b="1">
                <a:solidFill>
                  <a:srgbClr val="0A234B"/>
                </a:solidFill>
                <a:latin typeface="Aptos"/>
              </a:defRPr>
            </a:pPr>
            <a:r>
              <a:t>Types of Hardware</a:t>
            </a:r>
          </a:p>
        </p:txBody>
      </p:sp>
      <p:sp>
        <p:nvSpPr>
          <p:cNvPr id="5" name="TextBox 4"/>
          <p:cNvSpPr txBox="1"/>
          <p:nvPr/>
        </p:nvSpPr>
        <p:spPr>
          <a:xfrm>
            <a:off x="530352" y="1143000"/>
            <a:ext cx="10972800" cy="384048"/>
          </a:xfrm>
          <a:prstGeom prst="rect">
            <a:avLst/>
          </a:prstGeom>
          <a:noFill/>
        </p:spPr>
        <p:txBody>
          <a:bodyPr wrap="square" lIns="73152" rIns="73152" tIns="73152" bIns="73152" anchor="t">
            <a:spAutoFit/>
          </a:bodyPr>
          <a:lstStyle/>
          <a:p>
            <a:pPr algn="l">
              <a:defRPr sz="1400" b="0">
                <a:solidFill>
                  <a:srgbClr val="5F6E7D"/>
                </a:solidFill>
                <a:latin typeface="Aptos"/>
              </a:defRPr>
            </a:pPr>
            <a:r>
              <a:t>Group devices by the job they perform.</a:t>
            </a:r>
          </a:p>
        </p:txBody>
      </p:sp>
      <p:sp>
        <p:nvSpPr>
          <p:cNvPr id="6" name="Rectangle 5"/>
          <p:cNvSpPr/>
          <p:nvPr/>
        </p:nvSpPr>
        <p:spPr>
          <a:xfrm>
            <a:off x="502920" y="6510528"/>
            <a:ext cx="11155680" cy="13716"/>
          </a:xfrm>
          <a:prstGeom prst="rect">
            <a:avLst/>
          </a:prstGeom>
          <a:solidFill>
            <a:srgbClr val="DCE6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6537960"/>
            <a:ext cx="7772400" cy="201168"/>
          </a:xfrm>
          <a:prstGeom prst="rect">
            <a:avLst/>
          </a:prstGeom>
          <a:noFill/>
        </p:spPr>
        <p:txBody>
          <a:bodyPr wrap="square" lIns="73152" rIns="73152" tIns="73152" bIns="73152" anchor="t">
            <a:spAutoFit/>
          </a:bodyPr>
          <a:lstStyle/>
          <a:p>
            <a:pPr algn="l">
              <a:defRPr sz="900" b="0">
                <a:solidFill>
                  <a:srgbClr val="5F6E7D"/>
                </a:solidFill>
                <a:latin typeface="Aptos"/>
              </a:defRPr>
            </a:pPr>
            <a:r>
              <a:t>Applications of ICT • BS FinTech • Semester 1</a:t>
            </a:r>
          </a:p>
        </p:txBody>
      </p:sp>
      <p:sp>
        <p:nvSpPr>
          <p:cNvPr id="8" name="TextBox 7"/>
          <p:cNvSpPr txBox="1"/>
          <p:nvPr/>
        </p:nvSpPr>
        <p:spPr>
          <a:xfrm>
            <a:off x="10972800" y="6528816"/>
            <a:ext cx="640080" cy="201168"/>
          </a:xfrm>
          <a:prstGeom prst="rect">
            <a:avLst/>
          </a:prstGeom>
          <a:noFill/>
        </p:spPr>
        <p:txBody>
          <a:bodyPr wrap="square" lIns="73152" rIns="73152" tIns="73152" bIns="73152" anchor="t">
            <a:spAutoFit/>
          </a:bodyPr>
          <a:lstStyle/>
          <a:p>
            <a:pPr algn="r">
              <a:defRPr sz="900" b="0">
                <a:solidFill>
                  <a:srgbClr val="5F6E7D"/>
                </a:solidFill>
                <a:latin typeface="Aptos"/>
              </a:defRPr>
            </a:pPr>
            <a:r>
              <a:t>7</a:t>
            </a:r>
          </a:p>
        </p:txBody>
      </p:sp>
      <p:sp>
        <p:nvSpPr>
          <p:cNvPr id="9" name="Rounded Rectangle 8"/>
          <p:cNvSpPr/>
          <p:nvPr/>
        </p:nvSpPr>
        <p:spPr>
          <a:xfrm>
            <a:off x="594360" y="1691640"/>
            <a:ext cx="3520440" cy="3474720"/>
          </a:xfrm>
          <a:prstGeom prst="roundRect">
            <a:avLst/>
          </a:prstGeom>
          <a:solidFill>
            <a:srgbClr val="EBF5FF"/>
          </a:solidFill>
          <a:ln>
            <a:solidFill>
              <a:srgbClr val="DCE7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94360" y="1691640"/>
            <a:ext cx="82296" cy="3474720"/>
          </a:xfrm>
          <a:prstGeom prst="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 y="1810512"/>
            <a:ext cx="3246120" cy="347472"/>
          </a:xfrm>
          <a:prstGeom prst="rect">
            <a:avLst/>
          </a:prstGeom>
          <a:noFill/>
        </p:spPr>
        <p:txBody>
          <a:bodyPr wrap="square" lIns="73152" rIns="73152" tIns="73152" bIns="73152" anchor="t">
            <a:spAutoFit/>
          </a:bodyPr>
          <a:lstStyle/>
          <a:p>
            <a:pPr algn="l">
              <a:defRPr sz="2000" b="1">
                <a:solidFill>
                  <a:srgbClr val="0A234B"/>
                </a:solidFill>
                <a:latin typeface="Aptos"/>
              </a:defRPr>
            </a:pPr>
            <a:r>
              <a:t>Input devices</a:t>
            </a:r>
          </a:p>
        </p:txBody>
      </p:sp>
      <p:sp>
        <p:nvSpPr>
          <p:cNvPr id="12" name="TextBox 11"/>
          <p:cNvSpPr txBox="1"/>
          <p:nvPr/>
        </p:nvSpPr>
        <p:spPr>
          <a:xfrm>
            <a:off x="704088" y="2221992"/>
            <a:ext cx="3291840" cy="2852927"/>
          </a:xfrm>
          <a:prstGeom prst="rect">
            <a:avLst/>
          </a:prstGeom>
          <a:noFill/>
        </p:spPr>
        <p:txBody>
          <a:bodyPr wrap="square" lIns="109728" tIns="73152">
            <a:spAutoFit/>
          </a:bodyPr>
          <a:lstStyle/>
          <a:p>
            <a:pPr>
              <a:spcAft>
                <a:spcPts val="500"/>
              </a:spcAft>
              <a:defRPr sz="1700">
                <a:solidFill>
                  <a:srgbClr val="233041"/>
                </a:solidFill>
                <a:latin typeface="Aptos"/>
              </a:defRPr>
            </a:pPr>
            <a:r>
              <a:t>•  Keyboard</a:t>
            </a:r>
          </a:p>
          <a:p>
            <a:pPr>
              <a:spcAft>
                <a:spcPts val="500"/>
              </a:spcAft>
              <a:defRPr sz="1700">
                <a:solidFill>
                  <a:srgbClr val="233041"/>
                </a:solidFill>
                <a:latin typeface="Aptos"/>
              </a:defRPr>
            </a:pPr>
            <a:r>
              <a:t>•  Mouse / touchpad</a:t>
            </a:r>
          </a:p>
          <a:p>
            <a:pPr>
              <a:spcAft>
                <a:spcPts val="500"/>
              </a:spcAft>
              <a:defRPr sz="1700">
                <a:solidFill>
                  <a:srgbClr val="233041"/>
                </a:solidFill>
                <a:latin typeface="Aptos"/>
              </a:defRPr>
            </a:pPr>
            <a:r>
              <a:t>•  Microphone</a:t>
            </a:r>
          </a:p>
          <a:p>
            <a:pPr>
              <a:spcAft>
                <a:spcPts val="500"/>
              </a:spcAft>
              <a:defRPr sz="1700">
                <a:solidFill>
                  <a:srgbClr val="233041"/>
                </a:solidFill>
                <a:latin typeface="Aptos"/>
              </a:defRPr>
            </a:pPr>
            <a:r>
              <a:t>•  Scanner / webcam</a:t>
            </a:r>
          </a:p>
        </p:txBody>
      </p:sp>
      <p:sp>
        <p:nvSpPr>
          <p:cNvPr id="13" name="Rounded Rectangle 12"/>
          <p:cNvSpPr/>
          <p:nvPr/>
        </p:nvSpPr>
        <p:spPr>
          <a:xfrm>
            <a:off x="4343400" y="1691640"/>
            <a:ext cx="3520440" cy="3474720"/>
          </a:xfrm>
          <a:prstGeom prst="roundRect">
            <a:avLst/>
          </a:prstGeom>
          <a:solidFill>
            <a:srgbClr val="EBFAF4"/>
          </a:solidFill>
          <a:ln>
            <a:solidFill>
              <a:srgbClr val="DCE7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43400" y="1691640"/>
            <a:ext cx="82296" cy="3474720"/>
          </a:xfrm>
          <a:prstGeom prst="rect">
            <a:avLst/>
          </a:prstGeom>
          <a:solidFill>
            <a:srgbClr val="1C9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07992" y="1810512"/>
            <a:ext cx="3246120" cy="347472"/>
          </a:xfrm>
          <a:prstGeom prst="rect">
            <a:avLst/>
          </a:prstGeom>
          <a:noFill/>
        </p:spPr>
        <p:txBody>
          <a:bodyPr wrap="square" lIns="73152" rIns="73152" tIns="73152" bIns="73152" anchor="t">
            <a:spAutoFit/>
          </a:bodyPr>
          <a:lstStyle/>
          <a:p>
            <a:pPr algn="l">
              <a:defRPr sz="2000" b="1">
                <a:solidFill>
                  <a:srgbClr val="0A234B"/>
                </a:solidFill>
                <a:latin typeface="Aptos"/>
              </a:defRPr>
            </a:pPr>
            <a:r>
              <a:t>Output devices</a:t>
            </a:r>
          </a:p>
        </p:txBody>
      </p:sp>
      <p:sp>
        <p:nvSpPr>
          <p:cNvPr id="16" name="TextBox 15"/>
          <p:cNvSpPr txBox="1"/>
          <p:nvPr/>
        </p:nvSpPr>
        <p:spPr>
          <a:xfrm>
            <a:off x="4453128" y="2221992"/>
            <a:ext cx="3291840" cy="2852927"/>
          </a:xfrm>
          <a:prstGeom prst="rect">
            <a:avLst/>
          </a:prstGeom>
          <a:noFill/>
        </p:spPr>
        <p:txBody>
          <a:bodyPr wrap="square" lIns="109728" tIns="73152">
            <a:spAutoFit/>
          </a:bodyPr>
          <a:lstStyle/>
          <a:p>
            <a:pPr>
              <a:spcAft>
                <a:spcPts val="500"/>
              </a:spcAft>
              <a:defRPr sz="1700">
                <a:solidFill>
                  <a:srgbClr val="233041"/>
                </a:solidFill>
                <a:latin typeface="Aptos"/>
              </a:defRPr>
            </a:pPr>
            <a:r>
              <a:t>•  Monitor</a:t>
            </a:r>
          </a:p>
          <a:p>
            <a:pPr>
              <a:spcAft>
                <a:spcPts val="500"/>
              </a:spcAft>
              <a:defRPr sz="1700">
                <a:solidFill>
                  <a:srgbClr val="233041"/>
                </a:solidFill>
                <a:latin typeface="Aptos"/>
              </a:defRPr>
            </a:pPr>
            <a:r>
              <a:t>•  Printer</a:t>
            </a:r>
          </a:p>
          <a:p>
            <a:pPr>
              <a:spcAft>
                <a:spcPts val="500"/>
              </a:spcAft>
              <a:defRPr sz="1700">
                <a:solidFill>
                  <a:srgbClr val="233041"/>
                </a:solidFill>
                <a:latin typeface="Aptos"/>
              </a:defRPr>
            </a:pPr>
            <a:r>
              <a:t>•  Speakers / headphones</a:t>
            </a:r>
          </a:p>
          <a:p>
            <a:pPr>
              <a:spcAft>
                <a:spcPts val="500"/>
              </a:spcAft>
              <a:defRPr sz="1700">
                <a:solidFill>
                  <a:srgbClr val="233041"/>
                </a:solidFill>
                <a:latin typeface="Aptos"/>
              </a:defRPr>
            </a:pPr>
            <a:r>
              <a:t>•  Projector</a:t>
            </a:r>
          </a:p>
        </p:txBody>
      </p:sp>
      <p:sp>
        <p:nvSpPr>
          <p:cNvPr id="17" name="Rounded Rectangle 16"/>
          <p:cNvSpPr/>
          <p:nvPr/>
        </p:nvSpPr>
        <p:spPr>
          <a:xfrm>
            <a:off x="8092440" y="1691640"/>
            <a:ext cx="3520440" cy="3474720"/>
          </a:xfrm>
          <a:prstGeom prst="roundRect">
            <a:avLst/>
          </a:prstGeom>
          <a:solidFill>
            <a:srgbClr val="FFF8E9"/>
          </a:solidFill>
          <a:ln>
            <a:solidFill>
              <a:srgbClr val="DCE7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2440" y="1691640"/>
            <a:ext cx="82296" cy="3474720"/>
          </a:xfrm>
          <a:prstGeom prst="rect">
            <a:avLst/>
          </a:prstGeom>
          <a:solidFill>
            <a:srgbClr val="FF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57031" y="1810512"/>
            <a:ext cx="3246120" cy="347472"/>
          </a:xfrm>
          <a:prstGeom prst="rect">
            <a:avLst/>
          </a:prstGeom>
          <a:noFill/>
        </p:spPr>
        <p:txBody>
          <a:bodyPr wrap="square" lIns="73152" rIns="73152" tIns="73152" bIns="73152" anchor="t">
            <a:spAutoFit/>
          </a:bodyPr>
          <a:lstStyle/>
          <a:p>
            <a:pPr algn="l">
              <a:defRPr sz="2000" b="1">
                <a:solidFill>
                  <a:srgbClr val="0A234B"/>
                </a:solidFill>
                <a:latin typeface="Aptos"/>
              </a:defRPr>
            </a:pPr>
            <a:r>
              <a:t>Storage devices</a:t>
            </a:r>
          </a:p>
        </p:txBody>
      </p:sp>
      <p:sp>
        <p:nvSpPr>
          <p:cNvPr id="20" name="TextBox 19"/>
          <p:cNvSpPr txBox="1"/>
          <p:nvPr/>
        </p:nvSpPr>
        <p:spPr>
          <a:xfrm>
            <a:off x="8202167" y="2221992"/>
            <a:ext cx="3291840" cy="2852927"/>
          </a:xfrm>
          <a:prstGeom prst="rect">
            <a:avLst/>
          </a:prstGeom>
          <a:noFill/>
        </p:spPr>
        <p:txBody>
          <a:bodyPr wrap="square" lIns="109728" tIns="73152">
            <a:spAutoFit/>
          </a:bodyPr>
          <a:lstStyle/>
          <a:p>
            <a:pPr>
              <a:spcAft>
                <a:spcPts val="500"/>
              </a:spcAft>
              <a:defRPr sz="1700">
                <a:solidFill>
                  <a:srgbClr val="233041"/>
                </a:solidFill>
                <a:latin typeface="Aptos"/>
              </a:defRPr>
            </a:pPr>
            <a:r>
              <a:t>•  Hard disk drive (HDD)</a:t>
            </a:r>
          </a:p>
          <a:p>
            <a:pPr>
              <a:spcAft>
                <a:spcPts val="500"/>
              </a:spcAft>
              <a:defRPr sz="1700">
                <a:solidFill>
                  <a:srgbClr val="233041"/>
                </a:solidFill>
                <a:latin typeface="Aptos"/>
              </a:defRPr>
            </a:pPr>
            <a:r>
              <a:t>•  Solid-state drive (SSD)</a:t>
            </a:r>
          </a:p>
          <a:p>
            <a:pPr>
              <a:spcAft>
                <a:spcPts val="500"/>
              </a:spcAft>
              <a:defRPr sz="1700">
                <a:solidFill>
                  <a:srgbClr val="233041"/>
                </a:solidFill>
                <a:latin typeface="Aptos"/>
              </a:defRPr>
            </a:pPr>
            <a:r>
              <a:t>•  USB flash drive</a:t>
            </a:r>
          </a:p>
          <a:p>
            <a:pPr>
              <a:spcAft>
                <a:spcPts val="500"/>
              </a:spcAft>
              <a:defRPr sz="1700">
                <a:solidFill>
                  <a:srgbClr val="233041"/>
                </a:solidFill>
                <a:latin typeface="Aptos"/>
              </a:defRPr>
            </a:pPr>
            <a:r>
              <a:t>•  Memory card</a:t>
            </a:r>
          </a:p>
        </p:txBody>
      </p:sp>
      <p:sp>
        <p:nvSpPr>
          <p:cNvPr id="21" name="TextBox 20"/>
          <p:cNvSpPr txBox="1"/>
          <p:nvPr/>
        </p:nvSpPr>
        <p:spPr>
          <a:xfrm>
            <a:off x="914400" y="5486400"/>
            <a:ext cx="10241280" cy="457200"/>
          </a:xfrm>
          <a:prstGeom prst="rect">
            <a:avLst/>
          </a:prstGeom>
          <a:noFill/>
        </p:spPr>
        <p:txBody>
          <a:bodyPr wrap="square" lIns="73152" rIns="73152" tIns="73152" bIns="73152" anchor="t">
            <a:spAutoFit/>
          </a:bodyPr>
          <a:lstStyle/>
          <a:p>
            <a:pPr algn="ctr">
              <a:defRPr sz="1500" b="0">
                <a:solidFill>
                  <a:srgbClr val="5F6E7D"/>
                </a:solidFill>
                <a:latin typeface="Aptos"/>
              </a:defRPr>
            </a:pPr>
            <a:r>
              <a:t>Some devices perform more than one role; for example, a touchscreen both displays information and accepts touch input.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0A23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828800" cy="292608"/>
          </a:xfrm>
          <a:prstGeom prst="rect">
            <a:avLst/>
          </a:prstGeom>
          <a:noFill/>
        </p:spPr>
        <p:txBody>
          <a:bodyPr wrap="square" lIns="73152" rIns="73152" tIns="73152" bIns="73152" anchor="t">
            <a:spAutoFit/>
          </a:bodyPr>
          <a:lstStyle/>
          <a:p>
            <a:pPr algn="l">
              <a:defRPr sz="1100" b="1">
                <a:solidFill>
                  <a:srgbClr val="FFA623"/>
                </a:solidFill>
                <a:latin typeface="Aptos"/>
              </a:defRPr>
            </a:pPr>
            <a:r>
              <a:t>WEEK 1</a:t>
            </a:r>
          </a:p>
        </p:txBody>
      </p:sp>
      <p:sp>
        <p:nvSpPr>
          <p:cNvPr id="4" name="TextBox 3"/>
          <p:cNvSpPr txBox="1"/>
          <p:nvPr/>
        </p:nvSpPr>
        <p:spPr>
          <a:xfrm>
            <a:off x="502920" y="566928"/>
            <a:ext cx="11155680" cy="530352"/>
          </a:xfrm>
          <a:prstGeom prst="rect">
            <a:avLst/>
          </a:prstGeom>
          <a:noFill/>
        </p:spPr>
        <p:txBody>
          <a:bodyPr wrap="square" lIns="73152" rIns="73152" tIns="73152" bIns="73152" anchor="t">
            <a:spAutoFit/>
          </a:bodyPr>
          <a:lstStyle/>
          <a:p>
            <a:pPr algn="l">
              <a:defRPr sz="2900" b="1">
                <a:solidFill>
                  <a:srgbClr val="0A234B"/>
                </a:solidFill>
                <a:latin typeface="Aptos"/>
              </a:defRPr>
            </a:pPr>
            <a:r>
              <a:t>Hardware and Software Work Together</a:t>
            </a:r>
          </a:p>
        </p:txBody>
      </p:sp>
      <p:sp>
        <p:nvSpPr>
          <p:cNvPr id="5" name="TextBox 4"/>
          <p:cNvSpPr txBox="1"/>
          <p:nvPr/>
        </p:nvSpPr>
        <p:spPr>
          <a:xfrm>
            <a:off x="530352" y="1143000"/>
            <a:ext cx="10972800" cy="384048"/>
          </a:xfrm>
          <a:prstGeom prst="rect">
            <a:avLst/>
          </a:prstGeom>
          <a:noFill/>
        </p:spPr>
        <p:txBody>
          <a:bodyPr wrap="square" lIns="73152" rIns="73152" tIns="73152" bIns="73152" anchor="t">
            <a:spAutoFit/>
          </a:bodyPr>
          <a:lstStyle/>
          <a:p>
            <a:pPr algn="l">
              <a:defRPr sz="1400" b="0">
                <a:solidFill>
                  <a:srgbClr val="5F6E7D"/>
                </a:solidFill>
                <a:latin typeface="Aptos"/>
              </a:defRPr>
            </a:pPr>
            <a:r>
              <a:t>Software is the set of programs and instructions that tell hardware what to do.</a:t>
            </a:r>
          </a:p>
        </p:txBody>
      </p:sp>
      <p:sp>
        <p:nvSpPr>
          <p:cNvPr id="6" name="Rectangle 5"/>
          <p:cNvSpPr/>
          <p:nvPr/>
        </p:nvSpPr>
        <p:spPr>
          <a:xfrm>
            <a:off x="502920" y="6510528"/>
            <a:ext cx="11155680" cy="13716"/>
          </a:xfrm>
          <a:prstGeom prst="rect">
            <a:avLst/>
          </a:prstGeom>
          <a:solidFill>
            <a:srgbClr val="DCE6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6537960"/>
            <a:ext cx="7772400" cy="201168"/>
          </a:xfrm>
          <a:prstGeom prst="rect">
            <a:avLst/>
          </a:prstGeom>
          <a:noFill/>
        </p:spPr>
        <p:txBody>
          <a:bodyPr wrap="square" lIns="73152" rIns="73152" tIns="73152" bIns="73152" anchor="t">
            <a:spAutoFit/>
          </a:bodyPr>
          <a:lstStyle/>
          <a:p>
            <a:pPr algn="l">
              <a:defRPr sz="900" b="0">
                <a:solidFill>
                  <a:srgbClr val="5F6E7D"/>
                </a:solidFill>
                <a:latin typeface="Aptos"/>
              </a:defRPr>
            </a:pPr>
            <a:r>
              <a:t>Applications of ICT • BS FinTech • Semester 1</a:t>
            </a:r>
          </a:p>
        </p:txBody>
      </p:sp>
      <p:sp>
        <p:nvSpPr>
          <p:cNvPr id="8" name="TextBox 7"/>
          <p:cNvSpPr txBox="1"/>
          <p:nvPr/>
        </p:nvSpPr>
        <p:spPr>
          <a:xfrm>
            <a:off x="10972800" y="6528816"/>
            <a:ext cx="640080" cy="201168"/>
          </a:xfrm>
          <a:prstGeom prst="rect">
            <a:avLst/>
          </a:prstGeom>
          <a:noFill/>
        </p:spPr>
        <p:txBody>
          <a:bodyPr wrap="square" lIns="73152" rIns="73152" tIns="73152" bIns="73152" anchor="t">
            <a:spAutoFit/>
          </a:bodyPr>
          <a:lstStyle/>
          <a:p>
            <a:pPr algn="r">
              <a:defRPr sz="900" b="0">
                <a:solidFill>
                  <a:srgbClr val="5F6E7D"/>
                </a:solidFill>
                <a:latin typeface="Aptos"/>
              </a:defRPr>
            </a:pPr>
            <a:r>
              <a:t>8</a:t>
            </a:r>
          </a:p>
        </p:txBody>
      </p:sp>
      <p:sp>
        <p:nvSpPr>
          <p:cNvPr id="9" name="Rounded Rectangle 8"/>
          <p:cNvSpPr/>
          <p:nvPr/>
        </p:nvSpPr>
        <p:spPr>
          <a:xfrm>
            <a:off x="731520" y="1783080"/>
            <a:ext cx="5166360" cy="3017520"/>
          </a:xfrm>
          <a:prstGeom prst="roundRect">
            <a:avLst/>
          </a:prstGeom>
          <a:solidFill>
            <a:srgbClr val="EBF5FF"/>
          </a:solidFill>
          <a:ln>
            <a:solidFill>
              <a:srgbClr val="DCE7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783080"/>
            <a:ext cx="82296" cy="3017520"/>
          </a:xfrm>
          <a:prstGeom prst="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1901952"/>
            <a:ext cx="4892040" cy="347472"/>
          </a:xfrm>
          <a:prstGeom prst="rect">
            <a:avLst/>
          </a:prstGeom>
          <a:noFill/>
        </p:spPr>
        <p:txBody>
          <a:bodyPr wrap="square" lIns="73152" rIns="73152" tIns="73152" bIns="73152" anchor="t">
            <a:spAutoFit/>
          </a:bodyPr>
          <a:lstStyle/>
          <a:p>
            <a:pPr algn="l">
              <a:defRPr sz="2000" b="1">
                <a:solidFill>
                  <a:srgbClr val="0A234B"/>
                </a:solidFill>
                <a:latin typeface="Aptos"/>
              </a:defRPr>
            </a:pPr>
            <a:r>
              <a:t>System software</a:t>
            </a:r>
          </a:p>
        </p:txBody>
      </p:sp>
      <p:sp>
        <p:nvSpPr>
          <p:cNvPr id="12" name="TextBox 11"/>
          <p:cNvSpPr txBox="1"/>
          <p:nvPr/>
        </p:nvSpPr>
        <p:spPr>
          <a:xfrm>
            <a:off x="841248" y="2313432"/>
            <a:ext cx="4937760" cy="2395727"/>
          </a:xfrm>
          <a:prstGeom prst="rect">
            <a:avLst/>
          </a:prstGeom>
          <a:noFill/>
        </p:spPr>
        <p:txBody>
          <a:bodyPr wrap="square" lIns="109728" tIns="73152">
            <a:spAutoFit/>
          </a:bodyPr>
          <a:lstStyle/>
          <a:p>
            <a:pPr>
              <a:spcAft>
                <a:spcPts val="500"/>
              </a:spcAft>
              <a:defRPr sz="1600">
                <a:solidFill>
                  <a:srgbClr val="233041"/>
                </a:solidFill>
                <a:latin typeface="Aptos"/>
              </a:defRPr>
            </a:pPr>
            <a:r>
              <a:t>•  Operating systems: Windows, macOS, Linux</a:t>
            </a:r>
          </a:p>
          <a:p>
            <a:pPr>
              <a:spcAft>
                <a:spcPts val="500"/>
              </a:spcAft>
              <a:defRPr sz="1600">
                <a:solidFill>
                  <a:srgbClr val="233041"/>
                </a:solidFill>
                <a:latin typeface="Aptos"/>
              </a:defRPr>
            </a:pPr>
            <a:r>
              <a:t>•  Device drivers help hardware communicate</a:t>
            </a:r>
          </a:p>
          <a:p>
            <a:pPr>
              <a:spcAft>
                <a:spcPts val="500"/>
              </a:spcAft>
              <a:defRPr sz="1600">
                <a:solidFill>
                  <a:srgbClr val="233041"/>
                </a:solidFill>
                <a:latin typeface="Aptos"/>
              </a:defRPr>
            </a:pPr>
            <a:r>
              <a:t>•  Utilities support tasks such as backup and security</a:t>
            </a:r>
          </a:p>
        </p:txBody>
      </p:sp>
      <p:sp>
        <p:nvSpPr>
          <p:cNvPr id="13" name="Rounded Rectangle 12"/>
          <p:cNvSpPr/>
          <p:nvPr/>
        </p:nvSpPr>
        <p:spPr>
          <a:xfrm>
            <a:off x="6263640" y="1783080"/>
            <a:ext cx="5166360" cy="3017520"/>
          </a:xfrm>
          <a:prstGeom prst="roundRect">
            <a:avLst/>
          </a:prstGeom>
          <a:solidFill>
            <a:srgbClr val="F5F0FF"/>
          </a:solidFill>
          <a:ln>
            <a:solidFill>
              <a:srgbClr val="DCE7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1783080"/>
            <a:ext cx="82296" cy="3017520"/>
          </a:xfrm>
          <a:prstGeom prst="rect">
            <a:avLst/>
          </a:prstGeom>
          <a:solidFill>
            <a:srgbClr val="754D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28231" y="1901952"/>
            <a:ext cx="4892040" cy="347472"/>
          </a:xfrm>
          <a:prstGeom prst="rect">
            <a:avLst/>
          </a:prstGeom>
          <a:noFill/>
        </p:spPr>
        <p:txBody>
          <a:bodyPr wrap="square" lIns="73152" rIns="73152" tIns="73152" bIns="73152" anchor="t">
            <a:spAutoFit/>
          </a:bodyPr>
          <a:lstStyle/>
          <a:p>
            <a:pPr algn="l">
              <a:defRPr sz="2000" b="1">
                <a:solidFill>
                  <a:srgbClr val="0A234B"/>
                </a:solidFill>
                <a:latin typeface="Aptos"/>
              </a:defRPr>
            </a:pPr>
            <a:r>
              <a:t>Application software</a:t>
            </a:r>
          </a:p>
        </p:txBody>
      </p:sp>
      <p:sp>
        <p:nvSpPr>
          <p:cNvPr id="16" name="TextBox 15"/>
          <p:cNvSpPr txBox="1"/>
          <p:nvPr/>
        </p:nvSpPr>
        <p:spPr>
          <a:xfrm>
            <a:off x="6373368" y="2313432"/>
            <a:ext cx="4937760" cy="2395727"/>
          </a:xfrm>
          <a:prstGeom prst="rect">
            <a:avLst/>
          </a:prstGeom>
          <a:noFill/>
        </p:spPr>
        <p:txBody>
          <a:bodyPr wrap="square" lIns="109728" tIns="73152">
            <a:spAutoFit/>
          </a:bodyPr>
          <a:lstStyle/>
          <a:p>
            <a:pPr>
              <a:spcAft>
                <a:spcPts val="500"/>
              </a:spcAft>
              <a:defRPr sz="1600">
                <a:solidFill>
                  <a:srgbClr val="233041"/>
                </a:solidFill>
                <a:latin typeface="Aptos"/>
              </a:defRPr>
            </a:pPr>
            <a:r>
              <a:t>•  MS Word — documents</a:t>
            </a:r>
          </a:p>
          <a:p>
            <a:pPr>
              <a:spcAft>
                <a:spcPts val="500"/>
              </a:spcAft>
              <a:defRPr sz="1600">
                <a:solidFill>
                  <a:srgbClr val="233041"/>
                </a:solidFill>
                <a:latin typeface="Aptos"/>
              </a:defRPr>
            </a:pPr>
            <a:r>
              <a:t>•  Excel — calculations and data</a:t>
            </a:r>
          </a:p>
          <a:p>
            <a:pPr>
              <a:spcAft>
                <a:spcPts val="500"/>
              </a:spcAft>
              <a:defRPr sz="1600">
                <a:solidFill>
                  <a:srgbClr val="233041"/>
                </a:solidFill>
                <a:latin typeface="Aptos"/>
              </a:defRPr>
            </a:pPr>
            <a:r>
              <a:t>•  PowerPoint — presentations</a:t>
            </a:r>
          </a:p>
          <a:p>
            <a:pPr>
              <a:spcAft>
                <a:spcPts val="500"/>
              </a:spcAft>
              <a:defRPr sz="1600">
                <a:solidFill>
                  <a:srgbClr val="233041"/>
                </a:solidFill>
                <a:latin typeface="Aptos"/>
              </a:defRPr>
            </a:pPr>
            <a:r>
              <a:t>•  Web browsers — access websites</a:t>
            </a:r>
          </a:p>
        </p:txBody>
      </p:sp>
      <p:sp>
        <p:nvSpPr>
          <p:cNvPr id="17" name="Rounded Rectangle 16"/>
          <p:cNvSpPr/>
          <p:nvPr/>
        </p:nvSpPr>
        <p:spPr>
          <a:xfrm>
            <a:off x="1280160" y="5074920"/>
            <a:ext cx="9601200" cy="731520"/>
          </a:xfrm>
          <a:prstGeom prst="roundRect">
            <a:avLst/>
          </a:prstGeom>
          <a:solidFill>
            <a:srgbClr val="FFF8E9"/>
          </a:solidFill>
          <a:ln>
            <a:solidFill>
              <a:srgbClr val="DCE7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280160" y="5074920"/>
            <a:ext cx="82296" cy="731520"/>
          </a:xfrm>
          <a:prstGeom prst="rect">
            <a:avLst/>
          </a:prstGeom>
          <a:solidFill>
            <a:srgbClr val="FF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444751" y="5193792"/>
            <a:ext cx="9326880" cy="347472"/>
          </a:xfrm>
          <a:prstGeom prst="rect">
            <a:avLst/>
          </a:prstGeom>
          <a:noFill/>
        </p:spPr>
        <p:txBody>
          <a:bodyPr wrap="square" lIns="73152" rIns="73152" tIns="73152" bIns="73152" anchor="t">
            <a:spAutoFit/>
          </a:bodyPr>
          <a:lstStyle/>
          <a:p>
            <a:pPr algn="l">
              <a:defRPr sz="1700" b="1">
                <a:solidFill>
                  <a:srgbClr val="0A234B"/>
                </a:solidFill>
                <a:latin typeface="Aptos"/>
              </a:defRPr>
            </a:pPr>
            <a:r>
              <a:t>Analogy</a:t>
            </a:r>
          </a:p>
        </p:txBody>
      </p:sp>
      <p:sp>
        <p:nvSpPr>
          <p:cNvPr id="20" name="TextBox 19"/>
          <p:cNvSpPr txBox="1"/>
          <p:nvPr/>
        </p:nvSpPr>
        <p:spPr>
          <a:xfrm>
            <a:off x="1444751" y="5605272"/>
            <a:ext cx="9326880" cy="109728"/>
          </a:xfrm>
          <a:prstGeom prst="rect">
            <a:avLst/>
          </a:prstGeom>
          <a:noFill/>
        </p:spPr>
        <p:txBody>
          <a:bodyPr wrap="square" lIns="73152" rIns="73152" tIns="73152" bIns="73152" anchor="t">
            <a:spAutoFit/>
          </a:bodyPr>
          <a:lstStyle/>
          <a:p>
            <a:pPr algn="l">
              <a:defRPr sz="1500" b="0">
                <a:solidFill>
                  <a:srgbClr val="233041"/>
                </a:solidFill>
                <a:latin typeface="Aptos"/>
              </a:defRPr>
            </a:pPr>
            <a:r>
              <a:t>Hardware is like a kitchen; software is the recipe and instructions that help you use 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0A23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828800" cy="292608"/>
          </a:xfrm>
          <a:prstGeom prst="rect">
            <a:avLst/>
          </a:prstGeom>
          <a:noFill/>
        </p:spPr>
        <p:txBody>
          <a:bodyPr wrap="square" lIns="73152" rIns="73152" tIns="73152" bIns="73152" anchor="t">
            <a:spAutoFit/>
          </a:bodyPr>
          <a:lstStyle/>
          <a:p>
            <a:pPr algn="l">
              <a:defRPr sz="1100" b="1">
                <a:solidFill>
                  <a:srgbClr val="FFA623"/>
                </a:solidFill>
                <a:latin typeface="Aptos"/>
              </a:defRPr>
            </a:pPr>
            <a:r>
              <a:t>WEEK 1</a:t>
            </a:r>
          </a:p>
        </p:txBody>
      </p:sp>
      <p:sp>
        <p:nvSpPr>
          <p:cNvPr id="4" name="TextBox 3"/>
          <p:cNvSpPr txBox="1"/>
          <p:nvPr/>
        </p:nvSpPr>
        <p:spPr>
          <a:xfrm>
            <a:off x="502920" y="566928"/>
            <a:ext cx="11155680" cy="530352"/>
          </a:xfrm>
          <a:prstGeom prst="rect">
            <a:avLst/>
          </a:prstGeom>
          <a:noFill/>
        </p:spPr>
        <p:txBody>
          <a:bodyPr wrap="square" lIns="73152" rIns="73152" tIns="73152" bIns="73152" anchor="t">
            <a:spAutoFit/>
          </a:bodyPr>
          <a:lstStyle/>
          <a:p>
            <a:pPr algn="l">
              <a:defRPr sz="2900" b="1">
                <a:solidFill>
                  <a:srgbClr val="0A234B"/>
                </a:solidFill>
                <a:latin typeface="Aptos"/>
              </a:defRPr>
            </a:pPr>
            <a:r>
              <a:t>Case Study: A Student Submits an Assignment</a:t>
            </a:r>
          </a:p>
        </p:txBody>
      </p:sp>
      <p:sp>
        <p:nvSpPr>
          <p:cNvPr id="5" name="TextBox 4"/>
          <p:cNvSpPr txBox="1"/>
          <p:nvPr/>
        </p:nvSpPr>
        <p:spPr>
          <a:xfrm>
            <a:off x="530352" y="1143000"/>
            <a:ext cx="10972800" cy="384048"/>
          </a:xfrm>
          <a:prstGeom prst="rect">
            <a:avLst/>
          </a:prstGeom>
          <a:noFill/>
        </p:spPr>
        <p:txBody>
          <a:bodyPr wrap="square" lIns="73152" rIns="73152" tIns="73152" bIns="73152" anchor="t">
            <a:spAutoFit/>
          </a:bodyPr>
          <a:lstStyle/>
          <a:p>
            <a:pPr algn="l">
              <a:defRPr sz="1400" b="0">
                <a:solidFill>
                  <a:srgbClr val="5F6E7D"/>
                </a:solidFill>
                <a:latin typeface="Aptos"/>
              </a:defRPr>
            </a:pPr>
            <a:r>
              <a:t>Discuss in pairs for 3 minutes, then share answers.</a:t>
            </a:r>
          </a:p>
        </p:txBody>
      </p:sp>
      <p:sp>
        <p:nvSpPr>
          <p:cNvPr id="6" name="Rectangle 5"/>
          <p:cNvSpPr/>
          <p:nvPr/>
        </p:nvSpPr>
        <p:spPr>
          <a:xfrm>
            <a:off x="502920" y="6510528"/>
            <a:ext cx="11155680" cy="13716"/>
          </a:xfrm>
          <a:prstGeom prst="rect">
            <a:avLst/>
          </a:prstGeom>
          <a:solidFill>
            <a:srgbClr val="DCE6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6537960"/>
            <a:ext cx="7772400" cy="201168"/>
          </a:xfrm>
          <a:prstGeom prst="rect">
            <a:avLst/>
          </a:prstGeom>
          <a:noFill/>
        </p:spPr>
        <p:txBody>
          <a:bodyPr wrap="square" lIns="73152" rIns="73152" tIns="73152" bIns="73152" anchor="t">
            <a:spAutoFit/>
          </a:bodyPr>
          <a:lstStyle/>
          <a:p>
            <a:pPr algn="l">
              <a:defRPr sz="900" b="0">
                <a:solidFill>
                  <a:srgbClr val="5F6E7D"/>
                </a:solidFill>
                <a:latin typeface="Aptos"/>
              </a:defRPr>
            </a:pPr>
            <a:r>
              <a:t>Applications of ICT • BS FinTech • Semester 1</a:t>
            </a:r>
          </a:p>
        </p:txBody>
      </p:sp>
      <p:sp>
        <p:nvSpPr>
          <p:cNvPr id="8" name="TextBox 7"/>
          <p:cNvSpPr txBox="1"/>
          <p:nvPr/>
        </p:nvSpPr>
        <p:spPr>
          <a:xfrm>
            <a:off x="10972800" y="6528816"/>
            <a:ext cx="640080" cy="201168"/>
          </a:xfrm>
          <a:prstGeom prst="rect">
            <a:avLst/>
          </a:prstGeom>
          <a:noFill/>
        </p:spPr>
        <p:txBody>
          <a:bodyPr wrap="square" lIns="73152" rIns="73152" tIns="73152" bIns="73152" anchor="t">
            <a:spAutoFit/>
          </a:bodyPr>
          <a:lstStyle/>
          <a:p>
            <a:pPr algn="r">
              <a:defRPr sz="900" b="0">
                <a:solidFill>
                  <a:srgbClr val="5F6E7D"/>
                </a:solidFill>
                <a:latin typeface="Aptos"/>
              </a:defRPr>
            </a:pPr>
            <a:r>
              <a:t>9</a:t>
            </a:r>
          </a:p>
        </p:txBody>
      </p:sp>
      <p:sp>
        <p:nvSpPr>
          <p:cNvPr id="9" name="Rounded Rectangle 8"/>
          <p:cNvSpPr/>
          <p:nvPr/>
        </p:nvSpPr>
        <p:spPr>
          <a:xfrm>
            <a:off x="685800" y="1645920"/>
            <a:ext cx="5303520" cy="3337560"/>
          </a:xfrm>
          <a:prstGeom prst="roundRect">
            <a:avLst/>
          </a:prstGeom>
          <a:solidFill>
            <a:srgbClr val="EBF5FF"/>
          </a:solidFill>
          <a:ln>
            <a:solidFill>
              <a:srgbClr val="DCE7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85800" y="1645920"/>
            <a:ext cx="82296" cy="3337560"/>
          </a:xfrm>
          <a:prstGeom prst="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0392" y="1764792"/>
            <a:ext cx="5029200" cy="347472"/>
          </a:xfrm>
          <a:prstGeom prst="rect">
            <a:avLst/>
          </a:prstGeom>
          <a:noFill/>
        </p:spPr>
        <p:txBody>
          <a:bodyPr wrap="square" lIns="73152" rIns="73152" tIns="73152" bIns="73152" anchor="t">
            <a:spAutoFit/>
          </a:bodyPr>
          <a:lstStyle/>
          <a:p>
            <a:pPr algn="l">
              <a:defRPr sz="2000" b="1">
                <a:solidFill>
                  <a:srgbClr val="0A234B"/>
                </a:solidFill>
                <a:latin typeface="Aptos"/>
              </a:defRPr>
            </a:pPr>
            <a:r>
              <a:t>Scenario</a:t>
            </a:r>
          </a:p>
        </p:txBody>
      </p:sp>
      <p:sp>
        <p:nvSpPr>
          <p:cNvPr id="12" name="TextBox 11"/>
          <p:cNvSpPr txBox="1"/>
          <p:nvPr/>
        </p:nvSpPr>
        <p:spPr>
          <a:xfrm>
            <a:off x="850392" y="2176272"/>
            <a:ext cx="5029200" cy="2715768"/>
          </a:xfrm>
          <a:prstGeom prst="rect">
            <a:avLst/>
          </a:prstGeom>
          <a:noFill/>
        </p:spPr>
        <p:txBody>
          <a:bodyPr wrap="square" lIns="73152" rIns="73152" tIns="73152" bIns="73152" anchor="t">
            <a:spAutoFit/>
          </a:bodyPr>
          <a:lstStyle/>
          <a:p>
            <a:pPr algn="l">
              <a:defRPr sz="1800" b="0">
                <a:solidFill>
                  <a:srgbClr val="233041"/>
                </a:solidFill>
                <a:latin typeface="Aptos"/>
              </a:defRPr>
            </a:pPr>
            <a:r>
              <a:t>A student types an assignment in Word, inserts a picture, saves it to a USB drive, and prints a copy.</a:t>
            </a:r>
          </a:p>
        </p:txBody>
      </p:sp>
      <p:sp>
        <p:nvSpPr>
          <p:cNvPr id="13" name="Rounded Rectangle 12"/>
          <p:cNvSpPr/>
          <p:nvPr/>
        </p:nvSpPr>
        <p:spPr>
          <a:xfrm>
            <a:off x="6217920" y="1645920"/>
            <a:ext cx="5303520" cy="3337560"/>
          </a:xfrm>
          <a:prstGeom prst="roundRect">
            <a:avLst/>
          </a:prstGeom>
          <a:solidFill>
            <a:srgbClr val="EBFAF4"/>
          </a:solidFill>
          <a:ln>
            <a:solidFill>
              <a:srgbClr val="DCE7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645920"/>
            <a:ext cx="82296" cy="3337560"/>
          </a:xfrm>
          <a:prstGeom prst="rect">
            <a:avLst/>
          </a:prstGeom>
          <a:solidFill>
            <a:srgbClr val="1C9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2" y="1764792"/>
            <a:ext cx="5029200" cy="347472"/>
          </a:xfrm>
          <a:prstGeom prst="rect">
            <a:avLst/>
          </a:prstGeom>
          <a:noFill/>
        </p:spPr>
        <p:txBody>
          <a:bodyPr wrap="square" lIns="73152" rIns="73152" tIns="73152" bIns="73152" anchor="t">
            <a:spAutoFit/>
          </a:bodyPr>
          <a:lstStyle/>
          <a:p>
            <a:pPr algn="l">
              <a:defRPr sz="2000" b="1">
                <a:solidFill>
                  <a:srgbClr val="0A234B"/>
                </a:solidFill>
                <a:latin typeface="Aptos"/>
              </a:defRPr>
            </a:pPr>
            <a:r>
              <a:t>Questions</a:t>
            </a:r>
          </a:p>
        </p:txBody>
      </p:sp>
      <p:sp>
        <p:nvSpPr>
          <p:cNvPr id="16" name="TextBox 15"/>
          <p:cNvSpPr txBox="1"/>
          <p:nvPr/>
        </p:nvSpPr>
        <p:spPr>
          <a:xfrm>
            <a:off x="6327648" y="2176272"/>
            <a:ext cx="5074920" cy="2715768"/>
          </a:xfrm>
          <a:prstGeom prst="rect">
            <a:avLst/>
          </a:prstGeom>
          <a:noFill/>
        </p:spPr>
        <p:txBody>
          <a:bodyPr wrap="square" lIns="109728" tIns="73152">
            <a:spAutoFit/>
          </a:bodyPr>
          <a:lstStyle/>
          <a:p>
            <a:pPr>
              <a:spcAft>
                <a:spcPts val="500"/>
              </a:spcAft>
              <a:defRPr sz="1600">
                <a:solidFill>
                  <a:srgbClr val="233041"/>
                </a:solidFill>
                <a:latin typeface="Aptos"/>
              </a:defRPr>
            </a:pPr>
            <a:r>
              <a:t>•  1. Name two input devices involved.</a:t>
            </a:r>
          </a:p>
          <a:p>
            <a:pPr>
              <a:spcAft>
                <a:spcPts val="500"/>
              </a:spcAft>
              <a:defRPr sz="1600">
                <a:solidFill>
                  <a:srgbClr val="233041"/>
                </a:solidFill>
                <a:latin typeface="Aptos"/>
              </a:defRPr>
            </a:pPr>
            <a:r>
              <a:t>•  2. Which parts are output devices?</a:t>
            </a:r>
          </a:p>
          <a:p>
            <a:pPr>
              <a:spcAft>
                <a:spcPts val="500"/>
              </a:spcAft>
              <a:defRPr sz="1600">
                <a:solidFill>
                  <a:srgbClr val="233041"/>
                </a:solidFill>
                <a:latin typeface="Aptos"/>
              </a:defRPr>
            </a:pPr>
            <a:r>
              <a:t>•  3. Where is the assignment stored?</a:t>
            </a:r>
          </a:p>
          <a:p>
            <a:pPr>
              <a:spcAft>
                <a:spcPts val="500"/>
              </a:spcAft>
              <a:defRPr sz="1600">
                <a:solidFill>
                  <a:srgbClr val="233041"/>
                </a:solidFill>
                <a:latin typeface="Aptos"/>
              </a:defRPr>
            </a:pPr>
            <a:r>
              <a:t>•  4. Is Word hardware or software?</a:t>
            </a:r>
          </a:p>
          <a:p>
            <a:pPr>
              <a:spcAft>
                <a:spcPts val="500"/>
              </a:spcAft>
              <a:defRPr sz="1600">
                <a:solidFill>
                  <a:srgbClr val="233041"/>
                </a:solidFill>
                <a:latin typeface="Aptos"/>
              </a:defRPr>
            </a:pPr>
            <a:r>
              <a:t>•  5. Describe one input-process-output step.</a:t>
            </a:r>
          </a:p>
        </p:txBody>
      </p:sp>
      <p:sp>
        <p:nvSpPr>
          <p:cNvPr id="17" name="TextBox 16"/>
          <p:cNvSpPr txBox="1"/>
          <p:nvPr/>
        </p:nvSpPr>
        <p:spPr>
          <a:xfrm>
            <a:off x="914400" y="5394960"/>
            <a:ext cx="10332720" cy="502920"/>
          </a:xfrm>
          <a:prstGeom prst="rect">
            <a:avLst/>
          </a:prstGeom>
          <a:noFill/>
        </p:spPr>
        <p:txBody>
          <a:bodyPr wrap="square" lIns="73152" rIns="73152" tIns="73152" bIns="73152" anchor="t">
            <a:spAutoFit/>
          </a:bodyPr>
          <a:lstStyle/>
          <a:p>
            <a:pPr algn="ctr">
              <a:defRPr sz="1600" b="1">
                <a:solidFill>
                  <a:srgbClr val="0A234B"/>
                </a:solidFill>
                <a:latin typeface="Aptos"/>
              </a:defRPr>
            </a:pPr>
            <a:r>
              <a:t>Exit ticket: Write one sentence explaining the difference between hardware and software.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234B"/>
        </a:solidFill>
        <a:effectLst/>
      </p:bgPr>
    </p:bg>
    <p:spTree>
      <p:nvGrpSpPr>
        <p:cNvPr id="1" name=""/>
        <p:cNvGrpSpPr/>
        <p:nvPr/>
      </p:nvGrpSpPr>
      <p:grpSpPr/>
      <p:sp>
        <p:nvSpPr>
          <p:cNvPr id="2" name="TextBox 1"/>
          <p:cNvSpPr txBox="1"/>
          <p:nvPr/>
        </p:nvSpPr>
        <p:spPr>
          <a:xfrm>
            <a:off x="777240" y="685800"/>
            <a:ext cx="2286000" cy="320040"/>
          </a:xfrm>
          <a:prstGeom prst="rect">
            <a:avLst/>
          </a:prstGeom>
          <a:noFill/>
        </p:spPr>
        <p:txBody>
          <a:bodyPr wrap="square" lIns="73152" rIns="73152" tIns="73152" bIns="73152" anchor="t">
            <a:spAutoFit/>
          </a:bodyPr>
          <a:lstStyle/>
          <a:p>
            <a:pPr algn="l">
              <a:defRPr sz="1300" b="1">
                <a:solidFill>
                  <a:srgbClr val="FFA623"/>
                </a:solidFill>
                <a:latin typeface="Aptos"/>
              </a:defRPr>
            </a:pPr>
            <a:r>
              <a:t>WEEK 2</a:t>
            </a:r>
          </a:p>
        </p:txBody>
      </p:sp>
      <p:sp>
        <p:nvSpPr>
          <p:cNvPr id="3" name="TextBox 2"/>
          <p:cNvSpPr txBox="1"/>
          <p:nvPr/>
        </p:nvSpPr>
        <p:spPr>
          <a:xfrm>
            <a:off x="777240" y="1234440"/>
            <a:ext cx="7315200" cy="1005840"/>
          </a:xfrm>
          <a:prstGeom prst="rect">
            <a:avLst/>
          </a:prstGeom>
          <a:noFill/>
        </p:spPr>
        <p:txBody>
          <a:bodyPr wrap="square" lIns="73152" rIns="73152" tIns="73152" bIns="73152" anchor="t">
            <a:spAutoFit/>
          </a:bodyPr>
          <a:lstStyle/>
          <a:p>
            <a:pPr algn="l">
              <a:defRPr sz="3600" b="1">
                <a:solidFill>
                  <a:srgbClr val="FFFFFF"/>
                </a:solidFill>
                <a:latin typeface="Aptos"/>
              </a:defRPr>
            </a:pPr>
            <a:r>
              <a:t>Computer Infrastructure</a:t>
            </a:r>
          </a:p>
        </p:txBody>
      </p:sp>
      <p:sp>
        <p:nvSpPr>
          <p:cNvPr id="4" name="TextBox 3"/>
          <p:cNvSpPr txBox="1"/>
          <p:nvPr/>
        </p:nvSpPr>
        <p:spPr>
          <a:xfrm>
            <a:off x="822960" y="2423160"/>
            <a:ext cx="6400800" cy="822960"/>
          </a:xfrm>
          <a:prstGeom prst="rect">
            <a:avLst/>
          </a:prstGeom>
          <a:noFill/>
        </p:spPr>
        <p:txBody>
          <a:bodyPr wrap="square" lIns="73152" rIns="73152" tIns="73152" bIns="73152" anchor="t">
            <a:spAutoFit/>
          </a:bodyPr>
          <a:lstStyle/>
          <a:p>
            <a:pPr algn="l">
              <a:defRPr sz="2100" b="0">
                <a:solidFill>
                  <a:srgbClr val="DCE8F6"/>
                </a:solidFill>
                <a:latin typeface="Aptos"/>
              </a:defRPr>
            </a:pPr>
            <a:r>
              <a:t>Understand storage, networks and internet servers.</a:t>
            </a:r>
          </a:p>
        </p:txBody>
      </p:sp>
      <p:sp>
        <p:nvSpPr>
          <p:cNvPr id="5" name="Rounded Rectangle 4"/>
          <p:cNvSpPr/>
          <p:nvPr/>
        </p:nvSpPr>
        <p:spPr>
          <a:xfrm>
            <a:off x="822960" y="3886200"/>
            <a:ext cx="5715000" cy="1417320"/>
          </a:xfrm>
          <a:prstGeom prst="roundRect">
            <a:avLst/>
          </a:prstGeom>
          <a:solidFill>
            <a:srgbClr val="14345B"/>
          </a:solidFill>
          <a:ln>
            <a:solidFill>
              <a:srgbClr val="DCE7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3886200"/>
            <a:ext cx="82296" cy="1417320"/>
          </a:xfrm>
          <a:prstGeom prst="rect">
            <a:avLst/>
          </a:prstGeom>
          <a:solidFill>
            <a:srgbClr val="FF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87552" y="4005072"/>
            <a:ext cx="5440680" cy="347472"/>
          </a:xfrm>
          <a:prstGeom prst="rect">
            <a:avLst/>
          </a:prstGeom>
          <a:noFill/>
        </p:spPr>
        <p:txBody>
          <a:bodyPr wrap="square" lIns="73152" rIns="73152" tIns="73152" bIns="73152" anchor="t">
            <a:spAutoFit/>
          </a:bodyPr>
          <a:lstStyle/>
          <a:p>
            <a:pPr algn="l">
              <a:defRPr sz="1800" b="1">
                <a:solidFill>
                  <a:srgbClr val="0A234B"/>
                </a:solidFill>
                <a:latin typeface="Aptos"/>
              </a:defRPr>
            </a:pPr>
            <a:r>
              <a:t>Big question</a:t>
            </a:r>
          </a:p>
        </p:txBody>
      </p:sp>
      <p:sp>
        <p:nvSpPr>
          <p:cNvPr id="8" name="TextBox 7"/>
          <p:cNvSpPr txBox="1"/>
          <p:nvPr/>
        </p:nvSpPr>
        <p:spPr>
          <a:xfrm>
            <a:off x="987552" y="4416552"/>
            <a:ext cx="5440680" cy="795528"/>
          </a:xfrm>
          <a:prstGeom prst="rect">
            <a:avLst/>
          </a:prstGeom>
          <a:noFill/>
        </p:spPr>
        <p:txBody>
          <a:bodyPr wrap="square" lIns="73152" rIns="73152" tIns="73152" bIns="73152" anchor="t">
            <a:spAutoFit/>
          </a:bodyPr>
          <a:lstStyle/>
          <a:p>
            <a:pPr algn="l">
              <a:defRPr sz="1600" b="0">
                <a:solidFill>
                  <a:srgbClr val="233041"/>
                </a:solidFill>
                <a:latin typeface="Aptos"/>
              </a:defRPr>
            </a:pPr>
            <a:r>
              <a:t>How does a photo move from your phone to cloud storage, or a payment request reach a bank?</a:t>
            </a:r>
          </a:p>
        </p:txBody>
      </p:sp>
      <p:sp>
        <p:nvSpPr>
          <p:cNvPr id="9" name="Rounded Rectangle 8"/>
          <p:cNvSpPr/>
          <p:nvPr/>
        </p:nvSpPr>
        <p:spPr>
          <a:xfrm>
            <a:off x="8229600" y="1417320"/>
            <a:ext cx="2286000" cy="777240"/>
          </a:xfrm>
          <a:prstGeom prst="roundRect">
            <a:avLst/>
          </a:prstGeom>
          <a:solidFill>
            <a:srgbClr val="1A426E"/>
          </a:solidFill>
          <a:ln>
            <a:solidFill>
              <a:srgbClr val="1976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458200" y="1691640"/>
            <a:ext cx="109728" cy="109728"/>
          </a:xfrm>
          <a:prstGeom prst="ellipse">
            <a:avLst/>
          </a:prstGeom>
          <a:solidFill>
            <a:srgbClr val="1C9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842248" y="1691640"/>
            <a:ext cx="109728" cy="109728"/>
          </a:xfrm>
          <a:prstGeom prst="ellipse">
            <a:avLst/>
          </a:prstGeom>
          <a:solidFill>
            <a:srgbClr val="FF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226296" y="1691640"/>
            <a:ext cx="109728" cy="109728"/>
          </a:xfrm>
          <a:prstGeom prst="ellipse">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610344" y="1691640"/>
            <a:ext cx="109728" cy="10972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229600" y="2468880"/>
            <a:ext cx="2286000" cy="777240"/>
          </a:xfrm>
          <a:prstGeom prst="roundRect">
            <a:avLst/>
          </a:prstGeom>
          <a:solidFill>
            <a:srgbClr val="1A426E"/>
          </a:solidFill>
          <a:ln>
            <a:solidFill>
              <a:srgbClr val="1976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458200" y="2743200"/>
            <a:ext cx="109728" cy="109728"/>
          </a:xfrm>
          <a:prstGeom prst="ellipse">
            <a:avLst/>
          </a:prstGeom>
          <a:solidFill>
            <a:srgbClr val="1C9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842248" y="2743200"/>
            <a:ext cx="109728" cy="109728"/>
          </a:xfrm>
          <a:prstGeom prst="ellipse">
            <a:avLst/>
          </a:prstGeom>
          <a:solidFill>
            <a:srgbClr val="FF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226296" y="2743200"/>
            <a:ext cx="109728" cy="109728"/>
          </a:xfrm>
          <a:prstGeom prst="ellipse">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610344" y="2743200"/>
            <a:ext cx="109728" cy="10972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29600" y="3520439"/>
            <a:ext cx="2286000" cy="777240"/>
          </a:xfrm>
          <a:prstGeom prst="roundRect">
            <a:avLst/>
          </a:prstGeom>
          <a:solidFill>
            <a:srgbClr val="1A426E"/>
          </a:solidFill>
          <a:ln>
            <a:solidFill>
              <a:srgbClr val="1976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58200" y="3794760"/>
            <a:ext cx="109728" cy="109728"/>
          </a:xfrm>
          <a:prstGeom prst="ellipse">
            <a:avLst/>
          </a:prstGeom>
          <a:solidFill>
            <a:srgbClr val="1C9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842248" y="3794760"/>
            <a:ext cx="109728" cy="109728"/>
          </a:xfrm>
          <a:prstGeom prst="ellipse">
            <a:avLst/>
          </a:prstGeom>
          <a:solidFill>
            <a:srgbClr val="FF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226296" y="3794760"/>
            <a:ext cx="109728" cy="109728"/>
          </a:xfrm>
          <a:prstGeom prst="ellipse">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10344" y="3794760"/>
            <a:ext cx="109728" cy="10972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0A23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828800" cy="292608"/>
          </a:xfrm>
          <a:prstGeom prst="rect">
            <a:avLst/>
          </a:prstGeom>
          <a:noFill/>
        </p:spPr>
        <p:txBody>
          <a:bodyPr wrap="square" lIns="73152" rIns="73152" tIns="73152" bIns="73152" anchor="t">
            <a:spAutoFit/>
          </a:bodyPr>
          <a:lstStyle/>
          <a:p>
            <a:pPr algn="l">
              <a:defRPr sz="1100" b="1">
                <a:solidFill>
                  <a:srgbClr val="FFA623"/>
                </a:solidFill>
                <a:latin typeface="Aptos"/>
              </a:defRPr>
            </a:pPr>
            <a:r>
              <a:t>WEEK 2</a:t>
            </a:r>
          </a:p>
        </p:txBody>
      </p:sp>
      <p:sp>
        <p:nvSpPr>
          <p:cNvPr id="4" name="TextBox 3"/>
          <p:cNvSpPr txBox="1"/>
          <p:nvPr/>
        </p:nvSpPr>
        <p:spPr>
          <a:xfrm>
            <a:off x="502920" y="566928"/>
            <a:ext cx="11155680" cy="530352"/>
          </a:xfrm>
          <a:prstGeom prst="rect">
            <a:avLst/>
          </a:prstGeom>
          <a:noFill/>
        </p:spPr>
        <p:txBody>
          <a:bodyPr wrap="square" lIns="73152" rIns="73152" tIns="73152" bIns="73152" anchor="t">
            <a:spAutoFit/>
          </a:bodyPr>
          <a:lstStyle/>
          <a:p>
            <a:pPr algn="l">
              <a:defRPr sz="2900" b="1">
                <a:solidFill>
                  <a:srgbClr val="0A234B"/>
                </a:solidFill>
                <a:latin typeface="Aptos"/>
              </a:defRPr>
            </a:pPr>
            <a:r>
              <a:t>Storage: Where Are Files Kept?</a:t>
            </a:r>
          </a:p>
        </p:txBody>
      </p:sp>
      <p:sp>
        <p:nvSpPr>
          <p:cNvPr id="5" name="TextBox 4"/>
          <p:cNvSpPr txBox="1"/>
          <p:nvPr/>
        </p:nvSpPr>
        <p:spPr>
          <a:xfrm>
            <a:off x="530352" y="1143000"/>
            <a:ext cx="10972800" cy="384048"/>
          </a:xfrm>
          <a:prstGeom prst="rect">
            <a:avLst/>
          </a:prstGeom>
          <a:noFill/>
        </p:spPr>
        <p:txBody>
          <a:bodyPr wrap="square" lIns="73152" rIns="73152" tIns="73152" bIns="73152" anchor="t">
            <a:spAutoFit/>
          </a:bodyPr>
          <a:lstStyle/>
          <a:p>
            <a:pPr algn="l">
              <a:defRPr sz="1400" b="0">
                <a:solidFill>
                  <a:srgbClr val="5F6E7D"/>
                </a:solidFill>
                <a:latin typeface="Aptos"/>
              </a:defRPr>
            </a:pPr>
            <a:r>
              <a:t>Storage keeps data and programs available after the computer is turned off.</a:t>
            </a:r>
          </a:p>
        </p:txBody>
      </p:sp>
      <p:sp>
        <p:nvSpPr>
          <p:cNvPr id="6" name="Rectangle 5"/>
          <p:cNvSpPr/>
          <p:nvPr/>
        </p:nvSpPr>
        <p:spPr>
          <a:xfrm>
            <a:off x="502920" y="6510528"/>
            <a:ext cx="11155680" cy="13716"/>
          </a:xfrm>
          <a:prstGeom prst="rect">
            <a:avLst/>
          </a:prstGeom>
          <a:solidFill>
            <a:srgbClr val="DCE6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6537960"/>
            <a:ext cx="7772400" cy="201168"/>
          </a:xfrm>
          <a:prstGeom prst="rect">
            <a:avLst/>
          </a:prstGeom>
          <a:noFill/>
        </p:spPr>
        <p:txBody>
          <a:bodyPr wrap="square" lIns="73152" rIns="73152" tIns="73152" bIns="73152" anchor="t">
            <a:spAutoFit/>
          </a:bodyPr>
          <a:lstStyle/>
          <a:p>
            <a:pPr algn="l">
              <a:defRPr sz="900" b="0">
                <a:solidFill>
                  <a:srgbClr val="5F6E7D"/>
                </a:solidFill>
                <a:latin typeface="Aptos"/>
              </a:defRPr>
            </a:pPr>
            <a:r>
              <a:t>Applications of ICT • BS FinTech • Semester 1</a:t>
            </a:r>
          </a:p>
        </p:txBody>
      </p:sp>
      <p:sp>
        <p:nvSpPr>
          <p:cNvPr id="8" name="TextBox 7"/>
          <p:cNvSpPr txBox="1"/>
          <p:nvPr/>
        </p:nvSpPr>
        <p:spPr>
          <a:xfrm>
            <a:off x="10972800" y="6528816"/>
            <a:ext cx="640080" cy="201168"/>
          </a:xfrm>
          <a:prstGeom prst="rect">
            <a:avLst/>
          </a:prstGeom>
          <a:noFill/>
        </p:spPr>
        <p:txBody>
          <a:bodyPr wrap="square" lIns="73152" rIns="73152" tIns="73152" bIns="73152" anchor="t">
            <a:spAutoFit/>
          </a:bodyPr>
          <a:lstStyle/>
          <a:p>
            <a:pPr algn="r">
              <a:defRPr sz="900" b="0">
                <a:solidFill>
                  <a:srgbClr val="5F6E7D"/>
                </a:solidFill>
                <a:latin typeface="Aptos"/>
              </a:defRPr>
            </a:pPr>
            <a:r>
              <a:t>11</a:t>
            </a:r>
          </a:p>
        </p:txBody>
      </p:sp>
      <p:sp>
        <p:nvSpPr>
          <p:cNvPr id="9" name="Rounded Rectangle 8"/>
          <p:cNvSpPr/>
          <p:nvPr/>
        </p:nvSpPr>
        <p:spPr>
          <a:xfrm>
            <a:off x="594360" y="1828800"/>
            <a:ext cx="2606040" cy="2331720"/>
          </a:xfrm>
          <a:prstGeom prst="roundRect">
            <a:avLst/>
          </a:prstGeom>
          <a:solidFill>
            <a:srgbClr val="EBF5FF"/>
          </a:solidFill>
          <a:ln>
            <a:solidFill>
              <a:srgbClr val="DCE7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94360" y="1828800"/>
            <a:ext cx="82296" cy="2331720"/>
          </a:xfrm>
          <a:prstGeom prst="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 y="1947672"/>
            <a:ext cx="2331720" cy="347472"/>
          </a:xfrm>
          <a:prstGeom prst="rect">
            <a:avLst/>
          </a:prstGeom>
          <a:noFill/>
        </p:spPr>
        <p:txBody>
          <a:bodyPr wrap="square" lIns="73152" rIns="73152" tIns="73152" bIns="73152" anchor="t">
            <a:spAutoFit/>
          </a:bodyPr>
          <a:lstStyle/>
          <a:p>
            <a:pPr algn="l">
              <a:defRPr sz="1900" b="1">
                <a:solidFill>
                  <a:srgbClr val="0A234B"/>
                </a:solidFill>
                <a:latin typeface="Aptos"/>
              </a:defRPr>
            </a:pPr>
            <a:r>
              <a:t>HDD</a:t>
            </a:r>
          </a:p>
        </p:txBody>
      </p:sp>
      <p:sp>
        <p:nvSpPr>
          <p:cNvPr id="12" name="TextBox 11"/>
          <p:cNvSpPr txBox="1"/>
          <p:nvPr/>
        </p:nvSpPr>
        <p:spPr>
          <a:xfrm>
            <a:off x="758952" y="2359152"/>
            <a:ext cx="2331720" cy="1709927"/>
          </a:xfrm>
          <a:prstGeom prst="rect">
            <a:avLst/>
          </a:prstGeom>
          <a:noFill/>
        </p:spPr>
        <p:txBody>
          <a:bodyPr wrap="square" lIns="73152" rIns="73152" tIns="73152" bIns="73152" anchor="t">
            <a:spAutoFit/>
          </a:bodyPr>
          <a:lstStyle/>
          <a:p>
            <a:pPr algn="l">
              <a:defRPr sz="1500" b="0">
                <a:solidFill>
                  <a:srgbClr val="233041"/>
                </a:solidFill>
                <a:latin typeface="Aptos"/>
              </a:defRPr>
            </a:pPr>
            <a:r>
              <a:t>Magnetic disk; often offers high capacity at a lower cost.</a:t>
            </a:r>
          </a:p>
        </p:txBody>
      </p:sp>
      <p:sp>
        <p:nvSpPr>
          <p:cNvPr id="13" name="Rounded Rectangle 12"/>
          <p:cNvSpPr/>
          <p:nvPr/>
        </p:nvSpPr>
        <p:spPr>
          <a:xfrm>
            <a:off x="3474720" y="1828800"/>
            <a:ext cx="2606040" cy="2331720"/>
          </a:xfrm>
          <a:prstGeom prst="roundRect">
            <a:avLst/>
          </a:prstGeom>
          <a:solidFill>
            <a:srgbClr val="F7FAFD"/>
          </a:solidFill>
          <a:ln>
            <a:solidFill>
              <a:srgbClr val="DCE7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74720" y="1828800"/>
            <a:ext cx="82296" cy="2331720"/>
          </a:xfrm>
          <a:prstGeom prst="rect">
            <a:avLst/>
          </a:prstGeom>
          <a:solidFill>
            <a:srgbClr val="1C9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39312" y="1947672"/>
            <a:ext cx="2331720" cy="347472"/>
          </a:xfrm>
          <a:prstGeom prst="rect">
            <a:avLst/>
          </a:prstGeom>
          <a:noFill/>
        </p:spPr>
        <p:txBody>
          <a:bodyPr wrap="square" lIns="73152" rIns="73152" tIns="73152" bIns="73152" anchor="t">
            <a:spAutoFit/>
          </a:bodyPr>
          <a:lstStyle/>
          <a:p>
            <a:pPr algn="l">
              <a:defRPr sz="1900" b="1">
                <a:solidFill>
                  <a:srgbClr val="0A234B"/>
                </a:solidFill>
                <a:latin typeface="Aptos"/>
              </a:defRPr>
            </a:pPr>
            <a:r>
              <a:t>SSD</a:t>
            </a:r>
          </a:p>
        </p:txBody>
      </p:sp>
      <p:sp>
        <p:nvSpPr>
          <p:cNvPr id="16" name="TextBox 15"/>
          <p:cNvSpPr txBox="1"/>
          <p:nvPr/>
        </p:nvSpPr>
        <p:spPr>
          <a:xfrm>
            <a:off x="3639312" y="2359152"/>
            <a:ext cx="2331720" cy="1709927"/>
          </a:xfrm>
          <a:prstGeom prst="rect">
            <a:avLst/>
          </a:prstGeom>
          <a:noFill/>
        </p:spPr>
        <p:txBody>
          <a:bodyPr wrap="square" lIns="73152" rIns="73152" tIns="73152" bIns="73152" anchor="t">
            <a:spAutoFit/>
          </a:bodyPr>
          <a:lstStyle/>
          <a:p>
            <a:pPr algn="l">
              <a:defRPr sz="1500" b="0">
                <a:solidFill>
                  <a:srgbClr val="233041"/>
                </a:solidFill>
                <a:latin typeface="Aptos"/>
              </a:defRPr>
            </a:pPr>
            <a:r>
              <a:t>Flash-based storage; usually faster than an HDD.</a:t>
            </a:r>
          </a:p>
        </p:txBody>
      </p:sp>
      <p:sp>
        <p:nvSpPr>
          <p:cNvPr id="17" name="Rounded Rectangle 16"/>
          <p:cNvSpPr/>
          <p:nvPr/>
        </p:nvSpPr>
        <p:spPr>
          <a:xfrm>
            <a:off x="6355080" y="1828800"/>
            <a:ext cx="2606040" cy="2331720"/>
          </a:xfrm>
          <a:prstGeom prst="roundRect">
            <a:avLst/>
          </a:prstGeom>
          <a:solidFill>
            <a:srgbClr val="EBF5FF"/>
          </a:solidFill>
          <a:ln>
            <a:solidFill>
              <a:srgbClr val="DCE7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55080" y="1828800"/>
            <a:ext cx="82296" cy="2331720"/>
          </a:xfrm>
          <a:prstGeom prst="rect">
            <a:avLst/>
          </a:prstGeom>
          <a:solidFill>
            <a:srgbClr val="FF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19672" y="1947672"/>
            <a:ext cx="2331720" cy="347472"/>
          </a:xfrm>
          <a:prstGeom prst="rect">
            <a:avLst/>
          </a:prstGeom>
          <a:noFill/>
        </p:spPr>
        <p:txBody>
          <a:bodyPr wrap="square" lIns="73152" rIns="73152" tIns="73152" bIns="73152" anchor="t">
            <a:spAutoFit/>
          </a:bodyPr>
          <a:lstStyle/>
          <a:p>
            <a:pPr algn="l">
              <a:defRPr sz="1900" b="1">
                <a:solidFill>
                  <a:srgbClr val="0A234B"/>
                </a:solidFill>
                <a:latin typeface="Aptos"/>
              </a:defRPr>
            </a:pPr>
            <a:r>
              <a:t>USB drive</a:t>
            </a:r>
          </a:p>
        </p:txBody>
      </p:sp>
      <p:sp>
        <p:nvSpPr>
          <p:cNvPr id="20" name="TextBox 19"/>
          <p:cNvSpPr txBox="1"/>
          <p:nvPr/>
        </p:nvSpPr>
        <p:spPr>
          <a:xfrm>
            <a:off x="6519672" y="2359152"/>
            <a:ext cx="2331720" cy="1709927"/>
          </a:xfrm>
          <a:prstGeom prst="rect">
            <a:avLst/>
          </a:prstGeom>
          <a:noFill/>
        </p:spPr>
        <p:txBody>
          <a:bodyPr wrap="square" lIns="73152" rIns="73152" tIns="73152" bIns="73152" anchor="t">
            <a:spAutoFit/>
          </a:bodyPr>
          <a:lstStyle/>
          <a:p>
            <a:pPr algn="l">
              <a:defRPr sz="1500" b="0">
                <a:solidFill>
                  <a:srgbClr val="233041"/>
                </a:solidFill>
                <a:latin typeface="Aptos"/>
              </a:defRPr>
            </a:pPr>
            <a:r>
              <a:t>Small, portable storage for transferring files.</a:t>
            </a:r>
          </a:p>
        </p:txBody>
      </p:sp>
      <p:sp>
        <p:nvSpPr>
          <p:cNvPr id="21" name="Rounded Rectangle 20"/>
          <p:cNvSpPr/>
          <p:nvPr/>
        </p:nvSpPr>
        <p:spPr>
          <a:xfrm>
            <a:off x="9235440" y="1828800"/>
            <a:ext cx="2606040" cy="2331720"/>
          </a:xfrm>
          <a:prstGeom prst="roundRect">
            <a:avLst/>
          </a:prstGeom>
          <a:solidFill>
            <a:srgbClr val="F7FAFD"/>
          </a:solidFill>
          <a:ln>
            <a:solidFill>
              <a:srgbClr val="DCE7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235440" y="1828800"/>
            <a:ext cx="82296" cy="2331720"/>
          </a:xfrm>
          <a:prstGeom prst="rect">
            <a:avLst/>
          </a:prstGeom>
          <a:solidFill>
            <a:srgbClr val="754D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00032" y="1947672"/>
            <a:ext cx="2331720" cy="347472"/>
          </a:xfrm>
          <a:prstGeom prst="rect">
            <a:avLst/>
          </a:prstGeom>
          <a:noFill/>
        </p:spPr>
        <p:txBody>
          <a:bodyPr wrap="square" lIns="73152" rIns="73152" tIns="73152" bIns="73152" anchor="t">
            <a:spAutoFit/>
          </a:bodyPr>
          <a:lstStyle/>
          <a:p>
            <a:pPr algn="l">
              <a:defRPr sz="1900" b="1">
                <a:solidFill>
                  <a:srgbClr val="0A234B"/>
                </a:solidFill>
                <a:latin typeface="Aptos"/>
              </a:defRPr>
            </a:pPr>
            <a:r>
              <a:t>Cloud storage</a:t>
            </a:r>
          </a:p>
        </p:txBody>
      </p:sp>
      <p:sp>
        <p:nvSpPr>
          <p:cNvPr id="24" name="TextBox 23"/>
          <p:cNvSpPr txBox="1"/>
          <p:nvPr/>
        </p:nvSpPr>
        <p:spPr>
          <a:xfrm>
            <a:off x="9400032" y="2359152"/>
            <a:ext cx="2331720" cy="1709927"/>
          </a:xfrm>
          <a:prstGeom prst="rect">
            <a:avLst/>
          </a:prstGeom>
          <a:noFill/>
        </p:spPr>
        <p:txBody>
          <a:bodyPr wrap="square" lIns="73152" rIns="73152" tIns="73152" bIns="73152" anchor="t">
            <a:spAutoFit/>
          </a:bodyPr>
          <a:lstStyle/>
          <a:p>
            <a:pPr algn="l">
              <a:defRPr sz="1500" b="0">
                <a:solidFill>
                  <a:srgbClr val="233041"/>
                </a:solidFill>
                <a:latin typeface="Aptos"/>
              </a:defRPr>
            </a:pPr>
            <a:r>
              <a:t>Files kept on remote systems and accessed via the internet.</a:t>
            </a:r>
          </a:p>
        </p:txBody>
      </p:sp>
      <p:sp>
        <p:nvSpPr>
          <p:cNvPr id="25" name="Rounded Rectangle 24"/>
          <p:cNvSpPr/>
          <p:nvPr/>
        </p:nvSpPr>
        <p:spPr>
          <a:xfrm>
            <a:off x="868680" y="4617720"/>
            <a:ext cx="10424160" cy="1051560"/>
          </a:xfrm>
          <a:prstGeom prst="roundRect">
            <a:avLst/>
          </a:prstGeom>
          <a:solidFill>
            <a:srgbClr val="EBF5FF"/>
          </a:solidFill>
          <a:ln>
            <a:solidFill>
              <a:srgbClr val="DCE7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68680" y="4617720"/>
            <a:ext cx="82296" cy="1051560"/>
          </a:xfrm>
          <a:prstGeom prst="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33271" y="4736592"/>
            <a:ext cx="10149840" cy="347472"/>
          </a:xfrm>
          <a:prstGeom prst="rect">
            <a:avLst/>
          </a:prstGeom>
          <a:noFill/>
        </p:spPr>
        <p:txBody>
          <a:bodyPr wrap="square" lIns="73152" rIns="73152" tIns="73152" bIns="73152" anchor="t">
            <a:spAutoFit/>
          </a:bodyPr>
          <a:lstStyle/>
          <a:p>
            <a:pPr algn="l">
              <a:defRPr sz="1700" b="1">
                <a:solidFill>
                  <a:srgbClr val="0A234B"/>
                </a:solidFill>
                <a:latin typeface="Aptos"/>
              </a:defRPr>
            </a:pPr>
            <a:r>
              <a:t>Example</a:t>
            </a:r>
          </a:p>
        </p:txBody>
      </p:sp>
      <p:sp>
        <p:nvSpPr>
          <p:cNvPr id="28" name="TextBox 27"/>
          <p:cNvSpPr txBox="1"/>
          <p:nvPr/>
        </p:nvSpPr>
        <p:spPr>
          <a:xfrm>
            <a:off x="1033271" y="5148072"/>
            <a:ext cx="10149840" cy="429767"/>
          </a:xfrm>
          <a:prstGeom prst="rect">
            <a:avLst/>
          </a:prstGeom>
          <a:noFill/>
        </p:spPr>
        <p:txBody>
          <a:bodyPr wrap="square" lIns="73152" rIns="73152" tIns="73152" bIns="73152" anchor="t">
            <a:spAutoFit/>
          </a:bodyPr>
          <a:lstStyle/>
          <a:p>
            <a:pPr algn="l">
              <a:defRPr sz="1500" b="0">
                <a:solidFill>
                  <a:srgbClr val="233041"/>
                </a:solidFill>
                <a:latin typeface="Aptos"/>
              </a:defRPr>
            </a:pPr>
            <a:r>
              <a:t>Save your presentation on the laptop, copy it to a USB drive, and upload a backup to cloud storage. Each option has different convenience, speed, cost and access trade-offs.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0A23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828800" cy="292608"/>
          </a:xfrm>
          <a:prstGeom prst="rect">
            <a:avLst/>
          </a:prstGeom>
          <a:noFill/>
        </p:spPr>
        <p:txBody>
          <a:bodyPr wrap="square" lIns="73152" rIns="73152" tIns="73152" bIns="73152" anchor="t">
            <a:spAutoFit/>
          </a:bodyPr>
          <a:lstStyle/>
          <a:p>
            <a:pPr algn="l">
              <a:defRPr sz="1100" b="1">
                <a:solidFill>
                  <a:srgbClr val="FFA623"/>
                </a:solidFill>
                <a:latin typeface="Aptos"/>
              </a:defRPr>
            </a:pPr>
            <a:r>
              <a:t>WEEK 2</a:t>
            </a:r>
          </a:p>
        </p:txBody>
      </p:sp>
      <p:sp>
        <p:nvSpPr>
          <p:cNvPr id="4" name="TextBox 3"/>
          <p:cNvSpPr txBox="1"/>
          <p:nvPr/>
        </p:nvSpPr>
        <p:spPr>
          <a:xfrm>
            <a:off x="502920" y="566928"/>
            <a:ext cx="11155680" cy="530352"/>
          </a:xfrm>
          <a:prstGeom prst="rect">
            <a:avLst/>
          </a:prstGeom>
          <a:noFill/>
        </p:spPr>
        <p:txBody>
          <a:bodyPr wrap="square" lIns="73152" rIns="73152" tIns="73152" bIns="73152" anchor="t">
            <a:spAutoFit/>
          </a:bodyPr>
          <a:lstStyle/>
          <a:p>
            <a:pPr algn="l">
              <a:defRPr sz="2900" b="1">
                <a:solidFill>
                  <a:srgbClr val="0A234B"/>
                </a:solidFill>
                <a:latin typeface="Aptos"/>
              </a:defRPr>
            </a:pPr>
            <a:r>
              <a:t>Networks: Devices Sharing Information</a:t>
            </a:r>
          </a:p>
        </p:txBody>
      </p:sp>
      <p:sp>
        <p:nvSpPr>
          <p:cNvPr id="5" name="TextBox 4"/>
          <p:cNvSpPr txBox="1"/>
          <p:nvPr/>
        </p:nvSpPr>
        <p:spPr>
          <a:xfrm>
            <a:off x="530352" y="1143000"/>
            <a:ext cx="10972800" cy="384048"/>
          </a:xfrm>
          <a:prstGeom prst="rect">
            <a:avLst/>
          </a:prstGeom>
          <a:noFill/>
        </p:spPr>
        <p:txBody>
          <a:bodyPr wrap="square" lIns="73152" rIns="73152" tIns="73152" bIns="73152" anchor="t">
            <a:spAutoFit/>
          </a:bodyPr>
          <a:lstStyle/>
          <a:p>
            <a:pPr algn="l">
              <a:defRPr sz="1400" b="0">
                <a:solidFill>
                  <a:srgbClr val="5F6E7D"/>
                </a:solidFill>
                <a:latin typeface="Aptos"/>
              </a:defRPr>
            </a:pPr>
            <a:r>
              <a:t>A computer network connects devices so they can exchange data and share resources.</a:t>
            </a:r>
          </a:p>
        </p:txBody>
      </p:sp>
      <p:sp>
        <p:nvSpPr>
          <p:cNvPr id="6" name="Rectangle 5"/>
          <p:cNvSpPr/>
          <p:nvPr/>
        </p:nvSpPr>
        <p:spPr>
          <a:xfrm>
            <a:off x="502920" y="6510528"/>
            <a:ext cx="11155680" cy="13716"/>
          </a:xfrm>
          <a:prstGeom prst="rect">
            <a:avLst/>
          </a:prstGeom>
          <a:solidFill>
            <a:srgbClr val="DCE6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6537960"/>
            <a:ext cx="7772400" cy="201168"/>
          </a:xfrm>
          <a:prstGeom prst="rect">
            <a:avLst/>
          </a:prstGeom>
          <a:noFill/>
        </p:spPr>
        <p:txBody>
          <a:bodyPr wrap="square" lIns="73152" rIns="73152" tIns="73152" bIns="73152" anchor="t">
            <a:spAutoFit/>
          </a:bodyPr>
          <a:lstStyle/>
          <a:p>
            <a:pPr algn="l">
              <a:defRPr sz="900" b="0">
                <a:solidFill>
                  <a:srgbClr val="5F6E7D"/>
                </a:solidFill>
                <a:latin typeface="Aptos"/>
              </a:defRPr>
            </a:pPr>
            <a:r>
              <a:t>Applications of ICT • BS FinTech • Semester 1</a:t>
            </a:r>
          </a:p>
        </p:txBody>
      </p:sp>
      <p:sp>
        <p:nvSpPr>
          <p:cNvPr id="8" name="TextBox 7"/>
          <p:cNvSpPr txBox="1"/>
          <p:nvPr/>
        </p:nvSpPr>
        <p:spPr>
          <a:xfrm>
            <a:off x="10972800" y="6528816"/>
            <a:ext cx="640080" cy="201168"/>
          </a:xfrm>
          <a:prstGeom prst="rect">
            <a:avLst/>
          </a:prstGeom>
          <a:noFill/>
        </p:spPr>
        <p:txBody>
          <a:bodyPr wrap="square" lIns="73152" rIns="73152" tIns="73152" bIns="73152" anchor="t">
            <a:spAutoFit/>
          </a:bodyPr>
          <a:lstStyle/>
          <a:p>
            <a:pPr algn="r">
              <a:defRPr sz="900" b="0">
                <a:solidFill>
                  <a:srgbClr val="5F6E7D"/>
                </a:solidFill>
                <a:latin typeface="Aptos"/>
              </a:defRPr>
            </a:pPr>
            <a:r>
              <a:t>12</a:t>
            </a:r>
          </a:p>
        </p:txBody>
      </p:sp>
      <p:sp>
        <p:nvSpPr>
          <p:cNvPr id="9" name="Rounded Rectangle 8"/>
          <p:cNvSpPr/>
          <p:nvPr/>
        </p:nvSpPr>
        <p:spPr>
          <a:xfrm>
            <a:off x="914400" y="1828800"/>
            <a:ext cx="1828800" cy="685800"/>
          </a:xfrm>
          <a:prstGeom prst="round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975104"/>
            <a:ext cx="1645920" cy="320040"/>
          </a:xfrm>
          <a:prstGeom prst="rect">
            <a:avLst/>
          </a:prstGeom>
          <a:noFill/>
        </p:spPr>
        <p:txBody>
          <a:bodyPr wrap="square" lIns="73152" rIns="73152" tIns="73152" bIns="73152" anchor="t">
            <a:spAutoFit/>
          </a:bodyPr>
          <a:lstStyle/>
          <a:p>
            <a:pPr algn="ctr">
              <a:defRPr sz="1600" b="1">
                <a:solidFill>
                  <a:srgbClr val="FFFFFF"/>
                </a:solidFill>
                <a:latin typeface="Aptos"/>
              </a:defRPr>
            </a:pPr>
            <a:r>
              <a:t>Laptop</a:t>
            </a:r>
          </a:p>
        </p:txBody>
      </p:sp>
      <p:sp>
        <p:nvSpPr>
          <p:cNvPr id="11" name="Rounded Rectangle 10"/>
          <p:cNvSpPr/>
          <p:nvPr/>
        </p:nvSpPr>
        <p:spPr>
          <a:xfrm>
            <a:off x="914400" y="2971800"/>
            <a:ext cx="1828800" cy="685800"/>
          </a:xfrm>
          <a:prstGeom prst="roundRect">
            <a:avLst/>
          </a:prstGeom>
          <a:solidFill>
            <a:srgbClr val="754D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3118104"/>
            <a:ext cx="1645920" cy="320040"/>
          </a:xfrm>
          <a:prstGeom prst="rect">
            <a:avLst/>
          </a:prstGeom>
          <a:noFill/>
        </p:spPr>
        <p:txBody>
          <a:bodyPr wrap="square" lIns="73152" rIns="73152" tIns="73152" bIns="73152" anchor="t">
            <a:spAutoFit/>
          </a:bodyPr>
          <a:lstStyle/>
          <a:p>
            <a:pPr algn="ctr">
              <a:defRPr sz="1600" b="1">
                <a:solidFill>
                  <a:srgbClr val="FFFFFF"/>
                </a:solidFill>
                <a:latin typeface="Aptos"/>
              </a:defRPr>
            </a:pPr>
            <a:r>
              <a:t>Phone</a:t>
            </a:r>
          </a:p>
        </p:txBody>
      </p:sp>
      <p:sp>
        <p:nvSpPr>
          <p:cNvPr id="13" name="Rounded Rectangle 12"/>
          <p:cNvSpPr/>
          <p:nvPr/>
        </p:nvSpPr>
        <p:spPr>
          <a:xfrm>
            <a:off x="914400" y="4114800"/>
            <a:ext cx="1828800" cy="685800"/>
          </a:xfrm>
          <a:prstGeom prst="roundRect">
            <a:avLst/>
          </a:prstGeom>
          <a:solidFill>
            <a:srgbClr val="1C9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4261104"/>
            <a:ext cx="1645920" cy="320040"/>
          </a:xfrm>
          <a:prstGeom prst="rect">
            <a:avLst/>
          </a:prstGeom>
          <a:noFill/>
        </p:spPr>
        <p:txBody>
          <a:bodyPr wrap="square" lIns="73152" rIns="73152" tIns="73152" bIns="73152" anchor="t">
            <a:spAutoFit/>
          </a:bodyPr>
          <a:lstStyle/>
          <a:p>
            <a:pPr algn="ctr">
              <a:defRPr sz="1600" b="1">
                <a:solidFill>
                  <a:srgbClr val="FFFFFF"/>
                </a:solidFill>
                <a:latin typeface="Aptos"/>
              </a:defRPr>
            </a:pPr>
            <a:r>
              <a:t>Printer</a:t>
            </a:r>
          </a:p>
        </p:txBody>
      </p:sp>
      <p:sp>
        <p:nvSpPr>
          <p:cNvPr id="15" name="Rounded Rectangle 14"/>
          <p:cNvSpPr/>
          <p:nvPr/>
        </p:nvSpPr>
        <p:spPr>
          <a:xfrm>
            <a:off x="4709160" y="2788920"/>
            <a:ext cx="1828800" cy="1005840"/>
          </a:xfrm>
          <a:prstGeom prst="roundRect">
            <a:avLst/>
          </a:prstGeom>
          <a:solidFill>
            <a:srgbClr val="0A23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846320" y="3081528"/>
            <a:ext cx="1554480" cy="365760"/>
          </a:xfrm>
          <a:prstGeom prst="rect">
            <a:avLst/>
          </a:prstGeom>
          <a:noFill/>
        </p:spPr>
        <p:txBody>
          <a:bodyPr wrap="square" lIns="73152" rIns="73152" tIns="73152" bIns="73152" anchor="t">
            <a:spAutoFit/>
          </a:bodyPr>
          <a:lstStyle/>
          <a:p>
            <a:pPr algn="ctr">
              <a:defRPr sz="1700" b="1">
                <a:solidFill>
                  <a:srgbClr val="FFFFFF"/>
                </a:solidFill>
                <a:latin typeface="Aptos"/>
              </a:defRPr>
            </a:pPr>
            <a:r>
              <a:t>ROUTER</a:t>
            </a:r>
          </a:p>
        </p:txBody>
      </p:sp>
      <p:cxnSp>
        <p:nvCxnSpPr>
          <p:cNvPr id="17" name="Connector 16"/>
          <p:cNvCxnSpPr/>
          <p:nvPr/>
        </p:nvCxnSpPr>
        <p:spPr>
          <a:xfrm>
            <a:off x="2743200" y="2176272"/>
            <a:ext cx="1965960" cy="1115568"/>
          </a:xfrm>
          <a:prstGeom prst="bentConnector3">
            <a:avLst/>
          </a:prstGeom>
          <a:ln w="25400">
            <a:solidFill>
              <a:srgbClr val="1976D2"/>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2743200" y="3291840"/>
            <a:ext cx="1965960" cy="27432"/>
          </a:xfrm>
          <a:prstGeom prst="bentConnector3">
            <a:avLst/>
          </a:prstGeom>
          <a:ln w="25400">
            <a:solidFill>
              <a:srgbClr val="1976D2"/>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2743200" y="3291840"/>
            <a:ext cx="1965960" cy="1170432"/>
          </a:xfrm>
          <a:prstGeom prst="bentConnector3">
            <a:avLst/>
          </a:prstGeom>
          <a:ln w="25400">
            <a:solidFill>
              <a:srgbClr val="1976D2"/>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8366760" y="2423160"/>
            <a:ext cx="1600200" cy="1600200"/>
          </a:xfrm>
          <a:prstGeom prst="ellipse">
            <a:avLst/>
          </a:prstGeom>
          <a:solidFill>
            <a:srgbClr val="EBF5FF"/>
          </a:solidFill>
          <a:ln w="25400">
            <a:solidFill>
              <a:srgbClr val="1976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58200" y="2880360"/>
            <a:ext cx="1417320" cy="502920"/>
          </a:xfrm>
          <a:prstGeom prst="rect">
            <a:avLst/>
          </a:prstGeom>
          <a:noFill/>
        </p:spPr>
        <p:txBody>
          <a:bodyPr wrap="square" lIns="73152" rIns="73152" tIns="73152" bIns="73152" anchor="t">
            <a:spAutoFit/>
          </a:bodyPr>
          <a:lstStyle/>
          <a:p>
            <a:pPr algn="ctr">
              <a:defRPr sz="1400" b="1">
                <a:solidFill>
                  <a:srgbClr val="0A234B"/>
                </a:solidFill>
                <a:latin typeface="Aptos"/>
              </a:defRPr>
            </a:pPr>
            <a:r>
              <a:t>INTERNET</a:t>
            </a:r>
          </a:p>
        </p:txBody>
      </p:sp>
      <p:cxnSp>
        <p:nvCxnSpPr>
          <p:cNvPr id="22" name="Connector 21"/>
          <p:cNvCxnSpPr/>
          <p:nvPr/>
        </p:nvCxnSpPr>
        <p:spPr>
          <a:xfrm>
            <a:off x="6537960" y="3291840"/>
            <a:ext cx="1828800" cy="0"/>
          </a:xfrm>
          <a:prstGeom prst="line">
            <a:avLst/>
          </a:prstGeom>
          <a:ln w="38100">
            <a:solidFill>
              <a:srgbClr val="FFA623"/>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822960" y="5257800"/>
            <a:ext cx="10424160" cy="685800"/>
          </a:xfrm>
          <a:prstGeom prst="roundRect">
            <a:avLst/>
          </a:prstGeom>
          <a:solidFill>
            <a:srgbClr val="FFF8E9"/>
          </a:solidFill>
          <a:ln>
            <a:solidFill>
              <a:srgbClr val="DCE7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22960" y="5257800"/>
            <a:ext cx="82296" cy="685800"/>
          </a:xfrm>
          <a:prstGeom prst="rect">
            <a:avLst/>
          </a:prstGeom>
          <a:solidFill>
            <a:srgbClr val="FF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87552" y="5376672"/>
            <a:ext cx="10149840" cy="347472"/>
          </a:xfrm>
          <a:prstGeom prst="rect">
            <a:avLst/>
          </a:prstGeom>
          <a:noFill/>
        </p:spPr>
        <p:txBody>
          <a:bodyPr wrap="square" lIns="73152" rIns="73152" tIns="73152" bIns="73152" anchor="t">
            <a:spAutoFit/>
          </a:bodyPr>
          <a:lstStyle/>
          <a:p>
            <a:pPr algn="l">
              <a:defRPr sz="1600" b="1">
                <a:solidFill>
                  <a:srgbClr val="0A234B"/>
                </a:solidFill>
                <a:latin typeface="Aptos"/>
              </a:defRPr>
            </a:pPr>
            <a:r>
              <a:t>Network sizes</a:t>
            </a:r>
          </a:p>
        </p:txBody>
      </p:sp>
      <p:sp>
        <p:nvSpPr>
          <p:cNvPr id="26" name="TextBox 25"/>
          <p:cNvSpPr txBox="1"/>
          <p:nvPr/>
        </p:nvSpPr>
        <p:spPr>
          <a:xfrm>
            <a:off x="987552" y="5788152"/>
            <a:ext cx="10149840" cy="64007"/>
          </a:xfrm>
          <a:prstGeom prst="rect">
            <a:avLst/>
          </a:prstGeom>
          <a:noFill/>
        </p:spPr>
        <p:txBody>
          <a:bodyPr wrap="square" lIns="73152" rIns="73152" tIns="73152" bIns="73152" anchor="t">
            <a:spAutoFit/>
          </a:bodyPr>
          <a:lstStyle/>
          <a:p>
            <a:pPr algn="l">
              <a:defRPr sz="1400" b="0">
                <a:solidFill>
                  <a:srgbClr val="233041"/>
                </a:solidFill>
                <a:latin typeface="Aptos"/>
              </a:defRPr>
            </a:pPr>
            <a:r>
              <a:t>LAN: local area (home, lab or office)  •  MAN: metropolitan area  •  WAN: wide area, across large distances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0A23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828800" cy="292608"/>
          </a:xfrm>
          <a:prstGeom prst="rect">
            <a:avLst/>
          </a:prstGeom>
          <a:noFill/>
        </p:spPr>
        <p:txBody>
          <a:bodyPr wrap="square" lIns="73152" rIns="73152" tIns="73152" bIns="73152" anchor="t">
            <a:spAutoFit/>
          </a:bodyPr>
          <a:lstStyle/>
          <a:p>
            <a:pPr algn="l">
              <a:defRPr sz="1100" b="1">
                <a:solidFill>
                  <a:srgbClr val="FFA623"/>
                </a:solidFill>
                <a:latin typeface="Aptos"/>
              </a:defRPr>
            </a:pPr>
            <a:r>
              <a:t>WEEK 2</a:t>
            </a:r>
          </a:p>
        </p:txBody>
      </p:sp>
      <p:sp>
        <p:nvSpPr>
          <p:cNvPr id="4" name="TextBox 3"/>
          <p:cNvSpPr txBox="1"/>
          <p:nvPr/>
        </p:nvSpPr>
        <p:spPr>
          <a:xfrm>
            <a:off x="502920" y="566928"/>
            <a:ext cx="11155680" cy="530352"/>
          </a:xfrm>
          <a:prstGeom prst="rect">
            <a:avLst/>
          </a:prstGeom>
          <a:noFill/>
        </p:spPr>
        <p:txBody>
          <a:bodyPr wrap="square" lIns="73152" rIns="73152" tIns="73152" bIns="73152" anchor="t">
            <a:spAutoFit/>
          </a:bodyPr>
          <a:lstStyle/>
          <a:p>
            <a:pPr algn="l">
              <a:defRPr sz="2900" b="1">
                <a:solidFill>
                  <a:srgbClr val="0A234B"/>
                </a:solidFill>
                <a:latin typeface="Aptos"/>
              </a:defRPr>
            </a:pPr>
            <a:r>
              <a:t>Internet Servers</a:t>
            </a:r>
          </a:p>
        </p:txBody>
      </p:sp>
      <p:sp>
        <p:nvSpPr>
          <p:cNvPr id="5" name="TextBox 4"/>
          <p:cNvSpPr txBox="1"/>
          <p:nvPr/>
        </p:nvSpPr>
        <p:spPr>
          <a:xfrm>
            <a:off x="530352" y="1143000"/>
            <a:ext cx="10972800" cy="384048"/>
          </a:xfrm>
          <a:prstGeom prst="rect">
            <a:avLst/>
          </a:prstGeom>
          <a:noFill/>
        </p:spPr>
        <p:txBody>
          <a:bodyPr wrap="square" lIns="73152" rIns="73152" tIns="73152" bIns="73152" anchor="t">
            <a:spAutoFit/>
          </a:bodyPr>
          <a:lstStyle/>
          <a:p>
            <a:pPr algn="l">
              <a:defRPr sz="1400" b="0">
                <a:solidFill>
                  <a:srgbClr val="5F6E7D"/>
                </a:solidFill>
                <a:latin typeface="Aptos"/>
              </a:defRPr>
            </a:pPr>
            <a:r>
              <a:t>A server is a computer or software system that provides services or data to other devices.</a:t>
            </a:r>
          </a:p>
        </p:txBody>
      </p:sp>
      <p:sp>
        <p:nvSpPr>
          <p:cNvPr id="6" name="Rectangle 5"/>
          <p:cNvSpPr/>
          <p:nvPr/>
        </p:nvSpPr>
        <p:spPr>
          <a:xfrm>
            <a:off x="502920" y="6510528"/>
            <a:ext cx="11155680" cy="13716"/>
          </a:xfrm>
          <a:prstGeom prst="rect">
            <a:avLst/>
          </a:prstGeom>
          <a:solidFill>
            <a:srgbClr val="DCE6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6537960"/>
            <a:ext cx="7772400" cy="201168"/>
          </a:xfrm>
          <a:prstGeom prst="rect">
            <a:avLst/>
          </a:prstGeom>
          <a:noFill/>
        </p:spPr>
        <p:txBody>
          <a:bodyPr wrap="square" lIns="73152" rIns="73152" tIns="73152" bIns="73152" anchor="t">
            <a:spAutoFit/>
          </a:bodyPr>
          <a:lstStyle/>
          <a:p>
            <a:pPr algn="l">
              <a:defRPr sz="900" b="0">
                <a:solidFill>
                  <a:srgbClr val="5F6E7D"/>
                </a:solidFill>
                <a:latin typeface="Aptos"/>
              </a:defRPr>
            </a:pPr>
            <a:r>
              <a:t>Applications of ICT • BS FinTech • Semester 1</a:t>
            </a:r>
          </a:p>
        </p:txBody>
      </p:sp>
      <p:sp>
        <p:nvSpPr>
          <p:cNvPr id="8" name="TextBox 7"/>
          <p:cNvSpPr txBox="1"/>
          <p:nvPr/>
        </p:nvSpPr>
        <p:spPr>
          <a:xfrm>
            <a:off x="10972800" y="6528816"/>
            <a:ext cx="640080" cy="201168"/>
          </a:xfrm>
          <a:prstGeom prst="rect">
            <a:avLst/>
          </a:prstGeom>
          <a:noFill/>
        </p:spPr>
        <p:txBody>
          <a:bodyPr wrap="square" lIns="73152" rIns="73152" tIns="73152" bIns="73152" anchor="t">
            <a:spAutoFit/>
          </a:bodyPr>
          <a:lstStyle/>
          <a:p>
            <a:pPr algn="r">
              <a:defRPr sz="900" b="0">
                <a:solidFill>
                  <a:srgbClr val="5F6E7D"/>
                </a:solidFill>
                <a:latin typeface="Aptos"/>
              </a:defRPr>
            </a:pPr>
            <a:r>
              <a:t>13</a:t>
            </a:r>
          </a:p>
        </p:txBody>
      </p:sp>
      <p:sp>
        <p:nvSpPr>
          <p:cNvPr id="9" name="Rounded Rectangle 8"/>
          <p:cNvSpPr/>
          <p:nvPr/>
        </p:nvSpPr>
        <p:spPr>
          <a:xfrm>
            <a:off x="640080" y="1737360"/>
            <a:ext cx="5257800" cy="3429000"/>
          </a:xfrm>
          <a:prstGeom prst="roundRect">
            <a:avLst/>
          </a:prstGeom>
          <a:solidFill>
            <a:srgbClr val="EBF5FF"/>
          </a:solidFill>
          <a:ln>
            <a:solidFill>
              <a:srgbClr val="DCE7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1737360"/>
            <a:ext cx="82296" cy="3429000"/>
          </a:xfrm>
          <a:prstGeom prst="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1" y="1856231"/>
            <a:ext cx="4983480" cy="347472"/>
          </a:xfrm>
          <a:prstGeom prst="rect">
            <a:avLst/>
          </a:prstGeom>
          <a:noFill/>
        </p:spPr>
        <p:txBody>
          <a:bodyPr wrap="square" lIns="73152" rIns="73152" tIns="73152" bIns="73152" anchor="t">
            <a:spAutoFit/>
          </a:bodyPr>
          <a:lstStyle/>
          <a:p>
            <a:pPr algn="l">
              <a:defRPr sz="1900" b="1">
                <a:solidFill>
                  <a:srgbClr val="0A234B"/>
                </a:solidFill>
                <a:latin typeface="Aptos"/>
              </a:defRPr>
            </a:pPr>
            <a:r>
              <a:t>Common server roles</a:t>
            </a:r>
          </a:p>
        </p:txBody>
      </p:sp>
      <p:sp>
        <p:nvSpPr>
          <p:cNvPr id="12" name="TextBox 11"/>
          <p:cNvSpPr txBox="1"/>
          <p:nvPr/>
        </p:nvSpPr>
        <p:spPr>
          <a:xfrm>
            <a:off x="749808" y="2267712"/>
            <a:ext cx="5029200" cy="2807208"/>
          </a:xfrm>
          <a:prstGeom prst="rect">
            <a:avLst/>
          </a:prstGeom>
          <a:noFill/>
        </p:spPr>
        <p:txBody>
          <a:bodyPr wrap="square" lIns="109728" tIns="73152">
            <a:spAutoFit/>
          </a:bodyPr>
          <a:lstStyle/>
          <a:p>
            <a:pPr>
              <a:spcAft>
                <a:spcPts val="500"/>
              </a:spcAft>
              <a:defRPr sz="1600">
                <a:solidFill>
                  <a:srgbClr val="233041"/>
                </a:solidFill>
                <a:latin typeface="Aptos"/>
              </a:defRPr>
            </a:pPr>
            <a:r>
              <a:t>•  Web server — delivers website content</a:t>
            </a:r>
          </a:p>
          <a:p>
            <a:pPr>
              <a:spcAft>
                <a:spcPts val="500"/>
              </a:spcAft>
              <a:defRPr sz="1600">
                <a:solidFill>
                  <a:srgbClr val="233041"/>
                </a:solidFill>
                <a:latin typeface="Aptos"/>
              </a:defRPr>
            </a:pPr>
            <a:r>
              <a:t>•  Mail server — sends, receives or stores email</a:t>
            </a:r>
          </a:p>
          <a:p>
            <a:pPr>
              <a:spcAft>
                <a:spcPts val="500"/>
              </a:spcAft>
              <a:defRPr sz="1600">
                <a:solidFill>
                  <a:srgbClr val="233041"/>
                </a:solidFill>
                <a:latin typeface="Aptos"/>
              </a:defRPr>
            </a:pPr>
            <a:r>
              <a:t>•  File server — stores and shares files</a:t>
            </a:r>
          </a:p>
          <a:p>
            <a:pPr>
              <a:spcAft>
                <a:spcPts val="500"/>
              </a:spcAft>
              <a:defRPr sz="1600">
                <a:solidFill>
                  <a:srgbClr val="233041"/>
                </a:solidFill>
                <a:latin typeface="Aptos"/>
              </a:defRPr>
            </a:pPr>
            <a:r>
              <a:t>•  Database server — manages data for applications</a:t>
            </a:r>
          </a:p>
        </p:txBody>
      </p:sp>
      <p:sp>
        <p:nvSpPr>
          <p:cNvPr id="13" name="Rounded Rectangle 12"/>
          <p:cNvSpPr/>
          <p:nvPr/>
        </p:nvSpPr>
        <p:spPr>
          <a:xfrm>
            <a:off x="6812280" y="1828800"/>
            <a:ext cx="3200400" cy="502920"/>
          </a:xfrm>
          <a:prstGeom prst="roundRect">
            <a:avLst/>
          </a:prstGeom>
          <a:solidFill>
            <a:srgbClr val="183864"/>
          </a:solidFill>
          <a:ln>
            <a:solidFill>
              <a:srgbClr val="1976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95160" y="1920240"/>
            <a:ext cx="2743200" cy="274320"/>
          </a:xfrm>
          <a:prstGeom prst="rect">
            <a:avLst/>
          </a:prstGeom>
          <a:noFill/>
        </p:spPr>
        <p:txBody>
          <a:bodyPr wrap="square" lIns="73152" rIns="73152" tIns="73152" bIns="73152" anchor="t">
            <a:spAutoFit/>
          </a:bodyPr>
          <a:lstStyle/>
          <a:p>
            <a:pPr algn="l">
              <a:defRPr sz="1300" b="1">
                <a:solidFill>
                  <a:srgbClr val="FFFFFF"/>
                </a:solidFill>
                <a:latin typeface="Aptos"/>
              </a:defRPr>
            </a:pPr>
            <a:r>
              <a:t>SERVER UNIT 1</a:t>
            </a:r>
          </a:p>
        </p:txBody>
      </p:sp>
      <p:sp>
        <p:nvSpPr>
          <p:cNvPr id="15" name="Rounded Rectangle 14"/>
          <p:cNvSpPr/>
          <p:nvPr/>
        </p:nvSpPr>
        <p:spPr>
          <a:xfrm>
            <a:off x="6812280" y="2487168"/>
            <a:ext cx="3200400" cy="502920"/>
          </a:xfrm>
          <a:prstGeom prst="roundRect">
            <a:avLst/>
          </a:prstGeom>
          <a:solidFill>
            <a:srgbClr val="184273"/>
          </a:solidFill>
          <a:ln>
            <a:solidFill>
              <a:srgbClr val="1976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95160" y="2578608"/>
            <a:ext cx="2743200" cy="274320"/>
          </a:xfrm>
          <a:prstGeom prst="rect">
            <a:avLst/>
          </a:prstGeom>
          <a:noFill/>
        </p:spPr>
        <p:txBody>
          <a:bodyPr wrap="square" lIns="73152" rIns="73152" tIns="73152" bIns="73152" anchor="t">
            <a:spAutoFit/>
          </a:bodyPr>
          <a:lstStyle/>
          <a:p>
            <a:pPr algn="l">
              <a:defRPr sz="1300" b="1">
                <a:solidFill>
                  <a:srgbClr val="FFFFFF"/>
                </a:solidFill>
                <a:latin typeface="Aptos"/>
              </a:defRPr>
            </a:pPr>
            <a:r>
              <a:t>SERVER UNIT 2</a:t>
            </a:r>
          </a:p>
        </p:txBody>
      </p:sp>
      <p:sp>
        <p:nvSpPr>
          <p:cNvPr id="17" name="Rounded Rectangle 16"/>
          <p:cNvSpPr/>
          <p:nvPr/>
        </p:nvSpPr>
        <p:spPr>
          <a:xfrm>
            <a:off x="6812280" y="3145536"/>
            <a:ext cx="3200400" cy="502920"/>
          </a:xfrm>
          <a:prstGeom prst="roundRect">
            <a:avLst/>
          </a:prstGeom>
          <a:solidFill>
            <a:srgbClr val="184C82"/>
          </a:solidFill>
          <a:ln>
            <a:solidFill>
              <a:srgbClr val="1976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95160" y="3236976"/>
            <a:ext cx="2743200" cy="274320"/>
          </a:xfrm>
          <a:prstGeom prst="rect">
            <a:avLst/>
          </a:prstGeom>
          <a:noFill/>
        </p:spPr>
        <p:txBody>
          <a:bodyPr wrap="square" lIns="73152" rIns="73152" tIns="73152" bIns="73152" anchor="t">
            <a:spAutoFit/>
          </a:bodyPr>
          <a:lstStyle/>
          <a:p>
            <a:pPr algn="l">
              <a:defRPr sz="1300" b="1">
                <a:solidFill>
                  <a:srgbClr val="FFFFFF"/>
                </a:solidFill>
                <a:latin typeface="Aptos"/>
              </a:defRPr>
            </a:pPr>
            <a:r>
              <a:t>SERVER UNIT 3</a:t>
            </a:r>
          </a:p>
        </p:txBody>
      </p:sp>
      <p:sp>
        <p:nvSpPr>
          <p:cNvPr id="19" name="Rounded Rectangle 18"/>
          <p:cNvSpPr/>
          <p:nvPr/>
        </p:nvSpPr>
        <p:spPr>
          <a:xfrm>
            <a:off x="6812280" y="3803904"/>
            <a:ext cx="3200400" cy="502920"/>
          </a:xfrm>
          <a:prstGeom prst="roundRect">
            <a:avLst/>
          </a:prstGeom>
          <a:solidFill>
            <a:srgbClr val="185691"/>
          </a:solidFill>
          <a:ln>
            <a:solidFill>
              <a:srgbClr val="1976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95160" y="3895344"/>
            <a:ext cx="2743200" cy="274320"/>
          </a:xfrm>
          <a:prstGeom prst="rect">
            <a:avLst/>
          </a:prstGeom>
          <a:noFill/>
        </p:spPr>
        <p:txBody>
          <a:bodyPr wrap="square" lIns="73152" rIns="73152" tIns="73152" bIns="73152" anchor="t">
            <a:spAutoFit/>
          </a:bodyPr>
          <a:lstStyle/>
          <a:p>
            <a:pPr algn="l">
              <a:defRPr sz="1300" b="1">
                <a:solidFill>
                  <a:srgbClr val="FFFFFF"/>
                </a:solidFill>
                <a:latin typeface="Aptos"/>
              </a:defRPr>
            </a:pPr>
            <a:r>
              <a:t>SERVER UNIT 4</a:t>
            </a:r>
          </a:p>
        </p:txBody>
      </p:sp>
      <p:sp>
        <p:nvSpPr>
          <p:cNvPr id="21" name="TextBox 20"/>
          <p:cNvSpPr txBox="1"/>
          <p:nvPr/>
        </p:nvSpPr>
        <p:spPr>
          <a:xfrm>
            <a:off x="6720840" y="4663440"/>
            <a:ext cx="3474720" cy="411480"/>
          </a:xfrm>
          <a:prstGeom prst="rect">
            <a:avLst/>
          </a:prstGeom>
          <a:noFill/>
        </p:spPr>
        <p:txBody>
          <a:bodyPr wrap="square" lIns="73152" rIns="73152" tIns="73152" bIns="73152" anchor="t">
            <a:spAutoFit/>
          </a:bodyPr>
          <a:lstStyle/>
          <a:p>
            <a:pPr algn="ctr">
              <a:defRPr sz="1400" b="0">
                <a:solidFill>
                  <a:srgbClr val="5F6E7D"/>
                </a:solidFill>
                <a:latin typeface="Aptos"/>
              </a:defRPr>
            </a:pPr>
            <a:r>
              <a:t>Illustration: a server rack</a:t>
            </a:r>
          </a:p>
        </p:txBody>
      </p:sp>
      <p:sp>
        <p:nvSpPr>
          <p:cNvPr id="22" name="Rounded Rectangle 21"/>
          <p:cNvSpPr/>
          <p:nvPr/>
        </p:nvSpPr>
        <p:spPr>
          <a:xfrm>
            <a:off x="6217920" y="5257800"/>
            <a:ext cx="4572000" cy="685800"/>
          </a:xfrm>
          <a:prstGeom prst="roundRect">
            <a:avLst/>
          </a:prstGeom>
          <a:solidFill>
            <a:srgbClr val="EBFAF4"/>
          </a:solidFill>
          <a:ln>
            <a:solidFill>
              <a:srgbClr val="DCE7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17920" y="5257800"/>
            <a:ext cx="82296" cy="685800"/>
          </a:xfrm>
          <a:prstGeom prst="rect">
            <a:avLst/>
          </a:prstGeom>
          <a:solidFill>
            <a:srgbClr val="1C9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82512" y="5376672"/>
            <a:ext cx="4297680" cy="347472"/>
          </a:xfrm>
          <a:prstGeom prst="rect">
            <a:avLst/>
          </a:prstGeom>
          <a:noFill/>
        </p:spPr>
        <p:txBody>
          <a:bodyPr wrap="square" lIns="73152" rIns="73152" tIns="73152" bIns="73152" anchor="t">
            <a:spAutoFit/>
          </a:bodyPr>
          <a:lstStyle/>
          <a:p>
            <a:pPr algn="l">
              <a:defRPr sz="1500" b="1">
                <a:solidFill>
                  <a:srgbClr val="0A234B"/>
                </a:solidFill>
                <a:latin typeface="Aptos"/>
              </a:defRPr>
            </a:pPr>
            <a:r>
              <a:t>Remember</a:t>
            </a:r>
          </a:p>
        </p:txBody>
      </p:sp>
      <p:sp>
        <p:nvSpPr>
          <p:cNvPr id="25" name="TextBox 24"/>
          <p:cNvSpPr txBox="1"/>
          <p:nvPr/>
        </p:nvSpPr>
        <p:spPr>
          <a:xfrm>
            <a:off x="6382512" y="5788152"/>
            <a:ext cx="4297680" cy="64007"/>
          </a:xfrm>
          <a:prstGeom prst="rect">
            <a:avLst/>
          </a:prstGeom>
          <a:noFill/>
        </p:spPr>
        <p:txBody>
          <a:bodyPr wrap="square" lIns="73152" rIns="73152" tIns="73152" bIns="73152" anchor="t">
            <a:spAutoFit/>
          </a:bodyPr>
          <a:lstStyle/>
          <a:p>
            <a:pPr algn="l">
              <a:defRPr sz="1300" b="0">
                <a:solidFill>
                  <a:srgbClr val="233041"/>
                </a:solidFill>
                <a:latin typeface="Aptos"/>
              </a:defRPr>
            </a:pPr>
            <a:r>
              <a:t>A server responds to requests; a client (such as your browser) makes them.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0A23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828800" cy="292608"/>
          </a:xfrm>
          <a:prstGeom prst="rect">
            <a:avLst/>
          </a:prstGeom>
          <a:noFill/>
        </p:spPr>
        <p:txBody>
          <a:bodyPr wrap="square" lIns="73152" rIns="73152" tIns="73152" bIns="73152" anchor="t">
            <a:spAutoFit/>
          </a:bodyPr>
          <a:lstStyle/>
          <a:p>
            <a:pPr algn="l">
              <a:defRPr sz="1100" b="1">
                <a:solidFill>
                  <a:srgbClr val="FFA623"/>
                </a:solidFill>
                <a:latin typeface="Aptos"/>
              </a:defRPr>
            </a:pPr>
            <a:r>
              <a:t>WEEK 2</a:t>
            </a:r>
          </a:p>
        </p:txBody>
      </p:sp>
      <p:sp>
        <p:nvSpPr>
          <p:cNvPr id="4" name="TextBox 3"/>
          <p:cNvSpPr txBox="1"/>
          <p:nvPr/>
        </p:nvSpPr>
        <p:spPr>
          <a:xfrm>
            <a:off x="502920" y="566928"/>
            <a:ext cx="11155680" cy="530352"/>
          </a:xfrm>
          <a:prstGeom prst="rect">
            <a:avLst/>
          </a:prstGeom>
          <a:noFill/>
        </p:spPr>
        <p:txBody>
          <a:bodyPr wrap="square" lIns="73152" rIns="73152" tIns="73152" bIns="73152" anchor="t">
            <a:spAutoFit/>
          </a:bodyPr>
          <a:lstStyle/>
          <a:p>
            <a:pPr algn="l">
              <a:defRPr sz="2900" b="1">
                <a:solidFill>
                  <a:srgbClr val="0A234B"/>
                </a:solidFill>
                <a:latin typeface="Aptos"/>
              </a:defRPr>
            </a:pPr>
            <a:r>
              <a:t>Real-World Example: Online Banking</a:t>
            </a:r>
          </a:p>
        </p:txBody>
      </p:sp>
      <p:sp>
        <p:nvSpPr>
          <p:cNvPr id="5" name="TextBox 4"/>
          <p:cNvSpPr txBox="1"/>
          <p:nvPr/>
        </p:nvSpPr>
        <p:spPr>
          <a:xfrm>
            <a:off x="530352" y="1143000"/>
            <a:ext cx="10972800" cy="384048"/>
          </a:xfrm>
          <a:prstGeom prst="rect">
            <a:avLst/>
          </a:prstGeom>
          <a:noFill/>
        </p:spPr>
        <p:txBody>
          <a:bodyPr wrap="square" lIns="73152" rIns="73152" tIns="73152" bIns="73152" anchor="t">
            <a:spAutoFit/>
          </a:bodyPr>
          <a:lstStyle/>
          <a:p>
            <a:pPr algn="l">
              <a:defRPr sz="1400" b="0">
                <a:solidFill>
                  <a:srgbClr val="5F6E7D"/>
                </a:solidFill>
                <a:latin typeface="Aptos"/>
              </a:defRPr>
            </a:pPr>
            <a:r>
              <a:t>A simplified view of how devices, networks and servers work together.</a:t>
            </a:r>
          </a:p>
        </p:txBody>
      </p:sp>
      <p:sp>
        <p:nvSpPr>
          <p:cNvPr id="6" name="Rectangle 5"/>
          <p:cNvSpPr/>
          <p:nvPr/>
        </p:nvSpPr>
        <p:spPr>
          <a:xfrm>
            <a:off x="502920" y="6510528"/>
            <a:ext cx="11155680" cy="13716"/>
          </a:xfrm>
          <a:prstGeom prst="rect">
            <a:avLst/>
          </a:prstGeom>
          <a:solidFill>
            <a:srgbClr val="DCE6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6537960"/>
            <a:ext cx="7772400" cy="201168"/>
          </a:xfrm>
          <a:prstGeom prst="rect">
            <a:avLst/>
          </a:prstGeom>
          <a:noFill/>
        </p:spPr>
        <p:txBody>
          <a:bodyPr wrap="square" lIns="73152" rIns="73152" tIns="73152" bIns="73152" anchor="t">
            <a:spAutoFit/>
          </a:bodyPr>
          <a:lstStyle/>
          <a:p>
            <a:pPr algn="l">
              <a:defRPr sz="900" b="0">
                <a:solidFill>
                  <a:srgbClr val="5F6E7D"/>
                </a:solidFill>
                <a:latin typeface="Aptos"/>
              </a:defRPr>
            </a:pPr>
            <a:r>
              <a:t>Applications of ICT • BS FinTech • Semester 1</a:t>
            </a:r>
          </a:p>
        </p:txBody>
      </p:sp>
      <p:sp>
        <p:nvSpPr>
          <p:cNvPr id="8" name="TextBox 7"/>
          <p:cNvSpPr txBox="1"/>
          <p:nvPr/>
        </p:nvSpPr>
        <p:spPr>
          <a:xfrm>
            <a:off x="10972800" y="6528816"/>
            <a:ext cx="640080" cy="201168"/>
          </a:xfrm>
          <a:prstGeom prst="rect">
            <a:avLst/>
          </a:prstGeom>
          <a:noFill/>
        </p:spPr>
        <p:txBody>
          <a:bodyPr wrap="square" lIns="73152" rIns="73152" tIns="73152" bIns="73152" anchor="t">
            <a:spAutoFit/>
          </a:bodyPr>
          <a:lstStyle/>
          <a:p>
            <a:pPr algn="r">
              <a:defRPr sz="900" b="0">
                <a:solidFill>
                  <a:srgbClr val="5F6E7D"/>
                </a:solidFill>
                <a:latin typeface="Aptos"/>
              </a:defRPr>
            </a:pPr>
            <a:r>
              <a:t>14</a:t>
            </a:r>
          </a:p>
        </p:txBody>
      </p:sp>
      <p:sp>
        <p:nvSpPr>
          <p:cNvPr id="9" name="Oval 8"/>
          <p:cNvSpPr/>
          <p:nvPr/>
        </p:nvSpPr>
        <p:spPr>
          <a:xfrm>
            <a:off x="1234440" y="1828800"/>
            <a:ext cx="822960" cy="822960"/>
          </a:xfrm>
          <a:prstGeom prst="ellipse">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80160" y="1984248"/>
            <a:ext cx="731520" cy="594360"/>
          </a:xfrm>
          <a:prstGeom prst="rect">
            <a:avLst/>
          </a:prstGeom>
          <a:noFill/>
        </p:spPr>
        <p:txBody>
          <a:bodyPr wrap="square" lIns="73152" rIns="73152" tIns="73152" bIns="73152" anchor="ctr">
            <a:spAutoFit/>
          </a:bodyPr>
          <a:lstStyle/>
          <a:p>
            <a:pPr algn="ctr">
              <a:defRPr sz="1600" b="1">
                <a:solidFill>
                  <a:srgbClr val="FFFFFF"/>
                </a:solidFill>
                <a:latin typeface="Aptos"/>
              </a:defRPr>
            </a:pPr>
            <a:r>
              <a:t>1</a:t>
            </a:r>
          </a:p>
        </p:txBody>
      </p:sp>
      <p:sp>
        <p:nvSpPr>
          <p:cNvPr id="11" name="TextBox 10"/>
          <p:cNvSpPr txBox="1"/>
          <p:nvPr/>
        </p:nvSpPr>
        <p:spPr>
          <a:xfrm>
            <a:off x="502920" y="2880360"/>
            <a:ext cx="2377440" cy="411480"/>
          </a:xfrm>
          <a:prstGeom prst="rect">
            <a:avLst/>
          </a:prstGeom>
          <a:noFill/>
        </p:spPr>
        <p:txBody>
          <a:bodyPr wrap="square" lIns="73152" rIns="73152" tIns="73152" bIns="73152" anchor="t">
            <a:spAutoFit/>
          </a:bodyPr>
          <a:lstStyle/>
          <a:p>
            <a:pPr algn="ctr">
              <a:defRPr sz="1600" b="1">
                <a:solidFill>
                  <a:srgbClr val="0A234B"/>
                </a:solidFill>
                <a:latin typeface="Aptos"/>
              </a:defRPr>
            </a:pPr>
            <a:r>
              <a:t>Customer opens app</a:t>
            </a:r>
          </a:p>
        </p:txBody>
      </p:sp>
      <p:sp>
        <p:nvSpPr>
          <p:cNvPr id="12" name="TextBox 11"/>
          <p:cNvSpPr txBox="1"/>
          <p:nvPr/>
        </p:nvSpPr>
        <p:spPr>
          <a:xfrm>
            <a:off x="502920" y="3383280"/>
            <a:ext cx="2377440" cy="594360"/>
          </a:xfrm>
          <a:prstGeom prst="rect">
            <a:avLst/>
          </a:prstGeom>
          <a:noFill/>
        </p:spPr>
        <p:txBody>
          <a:bodyPr wrap="square" lIns="73152" rIns="73152" tIns="73152" bIns="73152" anchor="t">
            <a:spAutoFit/>
          </a:bodyPr>
          <a:lstStyle/>
          <a:p>
            <a:pPr algn="ctr">
              <a:defRPr sz="1300" b="0">
                <a:solidFill>
                  <a:srgbClr val="5F6E7D"/>
                </a:solidFill>
                <a:latin typeface="Aptos"/>
              </a:defRPr>
            </a:pPr>
            <a:r>
              <a:t>Phone or laptop</a:t>
            </a:r>
          </a:p>
        </p:txBody>
      </p:sp>
      <p:sp>
        <p:nvSpPr>
          <p:cNvPr id="13" name="TextBox 12"/>
          <p:cNvSpPr txBox="1"/>
          <p:nvPr/>
        </p:nvSpPr>
        <p:spPr>
          <a:xfrm>
            <a:off x="2834639" y="2011680"/>
            <a:ext cx="502920" cy="320040"/>
          </a:xfrm>
          <a:prstGeom prst="rect">
            <a:avLst/>
          </a:prstGeom>
          <a:noFill/>
        </p:spPr>
        <p:txBody>
          <a:bodyPr wrap="square" lIns="73152" rIns="73152" tIns="73152" bIns="73152" anchor="t">
            <a:spAutoFit/>
          </a:bodyPr>
          <a:lstStyle/>
          <a:p>
            <a:pPr algn="ctr">
              <a:defRPr sz="2200" b="1">
                <a:solidFill>
                  <a:srgbClr val="0A234B"/>
                </a:solidFill>
                <a:latin typeface="Aptos"/>
              </a:defRPr>
            </a:pPr>
            <a:r>
              <a:t>→</a:t>
            </a:r>
          </a:p>
        </p:txBody>
      </p:sp>
      <p:sp>
        <p:nvSpPr>
          <p:cNvPr id="14" name="Oval 13"/>
          <p:cNvSpPr/>
          <p:nvPr/>
        </p:nvSpPr>
        <p:spPr>
          <a:xfrm>
            <a:off x="4160520" y="1828800"/>
            <a:ext cx="822960" cy="822960"/>
          </a:xfrm>
          <a:prstGeom prst="ellipse">
            <a:avLst/>
          </a:prstGeom>
          <a:solidFill>
            <a:srgbClr val="754D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06240" y="1984248"/>
            <a:ext cx="731520" cy="594360"/>
          </a:xfrm>
          <a:prstGeom prst="rect">
            <a:avLst/>
          </a:prstGeom>
          <a:noFill/>
        </p:spPr>
        <p:txBody>
          <a:bodyPr wrap="square" lIns="73152" rIns="73152" tIns="73152" bIns="73152" anchor="ctr">
            <a:spAutoFit/>
          </a:bodyPr>
          <a:lstStyle/>
          <a:p>
            <a:pPr algn="ctr">
              <a:defRPr sz="1600" b="1">
                <a:solidFill>
                  <a:srgbClr val="FFFFFF"/>
                </a:solidFill>
                <a:latin typeface="Aptos"/>
              </a:defRPr>
            </a:pPr>
            <a:r>
              <a:t>2</a:t>
            </a:r>
          </a:p>
        </p:txBody>
      </p:sp>
      <p:sp>
        <p:nvSpPr>
          <p:cNvPr id="16" name="TextBox 15"/>
          <p:cNvSpPr txBox="1"/>
          <p:nvPr/>
        </p:nvSpPr>
        <p:spPr>
          <a:xfrm>
            <a:off x="3429000" y="2880360"/>
            <a:ext cx="2377440" cy="411480"/>
          </a:xfrm>
          <a:prstGeom prst="rect">
            <a:avLst/>
          </a:prstGeom>
          <a:noFill/>
        </p:spPr>
        <p:txBody>
          <a:bodyPr wrap="square" lIns="73152" rIns="73152" tIns="73152" bIns="73152" anchor="t">
            <a:spAutoFit/>
          </a:bodyPr>
          <a:lstStyle/>
          <a:p>
            <a:pPr algn="ctr">
              <a:defRPr sz="1600" b="1">
                <a:solidFill>
                  <a:srgbClr val="0A234B"/>
                </a:solidFill>
                <a:latin typeface="Aptos"/>
              </a:defRPr>
            </a:pPr>
            <a:r>
              <a:t>Request travels</a:t>
            </a:r>
          </a:p>
        </p:txBody>
      </p:sp>
      <p:sp>
        <p:nvSpPr>
          <p:cNvPr id="17" name="TextBox 16"/>
          <p:cNvSpPr txBox="1"/>
          <p:nvPr/>
        </p:nvSpPr>
        <p:spPr>
          <a:xfrm>
            <a:off x="3429000" y="3383280"/>
            <a:ext cx="2377440" cy="594360"/>
          </a:xfrm>
          <a:prstGeom prst="rect">
            <a:avLst/>
          </a:prstGeom>
          <a:noFill/>
        </p:spPr>
        <p:txBody>
          <a:bodyPr wrap="square" lIns="73152" rIns="73152" tIns="73152" bIns="73152" anchor="t">
            <a:spAutoFit/>
          </a:bodyPr>
          <a:lstStyle/>
          <a:p>
            <a:pPr algn="ctr">
              <a:defRPr sz="1300" b="0">
                <a:solidFill>
                  <a:srgbClr val="5F6E7D"/>
                </a:solidFill>
                <a:latin typeface="Aptos"/>
              </a:defRPr>
            </a:pPr>
            <a:r>
              <a:t>Through network/internet</a:t>
            </a:r>
          </a:p>
        </p:txBody>
      </p:sp>
      <p:sp>
        <p:nvSpPr>
          <p:cNvPr id="18" name="TextBox 17"/>
          <p:cNvSpPr txBox="1"/>
          <p:nvPr/>
        </p:nvSpPr>
        <p:spPr>
          <a:xfrm>
            <a:off x="5760720" y="2011680"/>
            <a:ext cx="502920" cy="320040"/>
          </a:xfrm>
          <a:prstGeom prst="rect">
            <a:avLst/>
          </a:prstGeom>
          <a:noFill/>
        </p:spPr>
        <p:txBody>
          <a:bodyPr wrap="square" lIns="73152" rIns="73152" tIns="73152" bIns="73152" anchor="t">
            <a:spAutoFit/>
          </a:bodyPr>
          <a:lstStyle/>
          <a:p>
            <a:pPr algn="ctr">
              <a:defRPr sz="2200" b="1">
                <a:solidFill>
                  <a:srgbClr val="0A234B"/>
                </a:solidFill>
                <a:latin typeface="Aptos"/>
              </a:defRPr>
            </a:pPr>
            <a:r>
              <a:t>→</a:t>
            </a:r>
          </a:p>
        </p:txBody>
      </p:sp>
      <p:sp>
        <p:nvSpPr>
          <p:cNvPr id="19" name="Oval 18"/>
          <p:cNvSpPr/>
          <p:nvPr/>
        </p:nvSpPr>
        <p:spPr>
          <a:xfrm>
            <a:off x="7086600" y="1828800"/>
            <a:ext cx="822960" cy="822960"/>
          </a:xfrm>
          <a:prstGeom prst="ellipse">
            <a:avLst/>
          </a:prstGeom>
          <a:solidFill>
            <a:srgbClr val="1C9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32320" y="1984248"/>
            <a:ext cx="731520" cy="594360"/>
          </a:xfrm>
          <a:prstGeom prst="rect">
            <a:avLst/>
          </a:prstGeom>
          <a:noFill/>
        </p:spPr>
        <p:txBody>
          <a:bodyPr wrap="square" lIns="73152" rIns="73152" tIns="73152" bIns="73152" anchor="ctr">
            <a:spAutoFit/>
          </a:bodyPr>
          <a:lstStyle/>
          <a:p>
            <a:pPr algn="ctr">
              <a:defRPr sz="1600" b="1">
                <a:solidFill>
                  <a:srgbClr val="FFFFFF"/>
                </a:solidFill>
                <a:latin typeface="Aptos"/>
              </a:defRPr>
            </a:pPr>
            <a:r>
              <a:t>3</a:t>
            </a:r>
          </a:p>
        </p:txBody>
      </p:sp>
      <p:sp>
        <p:nvSpPr>
          <p:cNvPr id="21" name="TextBox 20"/>
          <p:cNvSpPr txBox="1"/>
          <p:nvPr/>
        </p:nvSpPr>
        <p:spPr>
          <a:xfrm>
            <a:off x="6355080" y="2880360"/>
            <a:ext cx="2377440" cy="411480"/>
          </a:xfrm>
          <a:prstGeom prst="rect">
            <a:avLst/>
          </a:prstGeom>
          <a:noFill/>
        </p:spPr>
        <p:txBody>
          <a:bodyPr wrap="square" lIns="73152" rIns="73152" tIns="73152" bIns="73152" anchor="t">
            <a:spAutoFit/>
          </a:bodyPr>
          <a:lstStyle/>
          <a:p>
            <a:pPr algn="ctr">
              <a:defRPr sz="1600" b="1">
                <a:solidFill>
                  <a:srgbClr val="0A234B"/>
                </a:solidFill>
                <a:latin typeface="Aptos"/>
              </a:defRPr>
            </a:pPr>
            <a:r>
              <a:t>Bank system responds</a:t>
            </a:r>
          </a:p>
        </p:txBody>
      </p:sp>
      <p:sp>
        <p:nvSpPr>
          <p:cNvPr id="22" name="TextBox 21"/>
          <p:cNvSpPr txBox="1"/>
          <p:nvPr/>
        </p:nvSpPr>
        <p:spPr>
          <a:xfrm>
            <a:off x="6355080" y="3383280"/>
            <a:ext cx="2377440" cy="594360"/>
          </a:xfrm>
          <a:prstGeom prst="rect">
            <a:avLst/>
          </a:prstGeom>
          <a:noFill/>
        </p:spPr>
        <p:txBody>
          <a:bodyPr wrap="square" lIns="73152" rIns="73152" tIns="73152" bIns="73152" anchor="t">
            <a:spAutoFit/>
          </a:bodyPr>
          <a:lstStyle/>
          <a:p>
            <a:pPr algn="ctr">
              <a:defRPr sz="1300" b="0">
                <a:solidFill>
                  <a:srgbClr val="5F6E7D"/>
                </a:solidFill>
                <a:latin typeface="Aptos"/>
              </a:defRPr>
            </a:pPr>
            <a:r>
              <a:t>Application/database servers</a:t>
            </a:r>
          </a:p>
        </p:txBody>
      </p:sp>
      <p:sp>
        <p:nvSpPr>
          <p:cNvPr id="23" name="TextBox 22"/>
          <p:cNvSpPr txBox="1"/>
          <p:nvPr/>
        </p:nvSpPr>
        <p:spPr>
          <a:xfrm>
            <a:off x="8686800" y="2011680"/>
            <a:ext cx="502920" cy="320040"/>
          </a:xfrm>
          <a:prstGeom prst="rect">
            <a:avLst/>
          </a:prstGeom>
          <a:noFill/>
        </p:spPr>
        <p:txBody>
          <a:bodyPr wrap="square" lIns="73152" rIns="73152" tIns="73152" bIns="73152" anchor="t">
            <a:spAutoFit/>
          </a:bodyPr>
          <a:lstStyle/>
          <a:p>
            <a:pPr algn="ctr">
              <a:defRPr sz="2200" b="1">
                <a:solidFill>
                  <a:srgbClr val="0A234B"/>
                </a:solidFill>
                <a:latin typeface="Aptos"/>
              </a:defRPr>
            </a:pPr>
            <a:r>
              <a:t>→</a:t>
            </a:r>
          </a:p>
        </p:txBody>
      </p:sp>
      <p:sp>
        <p:nvSpPr>
          <p:cNvPr id="24" name="Oval 23"/>
          <p:cNvSpPr/>
          <p:nvPr/>
        </p:nvSpPr>
        <p:spPr>
          <a:xfrm>
            <a:off x="10012680" y="1828800"/>
            <a:ext cx="822960" cy="822960"/>
          </a:xfrm>
          <a:prstGeom prst="ellipse">
            <a:avLst/>
          </a:prstGeom>
          <a:solidFill>
            <a:srgbClr val="FF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0" y="1984248"/>
            <a:ext cx="731520" cy="594360"/>
          </a:xfrm>
          <a:prstGeom prst="rect">
            <a:avLst/>
          </a:prstGeom>
          <a:noFill/>
        </p:spPr>
        <p:txBody>
          <a:bodyPr wrap="square" lIns="73152" rIns="73152" tIns="73152" bIns="73152" anchor="ctr">
            <a:spAutoFit/>
          </a:bodyPr>
          <a:lstStyle/>
          <a:p>
            <a:pPr algn="ctr">
              <a:defRPr sz="1600" b="1">
                <a:solidFill>
                  <a:srgbClr val="FFFFFF"/>
                </a:solidFill>
                <a:latin typeface="Aptos"/>
              </a:defRPr>
            </a:pPr>
            <a:r>
              <a:t>4</a:t>
            </a:r>
          </a:p>
        </p:txBody>
      </p:sp>
      <p:sp>
        <p:nvSpPr>
          <p:cNvPr id="26" name="TextBox 25"/>
          <p:cNvSpPr txBox="1"/>
          <p:nvPr/>
        </p:nvSpPr>
        <p:spPr>
          <a:xfrm>
            <a:off x="9281160" y="2880360"/>
            <a:ext cx="2377440" cy="411480"/>
          </a:xfrm>
          <a:prstGeom prst="rect">
            <a:avLst/>
          </a:prstGeom>
          <a:noFill/>
        </p:spPr>
        <p:txBody>
          <a:bodyPr wrap="square" lIns="73152" rIns="73152" tIns="73152" bIns="73152" anchor="t">
            <a:spAutoFit/>
          </a:bodyPr>
          <a:lstStyle/>
          <a:p>
            <a:pPr algn="ctr">
              <a:defRPr sz="1600" b="1">
                <a:solidFill>
                  <a:srgbClr val="0A234B"/>
                </a:solidFill>
                <a:latin typeface="Aptos"/>
              </a:defRPr>
            </a:pPr>
            <a:r>
              <a:t>Result appears</a:t>
            </a:r>
          </a:p>
        </p:txBody>
      </p:sp>
      <p:sp>
        <p:nvSpPr>
          <p:cNvPr id="27" name="TextBox 26"/>
          <p:cNvSpPr txBox="1"/>
          <p:nvPr/>
        </p:nvSpPr>
        <p:spPr>
          <a:xfrm>
            <a:off x="9281160" y="3383280"/>
            <a:ext cx="2377440" cy="594360"/>
          </a:xfrm>
          <a:prstGeom prst="rect">
            <a:avLst/>
          </a:prstGeom>
          <a:noFill/>
        </p:spPr>
        <p:txBody>
          <a:bodyPr wrap="square" lIns="73152" rIns="73152" tIns="73152" bIns="73152" anchor="t">
            <a:spAutoFit/>
          </a:bodyPr>
          <a:lstStyle/>
          <a:p>
            <a:pPr algn="ctr">
              <a:defRPr sz="1300" b="0">
                <a:solidFill>
                  <a:srgbClr val="5F6E7D"/>
                </a:solidFill>
                <a:latin typeface="Aptos"/>
              </a:defRPr>
            </a:pPr>
            <a:r>
              <a:t>Balance or transaction status</a:t>
            </a:r>
          </a:p>
        </p:txBody>
      </p:sp>
      <p:sp>
        <p:nvSpPr>
          <p:cNvPr id="28" name="Rounded Rectangle 27"/>
          <p:cNvSpPr/>
          <p:nvPr/>
        </p:nvSpPr>
        <p:spPr>
          <a:xfrm>
            <a:off x="822960" y="4617720"/>
            <a:ext cx="10515600" cy="914400"/>
          </a:xfrm>
          <a:prstGeom prst="roundRect">
            <a:avLst/>
          </a:prstGeom>
          <a:solidFill>
            <a:srgbClr val="FFF2F2"/>
          </a:solidFill>
          <a:ln>
            <a:solidFill>
              <a:srgbClr val="DCE7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22960" y="4617720"/>
            <a:ext cx="82296" cy="914400"/>
          </a:xfrm>
          <a:prstGeom prst="rect">
            <a:avLst/>
          </a:prstGeom>
          <a:solidFill>
            <a:srgbClr val="D2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87552" y="4736592"/>
            <a:ext cx="10241280" cy="347472"/>
          </a:xfrm>
          <a:prstGeom prst="rect">
            <a:avLst/>
          </a:prstGeom>
          <a:noFill/>
        </p:spPr>
        <p:txBody>
          <a:bodyPr wrap="square" lIns="73152" rIns="73152" tIns="73152" bIns="73152" anchor="t">
            <a:spAutoFit/>
          </a:bodyPr>
          <a:lstStyle/>
          <a:p>
            <a:pPr algn="l">
              <a:defRPr sz="1700" b="1">
                <a:solidFill>
                  <a:srgbClr val="0A234B"/>
                </a:solidFill>
                <a:latin typeface="Aptos"/>
              </a:defRPr>
            </a:pPr>
            <a:r>
              <a:t>Security reminder</a:t>
            </a:r>
          </a:p>
        </p:txBody>
      </p:sp>
      <p:sp>
        <p:nvSpPr>
          <p:cNvPr id="31" name="TextBox 30"/>
          <p:cNvSpPr txBox="1"/>
          <p:nvPr/>
        </p:nvSpPr>
        <p:spPr>
          <a:xfrm>
            <a:off x="987552" y="5148072"/>
            <a:ext cx="10241280" cy="292607"/>
          </a:xfrm>
          <a:prstGeom prst="rect">
            <a:avLst/>
          </a:prstGeom>
          <a:noFill/>
        </p:spPr>
        <p:txBody>
          <a:bodyPr wrap="square" lIns="73152" rIns="73152" tIns="73152" bIns="73152" anchor="t">
            <a:spAutoFit/>
          </a:bodyPr>
          <a:lstStyle/>
          <a:p>
            <a:pPr algn="l">
              <a:defRPr sz="1500" b="0">
                <a:solidFill>
                  <a:srgbClr val="233041"/>
                </a:solidFill>
                <a:latin typeface="Aptos"/>
              </a:defRPr>
            </a:pPr>
            <a:r>
              <a:t>Use trusted apps and websites, protect passwords and verification codes, and avoid sharing sensitive banking information.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0A23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828800" cy="292608"/>
          </a:xfrm>
          <a:prstGeom prst="rect">
            <a:avLst/>
          </a:prstGeom>
          <a:noFill/>
        </p:spPr>
        <p:txBody>
          <a:bodyPr wrap="square" lIns="73152" rIns="73152" tIns="73152" bIns="73152" anchor="t">
            <a:spAutoFit/>
          </a:bodyPr>
          <a:lstStyle/>
          <a:p>
            <a:pPr algn="l">
              <a:defRPr sz="1100" b="1">
                <a:solidFill>
                  <a:srgbClr val="FFA623"/>
                </a:solidFill>
                <a:latin typeface="Aptos"/>
              </a:defRPr>
            </a:pPr>
            <a:r>
              <a:t>WEEK 2</a:t>
            </a:r>
          </a:p>
        </p:txBody>
      </p:sp>
      <p:sp>
        <p:nvSpPr>
          <p:cNvPr id="4" name="TextBox 3"/>
          <p:cNvSpPr txBox="1"/>
          <p:nvPr/>
        </p:nvSpPr>
        <p:spPr>
          <a:xfrm>
            <a:off x="502920" y="566928"/>
            <a:ext cx="11155680" cy="530352"/>
          </a:xfrm>
          <a:prstGeom prst="rect">
            <a:avLst/>
          </a:prstGeom>
          <a:noFill/>
        </p:spPr>
        <p:txBody>
          <a:bodyPr wrap="square" lIns="73152" rIns="73152" tIns="73152" bIns="73152" anchor="t">
            <a:spAutoFit/>
          </a:bodyPr>
          <a:lstStyle/>
          <a:p>
            <a:pPr algn="l">
              <a:defRPr sz="2900" b="1">
                <a:solidFill>
                  <a:srgbClr val="0A234B"/>
                </a:solidFill>
                <a:latin typeface="Aptos"/>
              </a:defRPr>
            </a:pPr>
            <a:r>
              <a:t>Case Study: A Small Business Goes Online</a:t>
            </a:r>
          </a:p>
        </p:txBody>
      </p:sp>
      <p:sp>
        <p:nvSpPr>
          <p:cNvPr id="5" name="TextBox 4"/>
          <p:cNvSpPr txBox="1"/>
          <p:nvPr/>
        </p:nvSpPr>
        <p:spPr>
          <a:xfrm>
            <a:off x="530352" y="1143000"/>
            <a:ext cx="10972800" cy="384048"/>
          </a:xfrm>
          <a:prstGeom prst="rect">
            <a:avLst/>
          </a:prstGeom>
          <a:noFill/>
        </p:spPr>
        <p:txBody>
          <a:bodyPr wrap="square" lIns="73152" rIns="73152" tIns="73152" bIns="73152" anchor="t">
            <a:spAutoFit/>
          </a:bodyPr>
          <a:lstStyle/>
          <a:p>
            <a:pPr algn="l">
              <a:defRPr sz="1400" b="0">
                <a:solidFill>
                  <a:srgbClr val="5F6E7D"/>
                </a:solidFill>
                <a:latin typeface="Aptos"/>
              </a:defRPr>
            </a:pPr>
            <a:r>
              <a:t>Work in groups of 3–4. Recommend a simple setup.</a:t>
            </a:r>
          </a:p>
        </p:txBody>
      </p:sp>
      <p:sp>
        <p:nvSpPr>
          <p:cNvPr id="6" name="Rectangle 5"/>
          <p:cNvSpPr/>
          <p:nvPr/>
        </p:nvSpPr>
        <p:spPr>
          <a:xfrm>
            <a:off x="502920" y="6510528"/>
            <a:ext cx="11155680" cy="13716"/>
          </a:xfrm>
          <a:prstGeom prst="rect">
            <a:avLst/>
          </a:prstGeom>
          <a:solidFill>
            <a:srgbClr val="DCE6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6537960"/>
            <a:ext cx="7772400" cy="201168"/>
          </a:xfrm>
          <a:prstGeom prst="rect">
            <a:avLst/>
          </a:prstGeom>
          <a:noFill/>
        </p:spPr>
        <p:txBody>
          <a:bodyPr wrap="square" lIns="73152" rIns="73152" tIns="73152" bIns="73152" anchor="t">
            <a:spAutoFit/>
          </a:bodyPr>
          <a:lstStyle/>
          <a:p>
            <a:pPr algn="l">
              <a:defRPr sz="900" b="0">
                <a:solidFill>
                  <a:srgbClr val="5F6E7D"/>
                </a:solidFill>
                <a:latin typeface="Aptos"/>
              </a:defRPr>
            </a:pPr>
            <a:r>
              <a:t>Applications of ICT • BS FinTech • Semester 1</a:t>
            </a:r>
          </a:p>
        </p:txBody>
      </p:sp>
      <p:sp>
        <p:nvSpPr>
          <p:cNvPr id="8" name="TextBox 7"/>
          <p:cNvSpPr txBox="1"/>
          <p:nvPr/>
        </p:nvSpPr>
        <p:spPr>
          <a:xfrm>
            <a:off x="10972800" y="6528816"/>
            <a:ext cx="640080" cy="201168"/>
          </a:xfrm>
          <a:prstGeom prst="rect">
            <a:avLst/>
          </a:prstGeom>
          <a:noFill/>
        </p:spPr>
        <p:txBody>
          <a:bodyPr wrap="square" lIns="73152" rIns="73152" tIns="73152" bIns="73152" anchor="t">
            <a:spAutoFit/>
          </a:bodyPr>
          <a:lstStyle/>
          <a:p>
            <a:pPr algn="r">
              <a:defRPr sz="900" b="0">
                <a:solidFill>
                  <a:srgbClr val="5F6E7D"/>
                </a:solidFill>
                <a:latin typeface="Aptos"/>
              </a:defRPr>
            </a:pPr>
            <a:r>
              <a:t>15</a:t>
            </a:r>
          </a:p>
        </p:txBody>
      </p:sp>
      <p:sp>
        <p:nvSpPr>
          <p:cNvPr id="9" name="Rounded Rectangle 8"/>
          <p:cNvSpPr/>
          <p:nvPr/>
        </p:nvSpPr>
        <p:spPr>
          <a:xfrm>
            <a:off x="640080" y="1691640"/>
            <a:ext cx="5257800" cy="3474720"/>
          </a:xfrm>
          <a:prstGeom prst="roundRect">
            <a:avLst/>
          </a:prstGeom>
          <a:solidFill>
            <a:srgbClr val="EBF5FF"/>
          </a:solidFill>
          <a:ln>
            <a:solidFill>
              <a:srgbClr val="DCE7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1691640"/>
            <a:ext cx="82296" cy="3474720"/>
          </a:xfrm>
          <a:prstGeom prst="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1" y="1810512"/>
            <a:ext cx="4983480" cy="347472"/>
          </a:xfrm>
          <a:prstGeom prst="rect">
            <a:avLst/>
          </a:prstGeom>
          <a:noFill/>
        </p:spPr>
        <p:txBody>
          <a:bodyPr wrap="square" lIns="73152" rIns="73152" tIns="73152" bIns="73152" anchor="t">
            <a:spAutoFit/>
          </a:bodyPr>
          <a:lstStyle/>
          <a:p>
            <a:pPr algn="l">
              <a:defRPr sz="1900" b="1">
                <a:solidFill>
                  <a:srgbClr val="0A234B"/>
                </a:solidFill>
                <a:latin typeface="Aptos"/>
              </a:defRPr>
            </a:pPr>
            <a:r>
              <a:t>Scenario</a:t>
            </a:r>
          </a:p>
        </p:txBody>
      </p:sp>
      <p:sp>
        <p:nvSpPr>
          <p:cNvPr id="12" name="TextBox 11"/>
          <p:cNvSpPr txBox="1"/>
          <p:nvPr/>
        </p:nvSpPr>
        <p:spPr>
          <a:xfrm>
            <a:off x="804671" y="2221992"/>
            <a:ext cx="4983480" cy="2852927"/>
          </a:xfrm>
          <a:prstGeom prst="rect">
            <a:avLst/>
          </a:prstGeom>
          <a:noFill/>
        </p:spPr>
        <p:txBody>
          <a:bodyPr wrap="square" lIns="73152" rIns="73152" tIns="73152" bIns="73152" anchor="t">
            <a:spAutoFit/>
          </a:bodyPr>
          <a:lstStyle/>
          <a:p>
            <a:pPr algn="l">
              <a:defRPr sz="1800" b="0">
                <a:solidFill>
                  <a:srgbClr val="233041"/>
                </a:solidFill>
                <a:latin typeface="Aptos"/>
              </a:defRPr>
            </a:pPr>
            <a:r>
              <a:t>A small shop has three computers, one shared printer, customer records, and a website. Staff need to share files and keep backups.</a:t>
            </a:r>
          </a:p>
        </p:txBody>
      </p:sp>
      <p:sp>
        <p:nvSpPr>
          <p:cNvPr id="13" name="Rounded Rectangle 12"/>
          <p:cNvSpPr/>
          <p:nvPr/>
        </p:nvSpPr>
        <p:spPr>
          <a:xfrm>
            <a:off x="6217920" y="1691640"/>
            <a:ext cx="5257800" cy="3474720"/>
          </a:xfrm>
          <a:prstGeom prst="roundRect">
            <a:avLst/>
          </a:prstGeom>
          <a:solidFill>
            <a:srgbClr val="EBFAF4"/>
          </a:solidFill>
          <a:ln>
            <a:solidFill>
              <a:srgbClr val="DCE7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1691640"/>
            <a:ext cx="82296" cy="3474720"/>
          </a:xfrm>
          <a:prstGeom prst="rect">
            <a:avLst/>
          </a:prstGeom>
          <a:solidFill>
            <a:srgbClr val="1C9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2" y="1810512"/>
            <a:ext cx="4983480" cy="347472"/>
          </a:xfrm>
          <a:prstGeom prst="rect">
            <a:avLst/>
          </a:prstGeom>
          <a:noFill/>
        </p:spPr>
        <p:txBody>
          <a:bodyPr wrap="square" lIns="73152" rIns="73152" tIns="73152" bIns="73152" anchor="t">
            <a:spAutoFit/>
          </a:bodyPr>
          <a:lstStyle/>
          <a:p>
            <a:pPr algn="l">
              <a:defRPr sz="1900" b="1">
                <a:solidFill>
                  <a:srgbClr val="0A234B"/>
                </a:solidFill>
                <a:latin typeface="Aptos"/>
              </a:defRPr>
            </a:pPr>
            <a:r>
              <a:t>Discuss and decide</a:t>
            </a:r>
          </a:p>
        </p:txBody>
      </p:sp>
      <p:sp>
        <p:nvSpPr>
          <p:cNvPr id="16" name="TextBox 15"/>
          <p:cNvSpPr txBox="1"/>
          <p:nvPr/>
        </p:nvSpPr>
        <p:spPr>
          <a:xfrm>
            <a:off x="6327648" y="2221992"/>
            <a:ext cx="5029200" cy="2852927"/>
          </a:xfrm>
          <a:prstGeom prst="rect">
            <a:avLst/>
          </a:prstGeom>
          <a:noFill/>
        </p:spPr>
        <p:txBody>
          <a:bodyPr wrap="square" lIns="109728" tIns="73152">
            <a:spAutoFit/>
          </a:bodyPr>
          <a:lstStyle/>
          <a:p>
            <a:pPr>
              <a:spcAft>
                <a:spcPts val="500"/>
              </a:spcAft>
              <a:defRPr sz="1500">
                <a:solidFill>
                  <a:srgbClr val="233041"/>
                </a:solidFill>
                <a:latin typeface="Aptos"/>
              </a:defRPr>
            </a:pPr>
            <a:r>
              <a:t>•  1. What network could connect the office devices?</a:t>
            </a:r>
          </a:p>
          <a:p>
            <a:pPr>
              <a:spcAft>
                <a:spcPts val="500"/>
              </a:spcAft>
              <a:defRPr sz="1500">
                <a:solidFill>
                  <a:srgbClr val="233041"/>
                </a:solidFill>
                <a:latin typeface="Aptos"/>
              </a:defRPr>
            </a:pPr>
            <a:r>
              <a:t>•  2. Which storage option could be used for backups?</a:t>
            </a:r>
          </a:p>
          <a:p>
            <a:pPr>
              <a:spcAft>
                <a:spcPts val="500"/>
              </a:spcAft>
              <a:defRPr sz="1500">
                <a:solidFill>
                  <a:srgbClr val="233041"/>
                </a:solidFill>
                <a:latin typeface="Aptos"/>
              </a:defRPr>
            </a:pPr>
            <a:r>
              <a:t>•  3. What type of server could host the website?</a:t>
            </a:r>
          </a:p>
          <a:p>
            <a:pPr>
              <a:spcAft>
                <a:spcPts val="500"/>
              </a:spcAft>
              <a:defRPr sz="1500">
                <a:solidFill>
                  <a:srgbClr val="233041"/>
                </a:solidFill>
                <a:latin typeface="Aptos"/>
              </a:defRPr>
            </a:pPr>
            <a:r>
              <a:t>•  4. Name one security practice.</a:t>
            </a:r>
          </a:p>
          <a:p>
            <a:pPr>
              <a:spcAft>
                <a:spcPts val="500"/>
              </a:spcAft>
              <a:defRPr sz="1500">
                <a:solidFill>
                  <a:srgbClr val="233041"/>
                </a:solidFill>
                <a:latin typeface="Aptos"/>
              </a:defRPr>
            </a:pPr>
            <a:r>
              <a:t>•  5. What is one risk of relying only on one copy?</a:t>
            </a:r>
          </a:p>
        </p:txBody>
      </p:sp>
      <p:sp>
        <p:nvSpPr>
          <p:cNvPr id="17" name="TextBox 16"/>
          <p:cNvSpPr txBox="1"/>
          <p:nvPr/>
        </p:nvSpPr>
        <p:spPr>
          <a:xfrm>
            <a:off x="868680" y="5486400"/>
            <a:ext cx="10424160" cy="411480"/>
          </a:xfrm>
          <a:prstGeom prst="rect">
            <a:avLst/>
          </a:prstGeom>
          <a:noFill/>
        </p:spPr>
        <p:txBody>
          <a:bodyPr wrap="square" lIns="73152" rIns="73152" tIns="73152" bIns="73152" anchor="t">
            <a:spAutoFit/>
          </a:bodyPr>
          <a:lstStyle/>
          <a:p>
            <a:pPr algn="ctr">
              <a:defRPr sz="1600" b="1">
                <a:solidFill>
                  <a:srgbClr val="0A234B"/>
                </a:solidFill>
                <a:latin typeface="Aptos"/>
              </a:defRPr>
            </a:pPr>
            <a:r>
              <a:t>Class participation: each group shares one recommendation and its reason.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0A23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828800" cy="292608"/>
          </a:xfrm>
          <a:prstGeom prst="rect">
            <a:avLst/>
          </a:prstGeom>
          <a:noFill/>
        </p:spPr>
        <p:txBody>
          <a:bodyPr wrap="square" lIns="73152" rIns="73152" tIns="73152" bIns="73152" anchor="t">
            <a:spAutoFit/>
          </a:bodyPr>
          <a:lstStyle/>
          <a:p>
            <a:pPr algn="l">
              <a:defRPr sz="1100" b="1">
                <a:solidFill>
                  <a:srgbClr val="FFA623"/>
                </a:solidFill>
                <a:latin typeface="Aptos"/>
              </a:defRPr>
            </a:pPr>
            <a:r>
              <a:t>WEEKS 1–2</a:t>
            </a:r>
          </a:p>
        </p:txBody>
      </p:sp>
      <p:sp>
        <p:nvSpPr>
          <p:cNvPr id="4" name="TextBox 3"/>
          <p:cNvSpPr txBox="1"/>
          <p:nvPr/>
        </p:nvSpPr>
        <p:spPr>
          <a:xfrm>
            <a:off x="502920" y="566928"/>
            <a:ext cx="11155680" cy="530352"/>
          </a:xfrm>
          <a:prstGeom prst="rect">
            <a:avLst/>
          </a:prstGeom>
          <a:noFill/>
        </p:spPr>
        <p:txBody>
          <a:bodyPr wrap="square" lIns="73152" rIns="73152" tIns="73152" bIns="73152" anchor="t">
            <a:spAutoFit/>
          </a:bodyPr>
          <a:lstStyle/>
          <a:p>
            <a:pPr algn="l">
              <a:defRPr sz="2900" b="1">
                <a:solidFill>
                  <a:srgbClr val="0A234B"/>
                </a:solidFill>
                <a:latin typeface="Aptos"/>
              </a:defRPr>
            </a:pPr>
            <a:r>
              <a:t>Quick Review Quiz</a:t>
            </a:r>
          </a:p>
        </p:txBody>
      </p:sp>
      <p:sp>
        <p:nvSpPr>
          <p:cNvPr id="5" name="TextBox 4"/>
          <p:cNvSpPr txBox="1"/>
          <p:nvPr/>
        </p:nvSpPr>
        <p:spPr>
          <a:xfrm>
            <a:off x="530352" y="1143000"/>
            <a:ext cx="10972800" cy="384048"/>
          </a:xfrm>
          <a:prstGeom prst="rect">
            <a:avLst/>
          </a:prstGeom>
          <a:noFill/>
        </p:spPr>
        <p:txBody>
          <a:bodyPr wrap="square" lIns="73152" rIns="73152" tIns="73152" bIns="73152" anchor="t">
            <a:spAutoFit/>
          </a:bodyPr>
          <a:lstStyle/>
          <a:p>
            <a:pPr algn="l">
              <a:defRPr sz="1400" b="0">
                <a:solidFill>
                  <a:srgbClr val="5F6E7D"/>
                </a:solidFill>
                <a:latin typeface="Aptos"/>
              </a:defRPr>
            </a:pPr>
            <a:r>
              <a:t>Ask students to answer individually, then discuss.</a:t>
            </a:r>
          </a:p>
        </p:txBody>
      </p:sp>
      <p:sp>
        <p:nvSpPr>
          <p:cNvPr id="6" name="Rectangle 5"/>
          <p:cNvSpPr/>
          <p:nvPr/>
        </p:nvSpPr>
        <p:spPr>
          <a:xfrm>
            <a:off x="502920" y="6510528"/>
            <a:ext cx="11155680" cy="13716"/>
          </a:xfrm>
          <a:prstGeom prst="rect">
            <a:avLst/>
          </a:prstGeom>
          <a:solidFill>
            <a:srgbClr val="DCE6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6537960"/>
            <a:ext cx="7772400" cy="201168"/>
          </a:xfrm>
          <a:prstGeom prst="rect">
            <a:avLst/>
          </a:prstGeom>
          <a:noFill/>
        </p:spPr>
        <p:txBody>
          <a:bodyPr wrap="square" lIns="73152" rIns="73152" tIns="73152" bIns="73152" anchor="t">
            <a:spAutoFit/>
          </a:bodyPr>
          <a:lstStyle/>
          <a:p>
            <a:pPr algn="l">
              <a:defRPr sz="900" b="0">
                <a:solidFill>
                  <a:srgbClr val="5F6E7D"/>
                </a:solidFill>
                <a:latin typeface="Aptos"/>
              </a:defRPr>
            </a:pPr>
            <a:r>
              <a:t>Applications of ICT • BS FinTech • Semester 1</a:t>
            </a:r>
          </a:p>
        </p:txBody>
      </p:sp>
      <p:sp>
        <p:nvSpPr>
          <p:cNvPr id="8" name="TextBox 7"/>
          <p:cNvSpPr txBox="1"/>
          <p:nvPr/>
        </p:nvSpPr>
        <p:spPr>
          <a:xfrm>
            <a:off x="10972800" y="6528816"/>
            <a:ext cx="640080" cy="201168"/>
          </a:xfrm>
          <a:prstGeom prst="rect">
            <a:avLst/>
          </a:prstGeom>
          <a:noFill/>
        </p:spPr>
        <p:txBody>
          <a:bodyPr wrap="square" lIns="73152" rIns="73152" tIns="73152" bIns="73152" anchor="t">
            <a:spAutoFit/>
          </a:bodyPr>
          <a:lstStyle/>
          <a:p>
            <a:pPr algn="r">
              <a:defRPr sz="900" b="0">
                <a:solidFill>
                  <a:srgbClr val="5F6E7D"/>
                </a:solidFill>
                <a:latin typeface="Aptos"/>
              </a:defRPr>
            </a:pPr>
            <a:r>
              <a:t>16</a:t>
            </a:r>
          </a:p>
        </p:txBody>
      </p:sp>
      <p:sp>
        <p:nvSpPr>
          <p:cNvPr id="9" name="Rounded Rectangle 8"/>
          <p:cNvSpPr/>
          <p:nvPr/>
        </p:nvSpPr>
        <p:spPr>
          <a:xfrm>
            <a:off x="731520" y="1645920"/>
            <a:ext cx="6583680" cy="4114800"/>
          </a:xfrm>
          <a:prstGeom prst="roundRect">
            <a:avLst/>
          </a:prstGeom>
          <a:solidFill>
            <a:srgbClr val="EBF5FF"/>
          </a:solidFill>
          <a:ln>
            <a:solidFill>
              <a:srgbClr val="DCE7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645920"/>
            <a:ext cx="82296" cy="4114800"/>
          </a:xfrm>
          <a:prstGeom prst="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1764792"/>
            <a:ext cx="6309360" cy="347472"/>
          </a:xfrm>
          <a:prstGeom prst="rect">
            <a:avLst/>
          </a:prstGeom>
          <a:noFill/>
        </p:spPr>
        <p:txBody>
          <a:bodyPr wrap="square" lIns="73152" rIns="73152" tIns="73152" bIns="73152" anchor="t">
            <a:spAutoFit/>
          </a:bodyPr>
          <a:lstStyle/>
          <a:p>
            <a:pPr algn="l">
              <a:defRPr sz="2000" b="1">
                <a:solidFill>
                  <a:srgbClr val="0A234B"/>
                </a:solidFill>
                <a:latin typeface="Aptos"/>
              </a:defRPr>
            </a:pPr>
            <a:r>
              <a:t>Questions</a:t>
            </a:r>
          </a:p>
        </p:txBody>
      </p:sp>
      <p:sp>
        <p:nvSpPr>
          <p:cNvPr id="12" name="TextBox 11"/>
          <p:cNvSpPr txBox="1"/>
          <p:nvPr/>
        </p:nvSpPr>
        <p:spPr>
          <a:xfrm>
            <a:off x="841248" y="2176272"/>
            <a:ext cx="6355080" cy="3493008"/>
          </a:xfrm>
          <a:prstGeom prst="rect">
            <a:avLst/>
          </a:prstGeom>
          <a:noFill/>
        </p:spPr>
        <p:txBody>
          <a:bodyPr wrap="square" lIns="109728" tIns="73152">
            <a:spAutoFit/>
          </a:bodyPr>
          <a:lstStyle/>
          <a:p>
            <a:pPr>
              <a:spcAft>
                <a:spcPts val="500"/>
              </a:spcAft>
              <a:defRPr sz="1700">
                <a:solidFill>
                  <a:srgbClr val="233041"/>
                </a:solidFill>
                <a:latin typeface="Aptos"/>
              </a:defRPr>
            </a:pPr>
            <a:r>
              <a:t>•  1. What are the four basic stages of the computer cycle?</a:t>
            </a:r>
          </a:p>
          <a:p>
            <a:pPr>
              <a:spcAft>
                <a:spcPts val="500"/>
              </a:spcAft>
              <a:defRPr sz="1700">
                <a:solidFill>
                  <a:srgbClr val="233041"/>
                </a:solidFill>
                <a:latin typeface="Aptos"/>
              </a:defRPr>
            </a:pPr>
            <a:r>
              <a:t>•  2. Give one example each of hardware and application software.</a:t>
            </a:r>
          </a:p>
          <a:p>
            <a:pPr>
              <a:spcAft>
                <a:spcPts val="500"/>
              </a:spcAft>
              <a:defRPr sz="1700">
                <a:solidFill>
                  <a:srgbClr val="233041"/>
                </a:solidFill>
                <a:latin typeface="Aptos"/>
              </a:defRPr>
            </a:pPr>
            <a:r>
              <a:t>•  3. What is one difference between HDD and SSD?</a:t>
            </a:r>
          </a:p>
          <a:p>
            <a:pPr>
              <a:spcAft>
                <a:spcPts val="500"/>
              </a:spcAft>
              <a:defRPr sz="1700">
                <a:solidFill>
                  <a:srgbClr val="233041"/>
                </a:solidFill>
                <a:latin typeface="Aptos"/>
              </a:defRPr>
            </a:pPr>
            <a:r>
              <a:t>•  4. What does a router help devices do?</a:t>
            </a:r>
          </a:p>
          <a:p>
            <a:pPr>
              <a:spcAft>
                <a:spcPts val="500"/>
              </a:spcAft>
              <a:defRPr sz="1700">
                <a:solidFill>
                  <a:srgbClr val="233041"/>
                </a:solidFill>
                <a:latin typeface="Aptos"/>
              </a:defRPr>
            </a:pPr>
            <a:r>
              <a:t>•  5. What is the role of a web server?</a:t>
            </a:r>
          </a:p>
          <a:p>
            <a:pPr>
              <a:spcAft>
                <a:spcPts val="500"/>
              </a:spcAft>
              <a:defRPr sz="1700">
                <a:solidFill>
                  <a:srgbClr val="233041"/>
                </a:solidFill>
                <a:latin typeface="Aptos"/>
              </a:defRPr>
            </a:pPr>
            <a:r>
              <a:t>•  6. Give one example of cloud storage.</a:t>
            </a:r>
          </a:p>
        </p:txBody>
      </p:sp>
      <p:sp>
        <p:nvSpPr>
          <p:cNvPr id="13" name="Rounded Rectangle 12"/>
          <p:cNvSpPr/>
          <p:nvPr/>
        </p:nvSpPr>
        <p:spPr>
          <a:xfrm>
            <a:off x="7635240" y="1645920"/>
            <a:ext cx="3794760" cy="1874519"/>
          </a:xfrm>
          <a:prstGeom prst="roundRect">
            <a:avLst/>
          </a:prstGeom>
          <a:solidFill>
            <a:srgbClr val="FFF8E9"/>
          </a:solidFill>
          <a:ln>
            <a:solidFill>
              <a:srgbClr val="DCE7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635240" y="1645920"/>
            <a:ext cx="82296" cy="1874519"/>
          </a:xfrm>
          <a:prstGeom prst="rect">
            <a:avLst/>
          </a:prstGeom>
          <a:solidFill>
            <a:srgbClr val="FF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99831" y="1764792"/>
            <a:ext cx="3520440" cy="347472"/>
          </a:xfrm>
          <a:prstGeom prst="rect">
            <a:avLst/>
          </a:prstGeom>
          <a:noFill/>
        </p:spPr>
        <p:txBody>
          <a:bodyPr wrap="square" lIns="73152" rIns="73152" tIns="73152" bIns="73152" anchor="t">
            <a:spAutoFit/>
          </a:bodyPr>
          <a:lstStyle/>
          <a:p>
            <a:pPr algn="l">
              <a:defRPr sz="1700" b="1">
                <a:solidFill>
                  <a:srgbClr val="0A234B"/>
                </a:solidFill>
                <a:latin typeface="Aptos"/>
              </a:defRPr>
            </a:pPr>
            <a:r>
              <a:t>Key terms</a:t>
            </a:r>
          </a:p>
        </p:txBody>
      </p:sp>
      <p:sp>
        <p:nvSpPr>
          <p:cNvPr id="16" name="TextBox 15"/>
          <p:cNvSpPr txBox="1"/>
          <p:nvPr/>
        </p:nvSpPr>
        <p:spPr>
          <a:xfrm>
            <a:off x="7744967" y="2176272"/>
            <a:ext cx="3566160" cy="1252727"/>
          </a:xfrm>
          <a:prstGeom prst="rect">
            <a:avLst/>
          </a:prstGeom>
          <a:noFill/>
        </p:spPr>
        <p:txBody>
          <a:bodyPr wrap="square" lIns="109728" tIns="73152">
            <a:spAutoFit/>
          </a:bodyPr>
          <a:lstStyle/>
          <a:p>
            <a:pPr>
              <a:spcAft>
                <a:spcPts val="500"/>
              </a:spcAft>
              <a:defRPr sz="1400">
                <a:solidFill>
                  <a:srgbClr val="233041"/>
                </a:solidFill>
                <a:latin typeface="Aptos"/>
              </a:defRPr>
            </a:pPr>
            <a:r>
              <a:t>•  Input • Processing • Storage • Output</a:t>
            </a:r>
          </a:p>
          <a:p>
            <a:pPr>
              <a:spcAft>
                <a:spcPts val="500"/>
              </a:spcAft>
              <a:defRPr sz="1400">
                <a:solidFill>
                  <a:srgbClr val="233041"/>
                </a:solidFill>
                <a:latin typeface="Aptos"/>
              </a:defRPr>
            </a:pPr>
            <a:r>
              <a:t>•  Hardware • Software</a:t>
            </a:r>
          </a:p>
          <a:p>
            <a:pPr>
              <a:spcAft>
                <a:spcPts val="500"/>
              </a:spcAft>
              <a:defRPr sz="1400">
                <a:solidFill>
                  <a:srgbClr val="233041"/>
                </a:solidFill>
                <a:latin typeface="Aptos"/>
              </a:defRPr>
            </a:pPr>
            <a:r>
              <a:t>•  HDD • SSD • LAN • WAN • Server</a:t>
            </a:r>
          </a:p>
        </p:txBody>
      </p:sp>
      <p:sp>
        <p:nvSpPr>
          <p:cNvPr id="17" name="Rounded Rectangle 16"/>
          <p:cNvSpPr/>
          <p:nvPr/>
        </p:nvSpPr>
        <p:spPr>
          <a:xfrm>
            <a:off x="7635240" y="3794760"/>
            <a:ext cx="3794760" cy="1965960"/>
          </a:xfrm>
          <a:prstGeom prst="roundRect">
            <a:avLst/>
          </a:prstGeom>
          <a:solidFill>
            <a:srgbClr val="EBFAF4"/>
          </a:solidFill>
          <a:ln>
            <a:solidFill>
              <a:srgbClr val="DCE7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35240" y="3794760"/>
            <a:ext cx="82296" cy="1965960"/>
          </a:xfrm>
          <a:prstGeom prst="rect">
            <a:avLst/>
          </a:prstGeom>
          <a:solidFill>
            <a:srgbClr val="1C9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99831" y="3913632"/>
            <a:ext cx="3520440" cy="347472"/>
          </a:xfrm>
          <a:prstGeom prst="rect">
            <a:avLst/>
          </a:prstGeom>
          <a:noFill/>
        </p:spPr>
        <p:txBody>
          <a:bodyPr wrap="square" lIns="73152" rIns="73152" tIns="73152" bIns="73152" anchor="t">
            <a:spAutoFit/>
          </a:bodyPr>
          <a:lstStyle/>
          <a:p>
            <a:pPr algn="l">
              <a:defRPr sz="1700" b="1">
                <a:solidFill>
                  <a:srgbClr val="0A234B"/>
                </a:solidFill>
                <a:latin typeface="Aptos"/>
              </a:defRPr>
            </a:pPr>
            <a:r>
              <a:t>Exit ticket</a:t>
            </a:r>
          </a:p>
        </p:txBody>
      </p:sp>
      <p:sp>
        <p:nvSpPr>
          <p:cNvPr id="20" name="TextBox 19"/>
          <p:cNvSpPr txBox="1"/>
          <p:nvPr/>
        </p:nvSpPr>
        <p:spPr>
          <a:xfrm>
            <a:off x="7799831" y="4325112"/>
            <a:ext cx="3520440" cy="1344167"/>
          </a:xfrm>
          <a:prstGeom prst="rect">
            <a:avLst/>
          </a:prstGeom>
          <a:noFill/>
        </p:spPr>
        <p:txBody>
          <a:bodyPr wrap="square" lIns="73152" rIns="73152" tIns="73152" bIns="73152" anchor="t">
            <a:spAutoFit/>
          </a:bodyPr>
          <a:lstStyle/>
          <a:p>
            <a:pPr algn="l">
              <a:defRPr sz="1500" b="0">
                <a:solidFill>
                  <a:srgbClr val="233041"/>
                </a:solidFill>
                <a:latin typeface="Aptos"/>
              </a:defRPr>
            </a:pPr>
            <a:r>
              <a:t>Write one thing you learned and one question you still have.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234B"/>
        </a:solidFill>
        <a:effectLst/>
      </p:bgPr>
    </p:bg>
    <p:spTree>
      <p:nvGrpSpPr>
        <p:cNvPr id="1" name=""/>
        <p:cNvGrpSpPr/>
        <p:nvPr/>
      </p:nvGrpSpPr>
      <p:grpSpPr/>
      <p:sp>
        <p:nvSpPr>
          <p:cNvPr id="2" name="TextBox 1"/>
          <p:cNvSpPr txBox="1"/>
          <p:nvPr/>
        </p:nvSpPr>
        <p:spPr>
          <a:xfrm>
            <a:off x="731520" y="640080"/>
            <a:ext cx="2011680" cy="320040"/>
          </a:xfrm>
          <a:prstGeom prst="rect">
            <a:avLst/>
          </a:prstGeom>
          <a:noFill/>
        </p:spPr>
        <p:txBody>
          <a:bodyPr wrap="square" lIns="73152" rIns="73152" tIns="73152" bIns="73152" anchor="t">
            <a:spAutoFit/>
          </a:bodyPr>
          <a:lstStyle/>
          <a:p>
            <a:pPr algn="l">
              <a:defRPr sz="1200" b="1">
                <a:solidFill>
                  <a:srgbClr val="FFA623"/>
                </a:solidFill>
                <a:latin typeface="Aptos"/>
              </a:defRPr>
            </a:pPr>
            <a:r>
              <a:t>CLOSING DISCUSSION</a:t>
            </a:r>
          </a:p>
        </p:txBody>
      </p:sp>
      <p:sp>
        <p:nvSpPr>
          <p:cNvPr id="3" name="TextBox 2"/>
          <p:cNvSpPr txBox="1"/>
          <p:nvPr/>
        </p:nvSpPr>
        <p:spPr>
          <a:xfrm>
            <a:off x="731520" y="1234440"/>
            <a:ext cx="10789920" cy="822960"/>
          </a:xfrm>
          <a:prstGeom prst="rect">
            <a:avLst/>
          </a:prstGeom>
          <a:noFill/>
        </p:spPr>
        <p:txBody>
          <a:bodyPr wrap="square" lIns="73152" rIns="73152" tIns="73152" bIns="73152" anchor="t">
            <a:spAutoFit/>
          </a:bodyPr>
          <a:lstStyle/>
          <a:p>
            <a:pPr algn="l">
              <a:defRPr sz="3100" b="1">
                <a:solidFill>
                  <a:srgbClr val="FFFFFF"/>
                </a:solidFill>
                <a:latin typeface="Aptos"/>
              </a:defRPr>
            </a:pPr>
            <a:r>
              <a:t>Technology is a system—not just a device.</a:t>
            </a:r>
          </a:p>
        </p:txBody>
      </p:sp>
      <p:sp>
        <p:nvSpPr>
          <p:cNvPr id="4" name="TextBox 3"/>
          <p:cNvSpPr txBox="1"/>
          <p:nvPr/>
        </p:nvSpPr>
        <p:spPr>
          <a:xfrm>
            <a:off x="777240" y="2423160"/>
            <a:ext cx="9875520" cy="731520"/>
          </a:xfrm>
          <a:prstGeom prst="rect">
            <a:avLst/>
          </a:prstGeom>
          <a:noFill/>
        </p:spPr>
        <p:txBody>
          <a:bodyPr wrap="square" lIns="73152" rIns="73152" tIns="73152" bIns="73152" anchor="t">
            <a:spAutoFit/>
          </a:bodyPr>
          <a:lstStyle/>
          <a:p>
            <a:pPr algn="l">
              <a:defRPr sz="2000" b="0">
                <a:solidFill>
                  <a:srgbClr val="DCE8F6"/>
                </a:solidFill>
                <a:latin typeface="Aptos"/>
              </a:defRPr>
            </a:pPr>
            <a:r>
              <a:t>Hardware runs instructions, software gives it tasks, storage keeps data, networks move information, and servers provide services.</a:t>
            </a:r>
          </a:p>
        </p:txBody>
      </p:sp>
      <p:sp>
        <p:nvSpPr>
          <p:cNvPr id="5" name="Rounded Rectangle 4"/>
          <p:cNvSpPr/>
          <p:nvPr/>
        </p:nvSpPr>
        <p:spPr>
          <a:xfrm>
            <a:off x="777240" y="3840480"/>
            <a:ext cx="10058400" cy="1280160"/>
          </a:xfrm>
          <a:prstGeom prst="roundRect">
            <a:avLst/>
          </a:prstGeom>
          <a:solidFill>
            <a:srgbClr val="14345B"/>
          </a:solidFill>
          <a:ln>
            <a:solidFill>
              <a:srgbClr val="DCE7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3840480"/>
            <a:ext cx="82296" cy="1280160"/>
          </a:xfrm>
          <a:prstGeom prst="rect">
            <a:avLst/>
          </a:prstGeom>
          <a:solidFill>
            <a:srgbClr val="FF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 y="3959352"/>
            <a:ext cx="9784080" cy="347472"/>
          </a:xfrm>
          <a:prstGeom prst="rect">
            <a:avLst/>
          </a:prstGeom>
          <a:noFill/>
        </p:spPr>
        <p:txBody>
          <a:bodyPr wrap="square" lIns="73152" rIns="73152" tIns="73152" bIns="73152" anchor="t">
            <a:spAutoFit/>
          </a:bodyPr>
          <a:lstStyle/>
          <a:p>
            <a:pPr algn="l">
              <a:defRPr sz="1900" b="1">
                <a:solidFill>
                  <a:srgbClr val="0A234B"/>
                </a:solidFill>
                <a:latin typeface="Aptos"/>
              </a:defRPr>
            </a:pPr>
            <a:r>
              <a:t>One final question</a:t>
            </a:r>
          </a:p>
        </p:txBody>
      </p:sp>
      <p:sp>
        <p:nvSpPr>
          <p:cNvPr id="8" name="TextBox 7"/>
          <p:cNvSpPr txBox="1"/>
          <p:nvPr/>
        </p:nvSpPr>
        <p:spPr>
          <a:xfrm>
            <a:off x="941832" y="4370832"/>
            <a:ext cx="9784080" cy="658367"/>
          </a:xfrm>
          <a:prstGeom prst="rect">
            <a:avLst/>
          </a:prstGeom>
          <a:noFill/>
        </p:spPr>
        <p:txBody>
          <a:bodyPr wrap="square" lIns="73152" rIns="73152" tIns="73152" bIns="73152" anchor="t">
            <a:spAutoFit/>
          </a:bodyPr>
          <a:lstStyle/>
          <a:p>
            <a:pPr algn="l">
              <a:defRPr sz="1700" b="0">
                <a:solidFill>
                  <a:srgbClr val="233041"/>
                </a:solidFill>
                <a:latin typeface="Aptos"/>
              </a:defRPr>
            </a:pPr>
            <a:r>
              <a:t>When you make an online payment, which parts of the system are involved? Explain the journey in your own words.</a:t>
            </a:r>
          </a:p>
        </p:txBody>
      </p:sp>
      <p:sp>
        <p:nvSpPr>
          <p:cNvPr id="9" name="TextBox 8"/>
          <p:cNvSpPr txBox="1"/>
          <p:nvPr/>
        </p:nvSpPr>
        <p:spPr>
          <a:xfrm>
            <a:off x="822960" y="5943600"/>
            <a:ext cx="9875520" cy="320040"/>
          </a:xfrm>
          <a:prstGeom prst="rect">
            <a:avLst/>
          </a:prstGeom>
          <a:noFill/>
        </p:spPr>
        <p:txBody>
          <a:bodyPr wrap="square" lIns="73152" rIns="73152" tIns="73152" bIns="73152" anchor="t">
            <a:spAutoFit/>
          </a:bodyPr>
          <a:lstStyle/>
          <a:p>
            <a:pPr algn="l">
              <a:defRPr sz="1300" b="0">
                <a:solidFill>
                  <a:srgbClr val="CDDCF0"/>
                </a:solidFill>
                <a:latin typeface="Aptos"/>
              </a:defRPr>
            </a:pPr>
            <a:r>
              <a:t>Next: MS Word — interface, document setup and professional formatting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