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embeddedFontLs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DM Sans"/>
      <p:italic r:id="rId19"/>
    </p:embeddedFont>
    <p:embeddedFont>
      <p:font typeface="Space Grotesk"/>
      <p:bold r:id="rId20"/>
    </p:embeddedFont>
    <p:embeddedFont>
      <p:font typeface="JetBrains Mono"/>
      <p:bold r:id="rId2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691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85800" y="4728864"/>
            <a:ext cx="68580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5800" y="5610225"/>
            <a:ext cx="108204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09600"/>
            <a:ext cx="266700" cy="266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76585" y="647700"/>
            <a:ext cx="4036490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 dirty="0">
                <a:solidFill>
                  <a:schemeClr val="tx2">
                    <a:lumMod val="40000"/>
                    <a:lumOff val="60000"/>
                  </a:schemeClr>
                </a:solidFill>
                <a:latin typeface="JetBrains Mono"/>
              </a:rPr>
              <a:t>COURSE: PROGRAMMING FUNDAMENTALS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800820"/>
            <a:ext cx="9701212" cy="11519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536"/>
              </a:lnSpc>
            </a:pPr>
            <a:r>
              <a:rPr sz="4050" b="1" i="0" u="none" dirty="0">
                <a:solidFill>
                  <a:srgbClr val="FFFFFF"/>
                </a:solidFill>
                <a:latin typeface="Space Grotesk"/>
              </a:rPr>
              <a:t>Von Neumann Architecture &amp; Introduction to Programming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224699"/>
            <a:ext cx="7524750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 dirty="0">
                <a:solidFill>
                  <a:srgbClr val="CBD5E1"/>
                </a:solidFill>
                <a:latin typeface="DM Sans"/>
              </a:rPr>
              <a:t>Complete review of stored-program hardware architecture, the Fetch-Decode-Execute cycle, language translators, and core programming constructs with practical examples.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4900" y="533400"/>
            <a:ext cx="461962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8FAFC"/>
                </a:solidFill>
                <a:latin typeface="Space Grotesk"/>
              </a:rPr>
              <a:t>SUPERIOR UNIVERSITY — OKARA CAMPUS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4900" y="781050"/>
            <a:ext cx="46196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DM Sans"/>
              </a:rPr>
              <a:t>Department of Computer Science &amp; Information Technology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982527"/>
            <a:ext cx="6032241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0" i="0" u="none" dirty="0" smtClean="0">
                <a:solidFill>
                  <a:schemeClr val="bg1"/>
                </a:solidFill>
                <a:latin typeface="DM Sans"/>
              </a:rPr>
              <a:t>PRESENTED BY</a:t>
            </a:r>
            <a:r>
              <a:rPr lang="en-US" sz="1600" b="0" i="0" u="none" dirty="0" smtClean="0">
                <a:solidFill>
                  <a:schemeClr val="bg1"/>
                </a:solidFill>
                <a:latin typeface="DM Sans"/>
              </a:rPr>
              <a:t>: </a:t>
            </a:r>
            <a:r>
              <a:rPr lang="en-US" sz="1600" b="1" dirty="0">
                <a:solidFill>
                  <a:srgbClr val="38BDF8"/>
                </a:solidFill>
                <a:latin typeface="Space Grotesk"/>
              </a:rPr>
              <a:t>Waleed </a:t>
            </a:r>
            <a:r>
              <a:rPr lang="en-US" sz="1600" b="1" dirty="0" smtClean="0">
                <a:solidFill>
                  <a:srgbClr val="38BDF8"/>
                </a:solidFill>
                <a:latin typeface="Space Grotesk"/>
              </a:rPr>
              <a:t>Rabbani</a:t>
            </a:r>
          </a:p>
          <a:p>
            <a:r>
              <a:rPr lang="en-US" sz="1600" b="1" dirty="0">
                <a:solidFill>
                  <a:srgbClr val="F8FAFC"/>
                </a:solidFill>
                <a:latin typeface="Space Grotesk"/>
              </a:rPr>
              <a:t>ADP-CS — Semester I</a:t>
            </a:r>
          </a:p>
          <a:p>
            <a:endParaRPr lang="en-US" sz="1600" b="1" dirty="0">
              <a:solidFill>
                <a:srgbClr val="38BDF8"/>
              </a:solidFill>
              <a:latin typeface="Space Grotesk"/>
            </a:endParaRPr>
          </a:p>
          <a:p>
            <a:pPr algn="l"/>
            <a:endParaRPr sz="1600" b="0" i="0" u="none" dirty="0">
              <a:solidFill>
                <a:srgbClr val="94A3B8"/>
              </a:solidFill>
              <a:latin typeface="DM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94165" y="1785937"/>
            <a:ext cx="4688234" cy="4191000"/>
          </a:xfrm>
          <a:prstGeom prst="roundRect">
            <a:avLst>
              <a:gd name="adj" fmla="val 272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5005387"/>
            <a:ext cx="5827365" cy="838200"/>
          </a:xfrm>
          <a:prstGeom prst="roundRect">
            <a:avLst>
              <a:gd name="adj" fmla="val 11363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4665" y="1966912"/>
            <a:ext cx="4307234" cy="33337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143250"/>
            <a:ext cx="171450" cy="1809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4362450"/>
            <a:ext cx="219075" cy="1809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JetBrains Mono"/>
              </a:rPr>
              <a:t>PART 01 — COMPUTER ARCHITECTURE FOUNDATION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85800"/>
            <a:ext cx="11582400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Space Grotesk"/>
              </a:rPr>
              <a:t>The Von Neumann Stored-Program Concept (1945)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919287"/>
            <a:ext cx="5922615" cy="990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334155"/>
                </a:solidFill>
                <a:latin typeface="DM Sans"/>
              </a:rPr>
              <a:t>Proposed by mathematician </a:t>
            </a:r>
            <a:r>
              <a:rPr sz="1500" b="1" i="0" u="none">
                <a:solidFill>
                  <a:srgbClr val="334155"/>
                </a:solidFill>
                <a:latin typeface="DM Sans"/>
              </a:rPr>
              <a:t>John von Neumann</a:t>
            </a:r>
            <a:r>
              <a:rPr sz="1500" b="0" i="0" u="none">
                <a:solidFill>
                  <a:srgbClr val="334155"/>
                </a:solidFill>
                <a:latin typeface="DM Sans"/>
              </a:rPr>
              <a:t> in 1945, this design revolutionized computing by storing both </a:t>
            </a:r>
            <a:r>
              <a:rPr sz="1500" b="1" i="0" u="none">
                <a:solidFill>
                  <a:srgbClr val="334155"/>
                </a:solidFill>
                <a:latin typeface="DM Sans"/>
              </a:rPr>
              <a:t>program instructions</a:t>
            </a:r>
            <a:r>
              <a:rPr sz="1500" b="0" i="0" u="none">
                <a:solidFill>
                  <a:srgbClr val="334155"/>
                </a:solidFill>
                <a:latin typeface="DM Sans"/>
              </a:rPr>
              <a:t> and </a:t>
            </a:r>
            <a:r>
              <a:rPr sz="1500" b="1" i="0" u="none">
                <a:solidFill>
                  <a:srgbClr val="334155"/>
                </a:solidFill>
                <a:latin typeface="DM Sans"/>
              </a:rPr>
              <a:t>data</a:t>
            </a:r>
            <a:r>
              <a:rPr sz="1500" b="0" i="0" u="none">
                <a:solidFill>
                  <a:srgbClr val="334155"/>
                </a:solidFill>
                <a:latin typeface="DM Sans"/>
              </a:rPr>
              <a:t> inside a single read-write main memory (RAM).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4665" y="5414962"/>
            <a:ext cx="4402484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DM Sans"/>
              </a:rPr>
              <a:t>John von Neumann and the historic IAS Stored-Program Machine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3119437"/>
            <a:ext cx="5922615" cy="457200"/>
          </a:xfrm>
          <a:prstGeom prst="rect">
            <a:avLst/>
          </a:prstGeom>
          <a:noFill/>
        </p:spPr>
        <p:txBody>
          <a:bodyPr wrap="square" lIns="2857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DM Sans"/>
              </a:rPr>
              <a:t>Unified Memory:</a:t>
            </a:r>
            <a:r>
              <a:rPr sz="1350" b="0" i="0" u="none">
                <a:solidFill>
                  <a:srgbClr val="1E293B"/>
                </a:solidFill>
                <a:latin typeface="DM Sans"/>
              </a:rPr>
              <a:t> Instructions and numbers share the same RAM addresses in binary.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3729037"/>
            <a:ext cx="5922615" cy="457200"/>
          </a:xfrm>
          <a:prstGeom prst="rect">
            <a:avLst/>
          </a:prstGeom>
          <a:noFill/>
        </p:spPr>
        <p:txBody>
          <a:bodyPr wrap="square" lIns="11430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DM Sans"/>
              </a:rPr>
              <a:t>Sequential Execution:</a:t>
            </a:r>
            <a:r>
              <a:rPr sz="1350" b="0" i="0" u="none">
                <a:solidFill>
                  <a:srgbClr val="1E293B"/>
                </a:solidFill>
                <a:latin typeface="DM Sans"/>
              </a:rPr>
              <a:t> Instructions execute one after another unless jumped.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4338637"/>
            <a:ext cx="5922615" cy="457200"/>
          </a:xfrm>
          <a:prstGeom prst="rect">
            <a:avLst/>
          </a:prstGeom>
          <a:noFill/>
        </p:spPr>
        <p:txBody>
          <a:bodyPr wrap="square" lIns="333375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DM Sans"/>
              </a:rPr>
              <a:t>Real Example:</a:t>
            </a:r>
            <a:r>
              <a:rPr sz="1350" b="0" i="0" u="none">
                <a:solidFill>
                  <a:srgbClr val="1E293B"/>
                </a:solidFill>
                <a:latin typeface="DM Sans"/>
              </a:rPr>
              <a:t> In RAM address 0x100, binary 00010101 can mean instruction ADD or decimal number 21.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5195887"/>
            <a:ext cx="546541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40AF"/>
                </a:solidFill>
                <a:latin typeface="DM Sans"/>
              </a:rPr>
              <a:t>Before 1945 (ENIAC): Reprogramming required physically rewiring cables and switches for days.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323975"/>
            <a:ext cx="10972800" cy="3905250"/>
          </a:xfrm>
          <a:prstGeom prst="roundRect">
            <a:avLst>
              <a:gd name="adj" fmla="val 292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5600700"/>
            <a:ext cx="10972800" cy="800100"/>
          </a:xfrm>
          <a:prstGeom prst="roundRect">
            <a:avLst>
              <a:gd name="adj" fmla="val 11904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76300" y="2514600"/>
            <a:ext cx="2514600" cy="1524000"/>
          </a:xfrm>
          <a:prstGeom prst="roundRect">
            <a:avLst>
              <a:gd name="adj" fmla="val 625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801100" y="2514600"/>
            <a:ext cx="2514600" cy="1524000"/>
          </a:xfrm>
          <a:prstGeom prst="roundRect">
            <a:avLst>
              <a:gd name="adj" fmla="val 625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924300" y="1590675"/>
            <a:ext cx="4343400" cy="1962150"/>
          </a:xfrm>
          <a:prstGeom prst="roundRect">
            <a:avLst>
              <a:gd name="adj" fmla="val 4854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924300" y="4010025"/>
            <a:ext cx="4343400" cy="95250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114800" y="2143125"/>
            <a:ext cx="1244649" cy="12192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473749" y="2143125"/>
            <a:ext cx="1244649" cy="12192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832699" y="2143125"/>
            <a:ext cx="1244649" cy="12192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3300" y="3162300"/>
            <a:ext cx="228600" cy="228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0100" y="3162300"/>
            <a:ext cx="228600" cy="2286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200" y="2743200"/>
            <a:ext cx="304800" cy="2667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0" y="2743200"/>
            <a:ext cx="304800" cy="2667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6750" y="3686175"/>
            <a:ext cx="123825" cy="1905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0" y="4352925"/>
            <a:ext cx="304800" cy="2667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JetBrains Mono"/>
              </a:rPr>
              <a:t>PART 01 — HARDWARE ANATOMY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685800"/>
            <a:ext cx="11582400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Space Grotesk"/>
              </a:rPr>
              <a:t>Five Core Components &amp; Execution Example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6300" y="5781675"/>
            <a:ext cx="2875359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8BDF8"/>
                </a:solidFill>
                <a:latin typeface="JetBrains Mono"/>
              </a:rPr>
              <a:t>Example Trace (c = 5 + 10):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6409" y="5772150"/>
            <a:ext cx="77545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F8FAFC"/>
                </a:solidFill>
                <a:latin typeface="DM Sans"/>
              </a:rPr>
              <a:t>Input reads 5, 10 → Stored in RAM → CU loads into ALU → ALU computes 15 → Output prints 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421" y="3105150"/>
            <a:ext cx="2850356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Space Grotesk"/>
              </a:rPr>
              <a:t>1. Input Unit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6287" y="3409950"/>
            <a:ext cx="271462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475569"/>
                </a:solidFill>
                <a:latin typeface="DM Sans"/>
              </a:rPr>
              <a:t>Reads user data (`5`, `10`) from keyboard or sensor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33221" y="3105150"/>
            <a:ext cx="2850356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Space Grotesk"/>
              </a:rPr>
              <a:t>5. Output Unit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01087" y="3409950"/>
            <a:ext cx="271462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475569"/>
                </a:solidFill>
                <a:latin typeface="DM Sans"/>
              </a:rPr>
              <a:t>Displays computed result (`15`) on monitor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1781175"/>
            <a:ext cx="520065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40AF"/>
                </a:solidFill>
                <a:latin typeface="Space Grotesk"/>
              </a:rPr>
              <a:t>2. Central Processing Unit (CPU)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40227" y="3686175"/>
            <a:ext cx="3425618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400" b="1" i="0" u="none" dirty="0" smtClean="0">
                <a:solidFill>
                  <a:srgbClr val="B45309"/>
                </a:solidFill>
                <a:latin typeface="JetBrains Mono"/>
              </a:rPr>
              <a:t>3.</a:t>
            </a:r>
            <a:r>
              <a:rPr sz="1400" b="1" i="0" u="none" dirty="0" smtClean="0">
                <a:solidFill>
                  <a:srgbClr val="B45309"/>
                </a:solidFill>
                <a:latin typeface="JetBrains Mono"/>
              </a:rPr>
              <a:t>SYSTEM </a:t>
            </a:r>
            <a:r>
              <a:rPr sz="1400" b="1" i="0" u="none" dirty="0">
                <a:solidFill>
                  <a:srgbClr val="B45309"/>
                </a:solidFill>
                <a:latin typeface="JetBrains Mono"/>
              </a:rPr>
              <a:t>BUS (Address, Data, Control)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4162425"/>
            <a:ext cx="48006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92400E"/>
                </a:solidFill>
                <a:latin typeface="Space Grotesk"/>
              </a:rPr>
              <a:t>4. Main Memory Unit (RAM)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4410075"/>
            <a:ext cx="37528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78350F"/>
                </a:solidFill>
                <a:latin typeface="DM Sans"/>
              </a:rPr>
              <a:t>Holds both active instructions and variables in addressed cells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29100" y="2257425"/>
            <a:ext cx="1111299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DM Sans"/>
              </a:rPr>
              <a:t>Control Unit (CU)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29100" y="2676525"/>
            <a:ext cx="1111299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DM Sans"/>
              </a:rPr>
              <a:t>Directs traffic &amp; decodes instructions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88049" y="2257425"/>
            <a:ext cx="1301799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DM Sans"/>
              </a:rPr>
              <a:t>ALU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88049" y="2466975"/>
            <a:ext cx="1111299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DM Sans"/>
              </a:rPr>
              <a:t>Math (`+`, `-`) &amp; Logic (`AND`, `==`)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6999" y="2257425"/>
            <a:ext cx="1301799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DM Sans"/>
              </a:rPr>
              <a:t>Registers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6999" y="2466975"/>
            <a:ext cx="1111299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DM Sans"/>
              </a:rPr>
              <a:t>Ultra-fast CPU scratchpad memory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9530341"/>
              </p:ext>
            </p:extLst>
          </p:nvPr>
        </p:nvGraphicFramePr>
        <p:xfrm>
          <a:off x="609600" y="1462087"/>
          <a:ext cx="10972798" cy="4800600"/>
        </p:xfrm>
        <a:graphic>
          <a:graphicData uri="http://schemas.openxmlformats.org/drawingml/2006/table">
            <a:tbl>
              <a:tblPr/>
              <a:tblGrid>
                <a:gridCol w="14272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53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579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122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0010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FFFFF"/>
                          </a:solidFill>
                          <a:latin typeface="Space Grotesk"/>
                        </a:rPr>
                        <a:t>Register Code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FFFFF"/>
                          </a:solidFill>
                          <a:latin typeface="Space Grotesk"/>
                        </a:rPr>
                        <a:t>Full Name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FFFFF"/>
                          </a:solidFill>
                          <a:latin typeface="Space Grotesk"/>
                        </a:rPr>
                        <a:t>Primary Role in Execution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FFFFF"/>
                          </a:solidFill>
                          <a:latin typeface="Space Grotesk"/>
                        </a:rPr>
                        <a:t>Concrete Value Example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2563EB"/>
                          </a:solidFill>
                          <a:latin typeface="JetBrains Mono"/>
                        </a:rPr>
                        <a:t>PC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DM Sans"/>
                        </a:rPr>
                        <a:t>Program Counter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DM Sans"/>
                        </a:rPr>
                        <a:t>Holds RAM address of the </a:t>
                      </a:r>
                      <a:r>
                        <a:rPr sz="1350" b="1" i="0" u="none">
                          <a:solidFill>
                            <a:srgbClr val="334155"/>
                          </a:solidFill>
                          <a:latin typeface="DM Sans"/>
                        </a:rPr>
                        <a:t>next</a:t>
                      </a:r>
                      <a:r>
                        <a:rPr sz="1350" b="0" i="0" u="none">
                          <a:solidFill>
                            <a:srgbClr val="334155"/>
                          </a:solidFill>
                          <a:latin typeface="DM Sans"/>
                        </a:rPr>
                        <a:t> instruction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F172A"/>
                          </a:solidFill>
                          <a:latin typeface="JetBrains Mono"/>
                        </a:rPr>
                        <a:t>0x0100 → increments to 0x0101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2563EB"/>
                          </a:solidFill>
                          <a:latin typeface="JetBrains Mono"/>
                        </a:rPr>
                        <a:t>MAR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DM Sans"/>
                        </a:rPr>
                        <a:t>Memory Address Register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DM Sans"/>
                        </a:rPr>
                        <a:t>Holds current RAM address being read or written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F172A"/>
                          </a:solidFill>
                          <a:latin typeface="JetBrains Mono"/>
                        </a:rPr>
                        <a:t>Address 0x0100 sent to bus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algn="l"/>
                      <a:r>
                        <a:rPr sz="1350" b="1" i="0" u="none" dirty="0" smtClean="0">
                          <a:solidFill>
                            <a:srgbClr val="2563EB"/>
                          </a:solidFill>
                          <a:latin typeface="JetBrains Mono"/>
                        </a:rPr>
                        <a:t>MDR</a:t>
                      </a:r>
                      <a:r>
                        <a:rPr lang="en-US" sz="1350" b="1" i="0" u="none" dirty="0" smtClean="0">
                          <a:solidFill>
                            <a:srgbClr val="2563EB"/>
                          </a:solidFill>
                          <a:latin typeface="JetBrains Mono"/>
                        </a:rPr>
                        <a:t>/MBR</a:t>
                      </a:r>
                      <a:endParaRPr sz="1350" b="1" i="0" u="none" dirty="0">
                        <a:solidFill>
                          <a:srgbClr val="2563EB"/>
                        </a:solidFill>
                        <a:latin typeface="JetBrains Mon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 dirty="0">
                          <a:solidFill>
                            <a:srgbClr val="0F172A"/>
                          </a:solidFill>
                          <a:latin typeface="DM Sans"/>
                        </a:rPr>
                        <a:t>Memory </a:t>
                      </a:r>
                      <a:r>
                        <a:rPr sz="1350" b="1" i="0" u="none" dirty="0" smtClean="0">
                          <a:solidFill>
                            <a:srgbClr val="0F172A"/>
                          </a:solidFill>
                          <a:latin typeface="DM Sans"/>
                        </a:rPr>
                        <a:t>Data </a:t>
                      </a:r>
                      <a:r>
                        <a:rPr sz="1350" b="1" i="0" u="none" dirty="0">
                          <a:solidFill>
                            <a:srgbClr val="0F172A"/>
                          </a:solidFill>
                          <a:latin typeface="DM Sans"/>
                        </a:rPr>
                        <a:t>Register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DM Sans"/>
                        </a:rPr>
                        <a:t>Buffers actual data or instruction arriving from RAM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F172A"/>
                          </a:solidFill>
                          <a:latin typeface="JetBrains Mono"/>
                        </a:rPr>
                        <a:t>Receives instruction ADD 5, 10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2563EB"/>
                          </a:solidFill>
                          <a:latin typeface="JetBrains Mono"/>
                        </a:rPr>
                        <a:t>CIR / IR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DM Sans"/>
                        </a:rPr>
                        <a:t>Current Instruction Register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DM Sans"/>
                        </a:rPr>
                        <a:t>Stores active instruction split into Opcode &amp; Operand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0F172A"/>
                          </a:solidFill>
                          <a:latin typeface="JetBrains Mono"/>
                        </a:rPr>
                        <a:t>Opcode: ADD | Operands: 5, 10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2563EB"/>
                          </a:solidFill>
                          <a:latin typeface="JetBrains Mono"/>
                        </a:rPr>
                        <a:t>ACC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DM Sans"/>
                        </a:rPr>
                        <a:t>Accumulator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DM Sans"/>
                        </a:rPr>
                        <a:t>Temporarily holds arithmetic output from the ALU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 dirty="0">
                          <a:solidFill>
                            <a:srgbClr val="0F172A"/>
                          </a:solidFill>
                          <a:latin typeface="JetBrains Mono"/>
                        </a:rPr>
                        <a:t>Stores result 15 (00001111₂)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JetBrains Mono"/>
              </a:rPr>
              <a:t>PART 01 — HIGH-SPEED CPU 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85800"/>
            <a:ext cx="11582400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Space Grotesk"/>
              </a:rPr>
              <a:t>Special-Purpose Registers inside the CPU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4686300"/>
            <a:ext cx="10972800" cy="171450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1362075"/>
            <a:ext cx="2414587" cy="234315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462337" y="1476375"/>
            <a:ext cx="2414587" cy="211455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315075" y="1362075"/>
            <a:ext cx="2414587" cy="234315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167812" y="1362075"/>
            <a:ext cx="2414587" cy="234315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680376" y="4914900"/>
            <a:ext cx="1597223" cy="1257300"/>
          </a:xfrm>
          <a:prstGeom prst="roundRect">
            <a:avLst>
              <a:gd name="adj" fmla="val 606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6587" y="2428875"/>
            <a:ext cx="133350" cy="2095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9325" y="2428875"/>
            <a:ext cx="133350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2062" y="2428875"/>
            <a:ext cx="133350" cy="2095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JetBrains Mono"/>
              </a:rPr>
              <a:t>PART 01 — INSTRUCTION EXECUTION 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85800"/>
            <a:ext cx="11582400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Space Grotesk"/>
              </a:rPr>
              <a:t>The Fetch–Decode–Execute Cycle (Step-by-Step Trace)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150" y="1628775"/>
            <a:ext cx="2494359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2563EB"/>
                </a:solidFill>
                <a:latin typeface="JetBrains Mono"/>
              </a:rPr>
              <a:t>STEP 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150" y="1905000"/>
            <a:ext cx="2619077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Space Grotesk"/>
              </a:rPr>
              <a:t>Fetch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150" y="2295525"/>
            <a:ext cx="2090737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DM Sans"/>
              </a:rPr>
              <a:t>PC copies address 0x200 to MAR. Instruction moves via Data Bus into MDR and CIR.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1887" y="1743075"/>
            <a:ext cx="2494359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2563EB"/>
                </a:solidFill>
                <a:latin typeface="JetBrains Mono"/>
              </a:rPr>
              <a:t>STEP 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71887" y="2019300"/>
            <a:ext cx="2619077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Space Grotesk"/>
              </a:rPr>
              <a:t>Increment PC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71887" y="2409825"/>
            <a:ext cx="2090737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DM Sans"/>
              </a:rPr>
              <a:t>PC automatically adds +1 (becomes 0x201) to point toward the next instruction.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4625" y="1628775"/>
            <a:ext cx="2494359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D97706"/>
                </a:solidFill>
                <a:latin typeface="JetBrains Mono"/>
              </a:rPr>
              <a:t>STEP 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4625" y="1905000"/>
            <a:ext cx="2619077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Space Grotesk"/>
              </a:rPr>
              <a:t>Decode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4625" y="2295525"/>
            <a:ext cx="2090737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DM Sans"/>
              </a:rPr>
              <a:t>Control Unit inspects CIR: splits instruction into </a:t>
            </a:r>
            <a:r>
              <a:rPr sz="1350" b="1" i="0" u="none">
                <a:solidFill>
                  <a:srgbClr val="475569"/>
                </a:solidFill>
                <a:latin typeface="DM Sans"/>
              </a:rPr>
              <a:t>Opcode</a:t>
            </a:r>
            <a:r>
              <a:rPr sz="1350" b="0" i="0" u="none">
                <a:solidFill>
                  <a:srgbClr val="475569"/>
                </a:solidFill>
                <a:latin typeface="DM Sans"/>
              </a:rPr>
              <a:t> (LOAD/ADD) and </a:t>
            </a:r>
            <a:r>
              <a:rPr sz="1350" b="1" i="0" u="none">
                <a:solidFill>
                  <a:srgbClr val="475569"/>
                </a:solidFill>
                <a:latin typeface="DM Sans"/>
              </a:rPr>
              <a:t>Operand</a:t>
            </a:r>
            <a:r>
              <a:rPr sz="1350" b="0" i="0" u="none">
                <a:solidFill>
                  <a:srgbClr val="475569"/>
                </a:solidFill>
                <a:latin typeface="DM Sans"/>
              </a:rPr>
              <a:t>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7362" y="1628775"/>
            <a:ext cx="2494359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6A34A"/>
                </a:solidFill>
                <a:latin typeface="JetBrains Mono"/>
              </a:rPr>
              <a:t>STEP 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7362" y="1905000"/>
            <a:ext cx="2619077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Space Grotesk"/>
              </a:rPr>
              <a:t>Execute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7362" y="2295525"/>
            <a:ext cx="2090737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DM Sans"/>
              </a:rPr>
              <a:t>ALU performs calculation, stores output in ACC or RAM, and repeats cycle billions of times/sec.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191125"/>
            <a:ext cx="1067172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2563EB"/>
                </a:solidFill>
                <a:latin typeface="JetBrains Mono"/>
              </a:rPr>
              <a:t>REAL REGISTER TRACE EXAMPLE — EXECUTING "ADD R1, R2" (25 + 17)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438775"/>
            <a:ext cx="863262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1E293B"/>
                </a:solidFill>
                <a:latin typeface="DM Sans"/>
              </a:rPr>
              <a:t>[MAR ← 0x200] → [MDR ← ADD R1,R2] → [CIR ← MDR] → [PC ← 0x201] → [ALU computes 25 + 17] → [ACC ← 42]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42661" y="5048250"/>
            <a:ext cx="1472654" cy="647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50" b="1" i="0" u="none">
                <a:solidFill>
                  <a:srgbClr val="1D4ED8"/>
                </a:solidFill>
                <a:latin typeface="Space Grotesk"/>
              </a:rPr>
              <a:t>3.5 GHz CPU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42661" y="5695950"/>
            <a:ext cx="1472654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475569"/>
                </a:solidFill>
                <a:latin typeface="DM Sans"/>
              </a:rPr>
              <a:t>3.5 Billion Cycles / Sec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362075"/>
            <a:ext cx="5295900" cy="5038725"/>
          </a:xfrm>
          <a:prstGeom prst="roundRect">
            <a:avLst>
              <a:gd name="adj" fmla="val 226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86500" y="1362075"/>
            <a:ext cx="5295900" cy="5038725"/>
          </a:xfrm>
          <a:prstGeom prst="roundRect">
            <a:avLst>
              <a:gd name="adj" fmla="val 2268"/>
            </a:avLst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JetBrains Mono"/>
              </a:rPr>
              <a:t>PART 01 — DATA PATHWAYS &amp;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85800"/>
            <a:ext cx="11582400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Space Grotesk"/>
              </a:rPr>
              <a:t>System Buses &amp; The Von Neumann Bottleneck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895975"/>
            <a:ext cx="58578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2563EB"/>
                </a:solidFill>
                <a:latin typeface="JetBrains Mono"/>
              </a:rPr>
              <a:t>Analogy: Address = House Number | Data = Package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91300" y="5695950"/>
            <a:ext cx="47815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B45309"/>
                </a:solidFill>
                <a:latin typeface="JetBrains Mono"/>
              </a:rPr>
              <a:t>Modern CPUs use Split L1 Cache (L1i + L1d) to prevent stalls.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666875"/>
            <a:ext cx="6150768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0F172A"/>
                </a:solidFill>
                <a:latin typeface="Space Grotesk"/>
              </a:rPr>
              <a:t>Three System Buses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91300" y="1666875"/>
            <a:ext cx="5600700" cy="3238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92400E"/>
                </a:solidFill>
                <a:latin typeface="Space Grotesk"/>
              </a:rPr>
              <a:t>The Von Neumann Bottleneck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91300" y="2181225"/>
            <a:ext cx="47815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78350F"/>
                </a:solidFill>
                <a:latin typeface="DM Sans"/>
              </a:rPr>
              <a:t>Because instructions and data share a </a:t>
            </a:r>
            <a:r>
              <a:rPr sz="1350" b="1" i="0" u="none">
                <a:solidFill>
                  <a:srgbClr val="78350F"/>
                </a:solidFill>
                <a:latin typeface="DM Sans"/>
              </a:rPr>
              <a:t>single bus</a:t>
            </a:r>
            <a:r>
              <a:rPr sz="1350" b="0" i="0" u="none">
                <a:solidFill>
                  <a:srgbClr val="78350F"/>
                </a:solidFill>
                <a:latin typeface="DM Sans"/>
              </a:rPr>
              <a:t> between CPU and RAM, the processor cannot fetch an instruction and read data at the exact same instant.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81225"/>
            <a:ext cx="47815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DM Sans"/>
              </a:rPr>
              <a:t>1. Address Bus (Unidirectional):</a:t>
            </a:r>
            <a:r>
              <a:rPr sz="1350" b="0" i="0" u="none">
                <a:solidFill>
                  <a:srgbClr val="1E293B"/>
                </a:solidFill>
                <a:latin typeface="DM Sans"/>
              </a:rPr>
              <a:t> Carries memory location from CPU to RAM (e.g., 0x7FFF).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828925"/>
            <a:ext cx="47815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DM Sans"/>
              </a:rPr>
              <a:t>2. Data Bus (Bidirectional):</a:t>
            </a:r>
            <a:r>
              <a:rPr sz="1350" b="0" i="0" u="none">
                <a:solidFill>
                  <a:srgbClr val="1E293B"/>
                </a:solidFill>
                <a:latin typeface="DM Sans"/>
              </a:rPr>
              <a:t> Moves actual instructions and values between CPU, RAM, and I/O.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76625"/>
            <a:ext cx="47815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DM Sans"/>
              </a:rPr>
              <a:t>3. Control Bus (Bidirectional):</a:t>
            </a:r>
            <a:r>
              <a:rPr sz="1350" b="0" i="0" u="none">
                <a:solidFill>
                  <a:srgbClr val="1E293B"/>
                </a:solidFill>
                <a:latin typeface="DM Sans"/>
              </a:rPr>
              <a:t> Carries command signals like Memory Read, Memory Write, and Clock.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91300" y="3057525"/>
            <a:ext cx="56007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78350F"/>
                </a:solidFill>
                <a:latin typeface="DM Sans"/>
              </a:rPr>
              <a:t>Problem:</a:t>
            </a:r>
            <a:r>
              <a:rPr sz="1350" b="0" i="0" u="none">
                <a:solidFill>
                  <a:srgbClr val="78350F"/>
                </a:solidFill>
                <a:latin typeface="DM Sans"/>
              </a:rPr>
              <a:t> Fast CPU waits idly for slower RAM transfers.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91300" y="3438525"/>
            <a:ext cx="47815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78350F"/>
                </a:solidFill>
                <a:latin typeface="DM Sans"/>
              </a:rPr>
              <a:t>Solution 1 — CPU Cache (L1/L2/L3):</a:t>
            </a:r>
            <a:r>
              <a:rPr sz="1350" b="0" i="0" u="none">
                <a:solidFill>
                  <a:srgbClr val="78350F"/>
                </a:solidFill>
                <a:latin typeface="DM Sans"/>
              </a:rPr>
              <a:t> Stores frequent data directly inside the processor chip.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91300" y="4048125"/>
            <a:ext cx="47815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78350F"/>
                </a:solidFill>
                <a:latin typeface="DM Sans"/>
              </a:rPr>
              <a:t>Solution 2 — Instruction Pipelining:</a:t>
            </a:r>
            <a:r>
              <a:rPr sz="1350" b="0" i="0" u="none">
                <a:solidFill>
                  <a:srgbClr val="78350F"/>
                </a:solidFill>
                <a:latin typeface="DM Sans"/>
              </a:rPr>
              <a:t> Overlaps Fetch of instruction 2 while Decoding instruction 1.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785937"/>
            <a:ext cx="4688234" cy="41910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755034" y="5224462"/>
            <a:ext cx="5827365" cy="762000"/>
          </a:xfrm>
          <a:prstGeom prst="roundRect">
            <a:avLst>
              <a:gd name="adj" fmla="val 125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2062162"/>
            <a:ext cx="4307234" cy="33337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JetBrains Mono"/>
              </a:rPr>
              <a:t>PART 02 — INTRODUCTION TO PROGRAMMING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85800"/>
            <a:ext cx="11582400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Space Grotesk"/>
              </a:rPr>
              <a:t>What is Computer Programming?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1005" y="5510212"/>
            <a:ext cx="5131593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DM Sans"/>
              </a:rPr>
              <a:t>Software instructions command billions of silicon transistors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55034" y="1776412"/>
            <a:ext cx="5922615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34155"/>
                </a:solidFill>
                <a:latin typeface="DM Sans"/>
              </a:rPr>
              <a:t>Programming</a:t>
            </a:r>
            <a:r>
              <a:rPr sz="1500" b="0" i="0" u="none">
                <a:solidFill>
                  <a:srgbClr val="334155"/>
                </a:solidFill>
                <a:latin typeface="DM Sans"/>
              </a:rPr>
              <a:t> is the process of designing and writing step-by-step instructions (a </a:t>
            </a:r>
            <a:r>
              <a:rPr sz="1500" b="1" i="0" u="none">
                <a:solidFill>
                  <a:srgbClr val="334155"/>
                </a:solidFill>
                <a:latin typeface="DM Sans"/>
              </a:rPr>
              <a:t>program</a:t>
            </a:r>
            <a:r>
              <a:rPr sz="1500" b="0" i="0" u="none">
                <a:solidFill>
                  <a:srgbClr val="334155"/>
                </a:solidFill>
                <a:latin typeface="DM Sans"/>
              </a:rPr>
              <a:t>) that tell Von Neumann hardware exactly how to solve a problem.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55034" y="2728912"/>
            <a:ext cx="592261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DM Sans"/>
              </a:rPr>
              <a:t>1. Problem Analysis:</a:t>
            </a:r>
            <a:r>
              <a:rPr sz="1350" b="0" i="0" u="none">
                <a:solidFill>
                  <a:srgbClr val="1E293B"/>
                </a:solidFill>
                <a:latin typeface="DM Sans"/>
              </a:rPr>
              <a:t> Define inputs, required processing, and expected output.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55034" y="3338512"/>
            <a:ext cx="592261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DM Sans"/>
              </a:rPr>
              <a:t>2. Algorithm Design:</a:t>
            </a:r>
            <a:r>
              <a:rPr sz="1350" b="0" i="0" u="none">
                <a:solidFill>
                  <a:srgbClr val="1E293B"/>
                </a:solidFill>
                <a:latin typeface="DM Sans"/>
              </a:rPr>
              <a:t> Write logical steps using Pseudocode or Flowcharts.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55034" y="3948112"/>
            <a:ext cx="592261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DM Sans"/>
              </a:rPr>
              <a:t>3. Coding (Implementation):</a:t>
            </a:r>
            <a:r>
              <a:rPr sz="1350" b="0" i="0" u="none">
                <a:solidFill>
                  <a:srgbClr val="1E293B"/>
                </a:solidFill>
                <a:latin typeface="DM Sans"/>
              </a:rPr>
              <a:t> Translate logic into syntax (C++, Python, Java).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55034" y="4557712"/>
            <a:ext cx="592261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E293B"/>
                </a:solidFill>
                <a:latin typeface="DM Sans"/>
              </a:rPr>
              <a:t>4. Testing &amp; Debugging:</a:t>
            </a:r>
            <a:r>
              <a:rPr sz="1350" b="0" i="0" u="none">
                <a:solidFill>
                  <a:srgbClr val="1E293B"/>
                </a:solidFill>
                <a:latin typeface="DM Sans"/>
              </a:rPr>
              <a:t> Fix </a:t>
            </a:r>
            <a:r>
              <a:rPr sz="1350" b="0" i="1" u="none">
                <a:solidFill>
                  <a:srgbClr val="1E293B"/>
                </a:solidFill>
                <a:latin typeface="DM Sans"/>
              </a:rPr>
              <a:t>Syntax Errors</a:t>
            </a:r>
            <a:r>
              <a:rPr sz="1350" b="0" i="0" u="none">
                <a:solidFill>
                  <a:srgbClr val="1E293B"/>
                </a:solidFill>
                <a:latin typeface="DM Sans"/>
              </a:rPr>
              <a:t> (grammar) and </a:t>
            </a:r>
            <a:r>
              <a:rPr sz="1350" b="0" i="1" u="none">
                <a:solidFill>
                  <a:srgbClr val="1E293B"/>
                </a:solidFill>
                <a:latin typeface="DM Sans"/>
              </a:rPr>
              <a:t>Logical Errors</a:t>
            </a:r>
            <a:r>
              <a:rPr sz="1350" b="0" i="0" u="none">
                <a:solidFill>
                  <a:srgbClr val="1E293B"/>
                </a:solidFill>
                <a:latin typeface="DM Sans"/>
              </a:rPr>
              <a:t> (wrong math).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3634" y="5395912"/>
            <a:ext cx="5465415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38BDF8"/>
                </a:solidFill>
                <a:latin typeface="JetBrains Mono"/>
              </a:rPr>
              <a:t>Golden Rule: Hardware is the stage; Software is the script.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874043"/>
            <a:ext cx="5314950" cy="3976687"/>
          </a:xfrm>
          <a:prstGeom prst="roundRect">
            <a:avLst>
              <a:gd name="adj" fmla="val 287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67450" y="1695450"/>
            <a:ext cx="5314950" cy="4333875"/>
          </a:xfrm>
          <a:prstGeom prst="roundRect">
            <a:avLst>
              <a:gd name="adj" fmla="val 2637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76300" y="3436143"/>
            <a:ext cx="4781550" cy="2147887"/>
          </a:xfrm>
          <a:prstGeom prst="roundRect">
            <a:avLst>
              <a:gd name="adj" fmla="val 3547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343900" y="2381250"/>
            <a:ext cx="1162050" cy="352425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610475" y="3114675"/>
            <a:ext cx="2628900" cy="390525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562850" y="3886200"/>
            <a:ext cx="2724150" cy="428625"/>
          </a:xfrm>
          <a:prstGeom prst="roundRect">
            <a:avLst>
              <a:gd name="adj" fmla="val 17777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391525" y="5410200"/>
            <a:ext cx="1066800" cy="352425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248525" y="4467225"/>
            <a:ext cx="1524000" cy="561975"/>
          </a:xfrm>
          <a:prstGeom prst="roundRect">
            <a:avLst>
              <a:gd name="adj" fmla="val 13559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077325" y="4467225"/>
            <a:ext cx="1524000" cy="561975"/>
          </a:xfrm>
          <a:prstGeom prst="roundRect">
            <a:avLst>
              <a:gd name="adj" fmla="val 13559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7775" y="2847975"/>
            <a:ext cx="11430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7775" y="3619500"/>
            <a:ext cx="114300" cy="152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7775" y="5143500"/>
            <a:ext cx="114300" cy="152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JetBrains Mono"/>
              </a:rPr>
              <a:t>PART 02 — PROBLEM-SOLVING BLUEPRINTS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685800"/>
            <a:ext cx="11582400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Space Grotesk"/>
              </a:rPr>
              <a:t>Algorithms, Pseudocode &amp; Flowcharts (With Example)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300" y="2140743"/>
            <a:ext cx="512064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Space Grotesk"/>
              </a:rPr>
              <a:t>Problem: Check if a Student Passed (Marks ≥ 50)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300" y="2826543"/>
            <a:ext cx="4876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DM Sans"/>
              </a:rPr>
              <a:t>An </a:t>
            </a:r>
            <a:r>
              <a:rPr sz="1350" b="1" i="0" u="none">
                <a:solidFill>
                  <a:srgbClr val="475569"/>
                </a:solidFill>
                <a:latin typeface="DM Sans"/>
              </a:rPr>
              <a:t>Algorithm</a:t>
            </a:r>
            <a:r>
              <a:rPr sz="1350" b="0" i="0" u="none">
                <a:solidFill>
                  <a:srgbClr val="475569"/>
                </a:solidFill>
                <a:latin typeface="DM Sans"/>
              </a:rPr>
              <a:t> is a finite sequence of unambiguous steps. </a:t>
            </a:r>
            <a:r>
              <a:rPr sz="1350" b="1" i="0" u="none">
                <a:solidFill>
                  <a:srgbClr val="475569"/>
                </a:solidFill>
                <a:latin typeface="DM Sans"/>
              </a:rPr>
              <a:t>Pseudocode</a:t>
            </a:r>
            <a:r>
              <a:rPr sz="1350" b="0" i="0" u="none">
                <a:solidFill>
                  <a:srgbClr val="475569"/>
                </a:solidFill>
                <a:latin typeface="DM Sans"/>
              </a:rPr>
              <a:t> writes it in plain English before coding: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6800" y="3626643"/>
            <a:ext cx="4495800" cy="1766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F8FAFC"/>
                </a:solidFill>
                <a:latin typeface="JetBrains Mono"/>
              </a:rPr>
              <a:t>1. START 2. INPUT student_marks 3. IF student_marks &gt;= 50 THEN PRINT "Status: PASS" ELSE PRINT "Status: FAIL" END IF 4. STOP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05700" y="1962150"/>
            <a:ext cx="3725465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40AF"/>
                </a:solidFill>
                <a:latin typeface="Space Grotesk"/>
              </a:rPr>
              <a:t>Equivalent Visual Flowchart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2457450"/>
            <a:ext cx="762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JetBrains Mono"/>
              </a:rPr>
              <a:t>START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77175" y="3209925"/>
            <a:ext cx="26193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F172A"/>
                </a:solidFill>
                <a:latin typeface="JetBrains Mono"/>
              </a:rPr>
              <a:t>INPUT marks (e.g., 78)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29550" y="4000500"/>
            <a:ext cx="27384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92400E"/>
                </a:solidFill>
                <a:latin typeface="JetBrains Mono"/>
              </a:rPr>
              <a:t>Decision: marks &gt;= 50 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4425" y="5486400"/>
            <a:ext cx="6667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JetBrains Mono"/>
              </a:rPr>
              <a:t>STOP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96150" y="4562475"/>
            <a:ext cx="14287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166534"/>
                </a:solidFill>
                <a:latin typeface="DM Sans"/>
              </a:rPr>
              <a:t>TRUE (Yes)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96150" y="4733925"/>
            <a:ext cx="14287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14532D"/>
                </a:solidFill>
                <a:latin typeface="JetBrains Mono"/>
              </a:rPr>
              <a:t>PRINT "PASS"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24950" y="4562475"/>
            <a:ext cx="14287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991B1B"/>
                </a:solidFill>
                <a:latin typeface="DM Sans"/>
              </a:rPr>
              <a:t>FALSE (No)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24950" y="4733925"/>
            <a:ext cx="14287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7F1D1D"/>
                </a:solidFill>
                <a:latin typeface="JetBrains Mono"/>
              </a:rPr>
              <a:t>PRINT "FAIL"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804987"/>
            <a:ext cx="10972800" cy="411480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9600" y="1804987"/>
          <a:ext cx="10972798" cy="4114800"/>
        </p:xfrm>
        <a:graphic>
          <a:graphicData uri="http://schemas.openxmlformats.org/drawingml/2006/table">
            <a:tbl>
              <a:tblPr/>
              <a:tblGrid>
                <a:gridCol w="25471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269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253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732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2870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FFFFF"/>
                          </a:solidFill>
                          <a:latin typeface="Space Grotesk"/>
                        </a:rPr>
                        <a:t>Language Level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FFFFF"/>
                          </a:solidFill>
                          <a:latin typeface="Space Grotesk"/>
                        </a:rPr>
                        <a:t>Hardware Dependence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FFFFF"/>
                          </a:solidFill>
                          <a:latin typeface="Space Grotesk"/>
                        </a:rPr>
                        <a:t>Human Readability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FFFFF"/>
                          </a:solidFill>
                          <a:latin typeface="Space Grotesk"/>
                        </a:rPr>
                        <a:t>Same Instruction Example (Add A &amp; B)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DM Sans"/>
                        </a:rPr>
                        <a:t>1. Machine Language (1GL)</a:t>
                      </a:r>
                      <a:r>
                        <a:t>
</a:t>
                      </a:r>
                      <a:r>
                        <a:rPr sz="1125" b="0" i="0" u="none">
                          <a:solidFill>
                            <a:srgbClr val="64748B"/>
                          </a:solidFill>
                          <a:latin typeface="DM Sans"/>
                        </a:rPr>
                        <a:t>Pure Binary (0s and 1s)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B91C1C"/>
                          </a:solidFill>
                          <a:latin typeface="DM Sans"/>
                        </a:rPr>
                        <a:t>100% CPU Dependent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DM Sans"/>
                        </a:rPr>
                        <a:t>Extremely difficult &amp; error-prone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2563EB"/>
                          </a:solidFill>
                          <a:latin typeface="JetBrains Mono"/>
                        </a:rPr>
                        <a:t>10110000 00000101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DM Sans"/>
                        </a:rPr>
                        <a:t>2. Assembly Language (2GL)</a:t>
                      </a:r>
                      <a:r>
                        <a:t>
</a:t>
                      </a:r>
                      <a:r>
                        <a:rPr sz="1125" b="0" i="0" u="none">
                          <a:solidFill>
                            <a:srgbClr val="64748B"/>
                          </a:solidFill>
                          <a:latin typeface="DM Sans"/>
                        </a:rPr>
                        <a:t>Symbolic Mnemonics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D97706"/>
                          </a:solidFill>
                          <a:latin typeface="DM Sans"/>
                        </a:rPr>
                        <a:t>Architecture Specific (x86/ARM)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DM Sans"/>
                        </a:rPr>
                        <a:t>Medium (Uses short English codes)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D97706"/>
                          </a:solidFill>
                          <a:latin typeface="JetBrains Mono"/>
                        </a:rPr>
                        <a:t>MOV AX, 5 | ADD AX, BX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DM Sans"/>
                        </a:rPr>
                        <a:t>3. High-Level Language (3GL+)</a:t>
                      </a:r>
                      <a:r>
                        <a:t>
</a:t>
                      </a:r>
                      <a:r>
                        <a:rPr sz="1125" b="0" i="0" u="none">
                          <a:solidFill>
                            <a:srgbClr val="64748B"/>
                          </a:solidFill>
                          <a:latin typeface="DM Sans"/>
                        </a:rPr>
                        <a:t>C++, Python, Java, C#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15803D"/>
                          </a:solidFill>
                          <a:latin typeface="DM Sans"/>
                        </a:rPr>
                        <a:t>Portable Across Machines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334155"/>
                          </a:solidFill>
                          <a:latin typeface="DM Sans"/>
                        </a:rPr>
                        <a:t>High (Close to English &amp; math)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15803D"/>
                          </a:solidFill>
                          <a:latin typeface="JetBrains Mono"/>
                        </a:rPr>
                        <a:t>int sum = a + b;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JetBrains Mono"/>
              </a:rPr>
              <a:t>PART 02 — EVOLUTION OF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85800"/>
            <a:ext cx="11582400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Space Grotesk"/>
              </a:rPr>
              <a:t>Levels of Programming Languages (With Code Examples)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324100"/>
            <a:ext cx="3505200" cy="3076575"/>
          </a:xfrm>
          <a:prstGeom prst="roundRect">
            <a:avLst>
              <a:gd name="adj" fmla="val 371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2438400"/>
            <a:ext cx="3505200" cy="2847975"/>
          </a:xfrm>
          <a:prstGeom prst="roundRect">
            <a:avLst>
              <a:gd name="adj" fmla="val 401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438400"/>
            <a:ext cx="3505200" cy="2847975"/>
          </a:xfrm>
          <a:prstGeom prst="roundRect">
            <a:avLst>
              <a:gd name="adj" fmla="val 401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628900"/>
            <a:ext cx="381000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2743200"/>
            <a:ext cx="3429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0" y="2743200"/>
            <a:ext cx="30480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JetBrains Mono"/>
              </a:rPr>
              <a:t>PART 02 — BRIDGING HUMAN CODE TO SILICON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85800"/>
            <a:ext cx="11582400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Space Grotesk"/>
              </a:rPr>
              <a:t>Language Translators: Compiler, Interpreter &amp; Assembler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86100"/>
            <a:ext cx="3800475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Space Grotesk"/>
              </a:rPr>
              <a:t>Compiler (C, C++)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8200" y="3200400"/>
            <a:ext cx="3800475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Space Grotesk"/>
              </a:rPr>
              <a:t>Interpreter (Python, JS)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0" y="3200400"/>
            <a:ext cx="3800475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Space Grotesk"/>
              </a:rPr>
              <a:t>Assembler (NASM, MASM)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95675"/>
            <a:ext cx="29908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34155"/>
                </a:solidFill>
                <a:latin typeface="DM Sans"/>
              </a:rPr>
              <a:t>Translation:</a:t>
            </a:r>
            <a:r>
              <a:rPr sz="1350" b="0" i="0" u="none">
                <a:solidFill>
                  <a:srgbClr val="334155"/>
                </a:solidFill>
                <a:latin typeface="DM Sans"/>
              </a:rPr>
              <a:t> Converts whole program at once.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067175"/>
            <a:ext cx="29908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34155"/>
                </a:solidFill>
                <a:latin typeface="DM Sans"/>
              </a:rPr>
              <a:t>Output:</a:t>
            </a:r>
            <a:r>
              <a:rPr sz="1350" b="0" i="0" u="none">
                <a:solidFill>
                  <a:srgbClr val="334155"/>
                </a:solidFill>
                <a:latin typeface="DM Sans"/>
              </a:rPr>
              <a:t> Creates standalone .exe binary file.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638675"/>
            <a:ext cx="29908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34155"/>
                </a:solidFill>
                <a:latin typeface="DM Sans"/>
              </a:rPr>
              <a:t>Example: g++ main.cpp -o app.exe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8200" y="3609975"/>
            <a:ext cx="29908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34155"/>
                </a:solidFill>
                <a:latin typeface="DM Sans"/>
              </a:rPr>
              <a:t>Translation:</a:t>
            </a:r>
            <a:r>
              <a:rPr sz="1350" b="0" i="0" u="none">
                <a:solidFill>
                  <a:srgbClr val="334155"/>
                </a:solidFill>
                <a:latin typeface="DM Sans"/>
              </a:rPr>
              <a:t> Executes code line-by-line live.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8200" y="4181475"/>
            <a:ext cx="29908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34155"/>
                </a:solidFill>
                <a:latin typeface="DM Sans"/>
              </a:rPr>
              <a:t>Debugging:</a:t>
            </a:r>
            <a:r>
              <a:rPr sz="1350" b="0" i="0" u="none">
                <a:solidFill>
                  <a:srgbClr val="334155"/>
                </a:solidFill>
                <a:latin typeface="DM Sans"/>
              </a:rPr>
              <a:t> Stops immediately on first error line.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48200" y="4752975"/>
            <a:ext cx="36195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34155"/>
                </a:solidFill>
                <a:latin typeface="DM Sans"/>
              </a:rPr>
              <a:t>Example: python script.py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0" y="3609975"/>
            <a:ext cx="29908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34155"/>
                </a:solidFill>
                <a:latin typeface="DM Sans"/>
              </a:rPr>
              <a:t>Translation:</a:t>
            </a:r>
            <a:r>
              <a:rPr sz="1350" b="0" i="0" u="none">
                <a:solidFill>
                  <a:srgbClr val="334155"/>
                </a:solidFill>
                <a:latin typeface="DM Sans"/>
              </a:rPr>
              <a:t> Converts Assembly mnemonics to binary.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0" y="4181475"/>
            <a:ext cx="29908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34155"/>
                </a:solidFill>
                <a:latin typeface="DM Sans"/>
              </a:rPr>
              <a:t>Mapping:</a:t>
            </a:r>
            <a:r>
              <a:rPr sz="1350" b="0" i="0" u="none">
                <a:solidFill>
                  <a:srgbClr val="334155"/>
                </a:solidFill>
                <a:latin typeface="DM Sans"/>
              </a:rPr>
              <a:t> Direct 1-to-1 CPU instruction match.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2000" y="4752975"/>
            <a:ext cx="36195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34155"/>
                </a:solidFill>
                <a:latin typeface="DM Sans"/>
              </a:rPr>
              <a:t>Example:</a:t>
            </a:r>
            <a:r>
              <a:rPr sz="1350" b="0" i="0" u="none">
                <a:solidFill>
                  <a:srgbClr val="334155"/>
                </a:solidFill>
                <a:latin typeface="DM Sans"/>
              </a:rPr>
              <a:t> ADD AX, 1 → 00000101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05500" y="1634430"/>
            <a:ext cx="5676900" cy="4455914"/>
          </a:xfrm>
          <a:prstGeom prst="roundRect">
            <a:avLst>
              <a:gd name="adj" fmla="val 2565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1462087"/>
            <a:ext cx="4953000" cy="1085850"/>
          </a:xfrm>
          <a:prstGeom prst="roundRect">
            <a:avLst>
              <a:gd name="adj" fmla="val 877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2700337"/>
            <a:ext cx="4953000" cy="1085850"/>
          </a:xfrm>
          <a:prstGeom prst="roundRect">
            <a:avLst>
              <a:gd name="adj" fmla="val 877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3938587"/>
            <a:ext cx="4953000" cy="1085850"/>
          </a:xfrm>
          <a:prstGeom prst="roundRect">
            <a:avLst>
              <a:gd name="adj" fmla="val 877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09600" y="5176837"/>
            <a:ext cx="4953000" cy="1085850"/>
          </a:xfrm>
          <a:prstGeom prst="roundRect">
            <a:avLst>
              <a:gd name="adj" fmla="val 877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JetBrains Mono"/>
              </a:rPr>
              <a:t>PART 02 — FUNDAMENTAL BUILDING BLOCKS IN 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85800"/>
            <a:ext cx="11582400" cy="409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0F172A"/>
                </a:solidFill>
                <a:latin typeface="Space Grotesk"/>
              </a:rPr>
              <a:t>Core Constructs &amp; Complete C++ Program Walkthrough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4575" y="2040760"/>
            <a:ext cx="5238750" cy="3139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 dirty="0" smtClean="0">
                <a:solidFill>
                  <a:srgbClr val="F8FAFC"/>
                </a:solidFill>
                <a:latin typeface="DM Sans"/>
              </a:rPr>
              <a:t>#include</a:t>
            </a:r>
            <a:r>
              <a:rPr lang="en-US" sz="1200" b="1" i="0" u="none" dirty="0" smtClean="0">
                <a:solidFill>
                  <a:srgbClr val="F8FAFC"/>
                </a:solidFill>
                <a:latin typeface="DM Sans"/>
              </a:rPr>
              <a:t>&lt;</a:t>
            </a:r>
            <a:r>
              <a:rPr lang="en-US" sz="1200" b="1" i="0" u="none" dirty="0" err="1" smtClean="0">
                <a:solidFill>
                  <a:srgbClr val="F8FAFC"/>
                </a:solidFill>
                <a:latin typeface="DM Sans"/>
              </a:rPr>
              <a:t>stdio.h</a:t>
            </a:r>
            <a:r>
              <a:rPr lang="en-US" sz="1200" b="1" i="0" u="none" dirty="0" smtClean="0">
                <a:solidFill>
                  <a:srgbClr val="F8FAFC"/>
                </a:solidFill>
                <a:latin typeface="DM Sans"/>
              </a:rPr>
              <a:t>&gt;</a:t>
            </a:r>
          </a:p>
          <a:p>
            <a:pPr algn="l"/>
            <a:r>
              <a:rPr lang="en-US" sz="1200" b="1" dirty="0" smtClean="0">
                <a:solidFill>
                  <a:srgbClr val="F8FAFC"/>
                </a:solidFill>
                <a:latin typeface="DM Sans"/>
              </a:rPr>
              <a:t>#include&lt;</a:t>
            </a:r>
            <a:r>
              <a:rPr lang="en-US" sz="1200" b="1" dirty="0" err="1" smtClean="0">
                <a:solidFill>
                  <a:srgbClr val="F8FAFC"/>
                </a:solidFill>
                <a:latin typeface="DM Sans"/>
              </a:rPr>
              <a:t>conio.h</a:t>
            </a:r>
            <a:r>
              <a:rPr lang="en-US" sz="1200" b="1" dirty="0" smtClean="0">
                <a:solidFill>
                  <a:srgbClr val="F8FAFC"/>
                </a:solidFill>
                <a:latin typeface="DM Sans"/>
              </a:rPr>
              <a:t>&gt;</a:t>
            </a:r>
            <a:r>
              <a:rPr sz="1200" b="1" i="0" u="none" dirty="0" smtClean="0">
                <a:solidFill>
                  <a:srgbClr val="F8FAFC"/>
                </a:solidFill>
                <a:latin typeface="DM Sans"/>
              </a:rPr>
              <a:t> </a:t>
            </a:r>
            <a:endParaRPr lang="en-US" sz="1200" b="1" i="0" u="none" dirty="0" smtClean="0">
              <a:solidFill>
                <a:srgbClr val="F8FAFC"/>
              </a:solidFill>
              <a:latin typeface="DM Sans"/>
            </a:endParaRPr>
          </a:p>
          <a:p>
            <a:pPr algn="l"/>
            <a:r>
              <a:rPr sz="1200" b="1" i="0" u="none" dirty="0" err="1" smtClean="0">
                <a:solidFill>
                  <a:srgbClr val="F8FAFC"/>
                </a:solidFill>
                <a:latin typeface="DM Sans"/>
              </a:rPr>
              <a:t>int</a:t>
            </a:r>
            <a:r>
              <a:rPr sz="1200" b="1" i="0" u="none" dirty="0" smtClean="0">
                <a:solidFill>
                  <a:srgbClr val="F8FAFC"/>
                </a:solidFill>
                <a:latin typeface="DM Sans"/>
              </a:rPr>
              <a:t> </a:t>
            </a:r>
            <a:r>
              <a:rPr sz="1200" b="1" i="0" u="none" dirty="0">
                <a:solidFill>
                  <a:srgbClr val="F8FAFC"/>
                </a:solidFill>
                <a:latin typeface="DM Sans"/>
              </a:rPr>
              <a:t>main() </a:t>
            </a:r>
            <a:endParaRPr lang="en-US" sz="1200" b="1" i="0" u="none" dirty="0" smtClean="0">
              <a:solidFill>
                <a:srgbClr val="F8FAFC"/>
              </a:solidFill>
              <a:latin typeface="DM Sans"/>
            </a:endParaRPr>
          </a:p>
          <a:p>
            <a:pPr algn="l"/>
            <a:r>
              <a:rPr sz="1200" b="1" i="0" u="none" dirty="0" smtClean="0">
                <a:solidFill>
                  <a:srgbClr val="F8FAFC"/>
                </a:solidFill>
                <a:latin typeface="DM Sans"/>
              </a:rPr>
              <a:t>{ </a:t>
            </a:r>
            <a:r>
              <a:rPr sz="1200" b="1" i="0" u="none" dirty="0" err="1">
                <a:solidFill>
                  <a:srgbClr val="F8FAFC"/>
                </a:solidFill>
                <a:latin typeface="DM Sans"/>
              </a:rPr>
              <a:t>int</a:t>
            </a:r>
            <a:r>
              <a:rPr sz="1200" b="1" i="0" u="none" dirty="0">
                <a:solidFill>
                  <a:srgbClr val="F8FAFC"/>
                </a:solidFill>
                <a:latin typeface="DM Sans"/>
              </a:rPr>
              <a:t> score = 78; // Stored in </a:t>
            </a:r>
            <a:r>
              <a:rPr sz="1200" b="1" i="0" u="none" dirty="0" smtClean="0">
                <a:solidFill>
                  <a:srgbClr val="F8FAFC"/>
                </a:solidFill>
                <a:latin typeface="DM Sans"/>
              </a:rPr>
              <a:t>RAM</a:t>
            </a:r>
            <a:endParaRPr lang="en-US" sz="1200" b="1" i="0" u="none" dirty="0" smtClean="0">
              <a:solidFill>
                <a:srgbClr val="F8FAFC"/>
              </a:solidFill>
              <a:latin typeface="DM Sans"/>
            </a:endParaRPr>
          </a:p>
          <a:p>
            <a:pPr algn="l"/>
            <a:r>
              <a:rPr sz="1200" b="1" i="0" u="none" dirty="0" smtClean="0">
                <a:solidFill>
                  <a:srgbClr val="F8FAFC"/>
                </a:solidFill>
                <a:latin typeface="DM Sans"/>
              </a:rPr>
              <a:t> </a:t>
            </a:r>
            <a:r>
              <a:rPr sz="1200" b="1" i="0" u="none" dirty="0" err="1">
                <a:solidFill>
                  <a:srgbClr val="F8FAFC"/>
                </a:solidFill>
                <a:latin typeface="DM Sans"/>
              </a:rPr>
              <a:t>int</a:t>
            </a:r>
            <a:r>
              <a:rPr sz="1200" b="1" i="0" u="none" dirty="0">
                <a:solidFill>
                  <a:srgbClr val="F8FAFC"/>
                </a:solidFill>
                <a:latin typeface="DM Sans"/>
              </a:rPr>
              <a:t> bonus = 7; </a:t>
            </a:r>
            <a:endParaRPr lang="en-US" sz="1200" b="1" i="0" u="none" dirty="0" smtClean="0">
              <a:solidFill>
                <a:srgbClr val="F8FAFC"/>
              </a:solidFill>
              <a:latin typeface="DM Sans"/>
            </a:endParaRPr>
          </a:p>
          <a:p>
            <a:pPr algn="l"/>
            <a:r>
              <a:rPr sz="1200" b="1" i="0" u="none" dirty="0" err="1" smtClean="0">
                <a:solidFill>
                  <a:srgbClr val="F8FAFC"/>
                </a:solidFill>
                <a:latin typeface="DM Sans"/>
              </a:rPr>
              <a:t>int</a:t>
            </a:r>
            <a:r>
              <a:rPr sz="1200" b="1" i="0" u="none" dirty="0" smtClean="0">
                <a:solidFill>
                  <a:srgbClr val="F8FAFC"/>
                </a:solidFill>
                <a:latin typeface="DM Sans"/>
              </a:rPr>
              <a:t> </a:t>
            </a:r>
            <a:r>
              <a:rPr sz="1200" b="1" i="0" u="none" dirty="0">
                <a:solidFill>
                  <a:srgbClr val="F8FAFC"/>
                </a:solidFill>
                <a:latin typeface="DM Sans"/>
              </a:rPr>
              <a:t>total = score + bonus; // Computed in ALU (85</a:t>
            </a:r>
            <a:r>
              <a:rPr sz="1200" b="1" i="0" u="none" dirty="0" smtClean="0">
                <a:solidFill>
                  <a:srgbClr val="F8FAFC"/>
                </a:solidFill>
                <a:latin typeface="DM Sans"/>
              </a:rPr>
              <a:t>)</a:t>
            </a:r>
            <a:endParaRPr lang="en-US" sz="1200" b="1" i="0" u="none" dirty="0" smtClean="0">
              <a:solidFill>
                <a:srgbClr val="F8FAFC"/>
              </a:solidFill>
              <a:latin typeface="DM Sans"/>
            </a:endParaRPr>
          </a:p>
          <a:p>
            <a:pPr algn="l"/>
            <a:r>
              <a:rPr sz="1200" b="1" i="0" u="none" dirty="0" smtClean="0">
                <a:solidFill>
                  <a:srgbClr val="F8FAFC"/>
                </a:solidFill>
                <a:latin typeface="DM Sans"/>
              </a:rPr>
              <a:t> </a:t>
            </a:r>
            <a:r>
              <a:rPr sz="1200" b="1" i="0" u="none" dirty="0">
                <a:solidFill>
                  <a:srgbClr val="F8FAFC"/>
                </a:solidFill>
                <a:latin typeface="DM Sans"/>
              </a:rPr>
              <a:t>if (total &gt;= 50</a:t>
            </a:r>
            <a:r>
              <a:rPr sz="1200" b="1" i="0" u="none" dirty="0" smtClean="0">
                <a:solidFill>
                  <a:srgbClr val="F8FAFC"/>
                </a:solidFill>
                <a:latin typeface="DM Sans"/>
              </a:rPr>
              <a:t>)</a:t>
            </a:r>
            <a:endParaRPr lang="en-US" sz="1200" b="1" i="0" u="none" dirty="0" smtClean="0">
              <a:solidFill>
                <a:srgbClr val="F8FAFC"/>
              </a:solidFill>
              <a:latin typeface="DM Sans"/>
            </a:endParaRPr>
          </a:p>
          <a:p>
            <a:pPr algn="l"/>
            <a:r>
              <a:rPr sz="1200" b="1" i="0" u="none" dirty="0" smtClean="0">
                <a:solidFill>
                  <a:srgbClr val="F8FAFC"/>
                </a:solidFill>
                <a:latin typeface="DM Sans"/>
              </a:rPr>
              <a:t> </a:t>
            </a:r>
            <a:r>
              <a:rPr sz="1200" b="1" i="0" u="none" dirty="0">
                <a:solidFill>
                  <a:srgbClr val="F8FAFC"/>
                </a:solidFill>
                <a:latin typeface="DM Sans"/>
              </a:rPr>
              <a:t>{ </a:t>
            </a:r>
            <a:endParaRPr lang="en-US" sz="1200" b="1" i="0" u="none" dirty="0" smtClean="0">
              <a:solidFill>
                <a:srgbClr val="F8FAFC"/>
              </a:solidFill>
              <a:latin typeface="DM Sans"/>
            </a:endParaRPr>
          </a:p>
          <a:p>
            <a:pPr algn="l"/>
            <a:r>
              <a:rPr sz="1200" b="1" i="0" u="none" dirty="0" smtClean="0">
                <a:solidFill>
                  <a:srgbClr val="F8FAFC"/>
                </a:solidFill>
                <a:latin typeface="DM Sans"/>
              </a:rPr>
              <a:t>// </a:t>
            </a:r>
            <a:r>
              <a:rPr sz="1200" b="1" i="0" u="none" dirty="0">
                <a:solidFill>
                  <a:srgbClr val="F8FAFC"/>
                </a:solidFill>
                <a:latin typeface="DM Sans"/>
              </a:rPr>
              <a:t>Control Unit Branch </a:t>
            </a:r>
            <a:endParaRPr lang="en-US" sz="1200" b="1" i="0" u="none" dirty="0" smtClean="0">
              <a:solidFill>
                <a:srgbClr val="F8FAFC"/>
              </a:solidFill>
              <a:latin typeface="DM Sans"/>
            </a:endParaRPr>
          </a:p>
          <a:p>
            <a:pPr algn="l"/>
            <a:r>
              <a:rPr lang="en-US" sz="1200" b="1" dirty="0" err="1" smtClean="0">
                <a:solidFill>
                  <a:srgbClr val="F8FAFC"/>
                </a:solidFill>
                <a:latin typeface="DM Sans"/>
              </a:rPr>
              <a:t>Printf</a:t>
            </a:r>
            <a:r>
              <a:rPr lang="en-US" sz="1200" b="1" dirty="0" smtClean="0">
                <a:solidFill>
                  <a:srgbClr val="F8FAFC"/>
                </a:solidFill>
                <a:latin typeface="DM Sans"/>
              </a:rPr>
              <a:t>(</a:t>
            </a:r>
            <a:r>
              <a:rPr sz="1200" b="1" i="0" u="none" dirty="0" smtClean="0">
                <a:solidFill>
                  <a:srgbClr val="F8FAFC"/>
                </a:solidFill>
                <a:latin typeface="DM Sans"/>
              </a:rPr>
              <a:t> </a:t>
            </a:r>
            <a:r>
              <a:rPr sz="1200" b="1" i="0" u="none" dirty="0">
                <a:solidFill>
                  <a:srgbClr val="F8FAFC"/>
                </a:solidFill>
                <a:latin typeface="DM Sans"/>
              </a:rPr>
              <a:t>"Result: Passed with </a:t>
            </a:r>
            <a:r>
              <a:rPr sz="1200" b="1" i="0" u="none" dirty="0" smtClean="0">
                <a:solidFill>
                  <a:srgbClr val="F8FAFC"/>
                </a:solidFill>
                <a:latin typeface="DM Sans"/>
              </a:rPr>
              <a:t>"</a:t>
            </a:r>
            <a:r>
              <a:rPr lang="en-US" sz="1200" b="1" i="0" u="none" dirty="0" smtClean="0">
                <a:solidFill>
                  <a:srgbClr val="F8FAFC"/>
                </a:solidFill>
                <a:latin typeface="DM Sans"/>
              </a:rPr>
              <a:t>,</a:t>
            </a:r>
            <a:r>
              <a:rPr sz="1200" b="1" i="0" u="none" dirty="0" smtClean="0">
                <a:solidFill>
                  <a:srgbClr val="F8FAFC"/>
                </a:solidFill>
                <a:latin typeface="DM Sans"/>
              </a:rPr>
              <a:t>total</a:t>
            </a:r>
            <a:r>
              <a:rPr lang="en-US" sz="1200" b="1" dirty="0" smtClean="0">
                <a:solidFill>
                  <a:srgbClr val="F8FAFC"/>
                </a:solidFill>
                <a:latin typeface="DM Sans"/>
              </a:rPr>
              <a:t>);</a:t>
            </a:r>
            <a:r>
              <a:rPr sz="1200" b="1" i="0" u="none" dirty="0" smtClean="0">
                <a:solidFill>
                  <a:srgbClr val="F8FAFC"/>
                </a:solidFill>
                <a:latin typeface="DM Sans"/>
              </a:rPr>
              <a:t> </a:t>
            </a:r>
            <a:endParaRPr lang="en-US" sz="1200" b="1" i="0" u="none" dirty="0" smtClean="0">
              <a:solidFill>
                <a:srgbClr val="F8FAFC"/>
              </a:solidFill>
              <a:latin typeface="DM Sans"/>
            </a:endParaRPr>
          </a:p>
          <a:p>
            <a:pPr algn="l"/>
            <a:r>
              <a:rPr sz="1200" b="1" i="0" u="none" dirty="0" smtClean="0">
                <a:solidFill>
                  <a:srgbClr val="F8FAFC"/>
                </a:solidFill>
                <a:latin typeface="DM Sans"/>
              </a:rPr>
              <a:t>}</a:t>
            </a:r>
            <a:endParaRPr lang="en-US" sz="1200" b="1" i="0" u="none" dirty="0" smtClean="0">
              <a:solidFill>
                <a:srgbClr val="F8FAFC"/>
              </a:solidFill>
              <a:latin typeface="DM Sans"/>
            </a:endParaRPr>
          </a:p>
          <a:p>
            <a:pPr algn="l"/>
            <a:r>
              <a:rPr sz="1200" b="1" i="0" u="none" dirty="0" smtClean="0">
                <a:solidFill>
                  <a:srgbClr val="F8FAFC"/>
                </a:solidFill>
                <a:latin typeface="DM Sans"/>
              </a:rPr>
              <a:t> </a:t>
            </a:r>
            <a:r>
              <a:rPr sz="1200" b="1" i="0" u="none" dirty="0">
                <a:solidFill>
                  <a:srgbClr val="F8FAFC"/>
                </a:solidFill>
                <a:latin typeface="DM Sans"/>
              </a:rPr>
              <a:t>else </a:t>
            </a:r>
            <a:endParaRPr lang="en-US" sz="1200" b="1" i="0" u="none" dirty="0" smtClean="0">
              <a:solidFill>
                <a:srgbClr val="F8FAFC"/>
              </a:solidFill>
              <a:latin typeface="DM Sans"/>
            </a:endParaRPr>
          </a:p>
          <a:p>
            <a:pPr algn="l"/>
            <a:r>
              <a:rPr sz="1200" b="1" i="0" u="none" dirty="0" smtClean="0">
                <a:solidFill>
                  <a:srgbClr val="F8FAFC"/>
                </a:solidFill>
                <a:latin typeface="DM Sans"/>
              </a:rPr>
              <a:t>{</a:t>
            </a:r>
            <a:endParaRPr lang="en-US" sz="1200" b="1" i="0" u="none" dirty="0" smtClean="0">
              <a:solidFill>
                <a:srgbClr val="F8FAFC"/>
              </a:solidFill>
              <a:latin typeface="DM Sans"/>
            </a:endParaRPr>
          </a:p>
          <a:p>
            <a:pPr algn="l"/>
            <a:r>
              <a:rPr sz="1200" b="1" i="0" u="none" dirty="0" smtClean="0">
                <a:solidFill>
                  <a:srgbClr val="F8FAFC"/>
                </a:solidFill>
                <a:latin typeface="DM Sans"/>
              </a:rPr>
              <a:t> </a:t>
            </a:r>
            <a:r>
              <a:rPr lang="en-US" sz="1200" b="1" i="0" u="none" dirty="0" err="1" smtClean="0">
                <a:solidFill>
                  <a:srgbClr val="F8FAFC"/>
                </a:solidFill>
                <a:latin typeface="DM Sans"/>
              </a:rPr>
              <a:t>printf</a:t>
            </a:r>
            <a:r>
              <a:rPr lang="en-US" sz="1200" b="1" i="0" u="none" dirty="0" smtClean="0">
                <a:solidFill>
                  <a:srgbClr val="F8FAFC"/>
                </a:solidFill>
                <a:latin typeface="DM Sans"/>
              </a:rPr>
              <a:t>(</a:t>
            </a:r>
            <a:r>
              <a:rPr sz="1200" b="1" i="0" u="none" dirty="0" smtClean="0">
                <a:solidFill>
                  <a:srgbClr val="F8FAFC"/>
                </a:solidFill>
                <a:latin typeface="DM Sans"/>
              </a:rPr>
              <a:t> </a:t>
            </a:r>
            <a:r>
              <a:rPr sz="1200" b="1" i="0" u="none" dirty="0">
                <a:solidFill>
                  <a:srgbClr val="F8FAFC"/>
                </a:solidFill>
                <a:latin typeface="DM Sans"/>
              </a:rPr>
              <a:t>"Result: Try Again</a:t>
            </a:r>
            <a:r>
              <a:rPr sz="1200" b="1" i="0" u="none" dirty="0" smtClean="0">
                <a:solidFill>
                  <a:srgbClr val="F8FAFC"/>
                </a:solidFill>
                <a:latin typeface="DM Sans"/>
              </a:rPr>
              <a:t>"</a:t>
            </a:r>
            <a:r>
              <a:rPr lang="en-US" sz="1200" b="1" i="0" u="none" dirty="0" smtClean="0">
                <a:solidFill>
                  <a:srgbClr val="F8FAFC"/>
                </a:solidFill>
                <a:latin typeface="DM Sans"/>
              </a:rPr>
              <a:t>);</a:t>
            </a:r>
            <a:r>
              <a:rPr sz="1200" b="1" i="0" u="none" dirty="0" smtClean="0">
                <a:solidFill>
                  <a:srgbClr val="F8FAFC"/>
                </a:solidFill>
                <a:latin typeface="DM Sans"/>
              </a:rPr>
              <a:t> </a:t>
            </a:r>
            <a:endParaRPr lang="en-US" sz="1200" b="1" i="0" u="none" dirty="0" smtClean="0">
              <a:solidFill>
                <a:srgbClr val="F8FAFC"/>
              </a:solidFill>
              <a:latin typeface="DM Sans"/>
            </a:endParaRPr>
          </a:p>
          <a:p>
            <a:pPr algn="l"/>
            <a:r>
              <a:rPr sz="1200" b="1" i="0" u="none" dirty="0" smtClean="0">
                <a:solidFill>
                  <a:srgbClr val="F8FAFC"/>
                </a:solidFill>
                <a:latin typeface="DM Sans"/>
              </a:rPr>
              <a:t>} </a:t>
            </a:r>
            <a:endParaRPr lang="en-US" sz="1200" b="1" i="0" u="none" dirty="0" smtClean="0">
              <a:solidFill>
                <a:srgbClr val="F8FAFC"/>
              </a:solidFill>
              <a:latin typeface="DM Sans"/>
            </a:endParaRPr>
          </a:p>
          <a:p>
            <a:pPr algn="l"/>
            <a:r>
              <a:rPr lang="en-US" sz="1200" b="1" dirty="0" smtClean="0">
                <a:solidFill>
                  <a:srgbClr val="F8FAFC"/>
                </a:solidFill>
                <a:latin typeface="DM Sans"/>
              </a:rPr>
              <a:t> </a:t>
            </a:r>
            <a:r>
              <a:rPr lang="en-US" sz="1200" b="1" dirty="0" err="1">
                <a:solidFill>
                  <a:srgbClr val="F8FAFC"/>
                </a:solidFill>
                <a:latin typeface="DM Sans"/>
              </a:rPr>
              <a:t>g</a:t>
            </a:r>
            <a:r>
              <a:rPr lang="en-US" sz="1200" b="1" dirty="0" err="1" smtClean="0">
                <a:solidFill>
                  <a:srgbClr val="F8FAFC"/>
                </a:solidFill>
                <a:latin typeface="DM Sans"/>
              </a:rPr>
              <a:t>etch</a:t>
            </a:r>
            <a:r>
              <a:rPr lang="en-US" sz="1200" b="1" dirty="0" smtClean="0">
                <a:solidFill>
                  <a:srgbClr val="F8FAFC"/>
                </a:solidFill>
                <a:latin typeface="DM Sans"/>
              </a:rPr>
              <a:t>()</a:t>
            </a:r>
            <a:r>
              <a:rPr sz="1200" b="1" i="0" u="none" dirty="0" smtClean="0">
                <a:solidFill>
                  <a:srgbClr val="F8FAFC"/>
                </a:solidFill>
                <a:latin typeface="DM Sans"/>
              </a:rPr>
              <a:t> </a:t>
            </a:r>
            <a:endParaRPr lang="en-US" sz="1200" b="1" i="0" u="none" dirty="0" smtClean="0">
              <a:solidFill>
                <a:srgbClr val="F8FAFC"/>
              </a:solidFill>
              <a:latin typeface="DM Sans"/>
            </a:endParaRPr>
          </a:p>
          <a:p>
            <a:pPr algn="l"/>
            <a:r>
              <a:rPr sz="1200" b="1" i="0" u="none" dirty="0" smtClean="0">
                <a:solidFill>
                  <a:srgbClr val="F8FAFC"/>
                </a:solidFill>
                <a:latin typeface="DM Sans"/>
              </a:rPr>
              <a:t>}</a:t>
            </a:r>
            <a:endParaRPr sz="1200" b="1" i="0" u="none" dirty="0">
              <a:solidFill>
                <a:srgbClr val="F8FAFC"/>
              </a:solidFill>
              <a:latin typeface="DM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172200" y="1695852"/>
            <a:ext cx="60198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 dirty="0">
                <a:solidFill>
                  <a:srgbClr val="38BDF8"/>
                </a:solidFill>
                <a:latin typeface="JetBrains Mono"/>
              </a:rPr>
              <a:t>// Complete C++ Example: Grade &amp; Average Calculator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5633144"/>
            <a:ext cx="60198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ADE80"/>
                </a:solidFill>
                <a:latin typeface="JetBrains Mono"/>
              </a:rPr>
              <a:t>Console Output: Result: Passed with 85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150" y="1633537"/>
            <a:ext cx="5950743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563EB"/>
                </a:solidFill>
                <a:latin typeface="Space Grotesk"/>
              </a:rPr>
              <a:t>1. Variables &amp; Data Types (RAM Allocation)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150" y="1919287"/>
            <a:ext cx="46291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DM Sans"/>
              </a:rPr>
              <a:t>int marks = 85; reserves 4 bytes in Von Neumann RAM.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150" y="2871787"/>
            <a:ext cx="5950743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563EB"/>
                </a:solidFill>
                <a:latin typeface="Space Grotesk"/>
              </a:rPr>
              <a:t>2. Sequence &amp; I/O Streams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9150" y="3157537"/>
            <a:ext cx="462915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350" dirty="0" err="1" smtClean="0">
                <a:solidFill>
                  <a:srgbClr val="334155"/>
                </a:solidFill>
                <a:latin typeface="DM Sans"/>
              </a:rPr>
              <a:t>Scanf</a:t>
            </a:r>
            <a:r>
              <a:rPr lang="en-US" sz="1350" dirty="0" smtClean="0">
                <a:solidFill>
                  <a:srgbClr val="334155"/>
                </a:solidFill>
                <a:latin typeface="DM Sans"/>
              </a:rPr>
              <a:t>()</a:t>
            </a:r>
            <a:r>
              <a:rPr sz="1350" b="0" i="0" u="none" dirty="0" smtClean="0">
                <a:solidFill>
                  <a:srgbClr val="334155"/>
                </a:solidFill>
                <a:latin typeface="DM Sans"/>
              </a:rPr>
              <a:t> </a:t>
            </a:r>
            <a:r>
              <a:rPr sz="1350" b="0" i="0" u="none" dirty="0">
                <a:solidFill>
                  <a:srgbClr val="334155"/>
                </a:solidFill>
                <a:latin typeface="DM Sans"/>
              </a:rPr>
              <a:t>reads from Input Unit; </a:t>
            </a:r>
            <a:endParaRPr lang="en-US" sz="1350" b="0" i="0" u="none" dirty="0" smtClean="0">
              <a:solidFill>
                <a:srgbClr val="334155"/>
              </a:solidFill>
              <a:latin typeface="DM Sans"/>
            </a:endParaRPr>
          </a:p>
          <a:p>
            <a:pPr algn="l"/>
            <a:r>
              <a:rPr lang="en-US" sz="1350" dirty="0" err="1" smtClean="0">
                <a:solidFill>
                  <a:srgbClr val="334155"/>
                </a:solidFill>
                <a:latin typeface="DM Sans"/>
              </a:rPr>
              <a:t>Printf</a:t>
            </a:r>
            <a:r>
              <a:rPr lang="en-US" sz="1350" dirty="0" smtClean="0">
                <a:solidFill>
                  <a:srgbClr val="334155"/>
                </a:solidFill>
                <a:latin typeface="DM Sans"/>
              </a:rPr>
              <a:t>()</a:t>
            </a:r>
            <a:r>
              <a:rPr sz="1350" b="0" i="0" u="none" dirty="0" smtClean="0">
                <a:solidFill>
                  <a:srgbClr val="334155"/>
                </a:solidFill>
                <a:latin typeface="DM Sans"/>
              </a:rPr>
              <a:t> </a:t>
            </a:r>
            <a:r>
              <a:rPr sz="1350" b="0" i="0" u="none" dirty="0">
                <a:solidFill>
                  <a:srgbClr val="334155"/>
                </a:solidFill>
                <a:latin typeface="DM Sans"/>
              </a:rPr>
              <a:t>sends to Output Unit.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150" y="4110037"/>
            <a:ext cx="5950743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563EB"/>
                </a:solidFill>
                <a:latin typeface="Space Grotesk"/>
              </a:rPr>
              <a:t>3. Selection (Decision Making in ALU)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150" y="4395787"/>
            <a:ext cx="46291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DM Sans"/>
              </a:rPr>
              <a:t>if (marks &gt;= 50) uses ALU comparator to branch execution.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9150" y="5348287"/>
            <a:ext cx="5950743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2563EB"/>
                </a:solidFill>
                <a:latin typeface="Space Grotesk"/>
              </a:rPr>
              <a:t>4. Iteration (Loops)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150" y="5634037"/>
            <a:ext cx="46291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34155"/>
                </a:solidFill>
                <a:latin typeface="DM Sans"/>
              </a:rPr>
              <a:t>for (int i=1; i&lt;=3; i++) repeats instructions efficiently.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91200" y="4129087"/>
            <a:ext cx="60960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970734" y="2081212"/>
            <a:ext cx="4250531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38BDF8"/>
                </a:solidFill>
                <a:latin typeface="JetBrains Mono"/>
              </a:rPr>
              <a:t>SUPERIOR UNIVERSITY — OKARA CAMPUS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70521" y="2424112"/>
            <a:ext cx="7650956" cy="676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4200" b="1" i="0" u="none">
                <a:solidFill>
                  <a:srgbClr val="FFFFFF"/>
                </a:solidFill>
                <a:latin typeface="Space Grotesk"/>
              </a:rPr>
              <a:t>Thank You &amp;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9750" y="3290887"/>
            <a:ext cx="8572500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CBD5E1"/>
                </a:solidFill>
                <a:latin typeface="DM Sans"/>
              </a:rPr>
              <a:t>Every high-level C++ or Python program you write ultimately executes through the Fetch–Decode–Execute cycle on Von Neumann hardware.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50343" y="4510087"/>
            <a:ext cx="6691312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F8FAFC"/>
                </a:solidFill>
                <a:latin typeface="Space Grotesk"/>
              </a:rPr>
              <a:t>Course: Programming Fundamentals — Open for Q&amp;A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500" y="866775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71500" y="16287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71500" y="16287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09650"/>
            <a:ext cx="857250" cy="476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828800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571500"/>
            <a:ext cx="2187773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00000"/>
                </a:solidFill>
                <a:latin typeface="DM Sans"/>
              </a:rPr>
              <a:t>Image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6875" y="1042987"/>
            <a:ext cx="6024562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00000"/>
                </a:solidFill>
                <a:latin typeface="DM Sans"/>
              </a:rPr>
              <a:t>http://images.computerhistory.org/revonline/images/500004275-03-01.jpg?w=600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6875" y="1252537"/>
            <a:ext cx="291703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00000"/>
                </a:solidFill>
                <a:latin typeface="DM Sans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DM Sans"/>
              </a:rPr>
              <a:t>www.computerhistory.org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6875" y="1781175"/>
            <a:ext cx="10048875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00000"/>
                </a:solidFill>
                <a:latin typeface="DM Sans"/>
              </a:rPr>
              <a:t>https://media.istockphoto.com/id/2180863024/photo/multi-colored-iridescent-silicon-computer-wafer-close-up-view.jpg?s=612x612&amp;w=0&amp;k=20&amp;c=uz_ZatMMH_97OS0WUvQpQDdd25Jk9J5U93zhGzBTB4Q=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6875" y="2152650"/>
            <a:ext cx="259556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00000"/>
                </a:solidFill>
                <a:latin typeface="DM Sans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DM Sans"/>
              </a:rPr>
              <a:t>www.istockphoto.com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</TotalTime>
  <Words>1430</Words>
  <Application>Microsoft Office PowerPoint</Application>
  <PresentationFormat>Widescreen</PresentationFormat>
  <Paragraphs>184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Calibri</vt:lpstr>
      <vt:lpstr>DM Sans</vt:lpstr>
      <vt:lpstr>Space Grotesk</vt:lpstr>
      <vt:lpstr>JetBrains Mono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Nabeel Ahmed</cp:lastModifiedBy>
  <cp:revision>11</cp:revision>
  <dcterms:created xsi:type="dcterms:W3CDTF">2013-01-27T09:14:16Z</dcterms:created>
  <dcterms:modified xsi:type="dcterms:W3CDTF">2026-10-21T07:34:15Z</dcterms:modified>
  <cp:category/>
</cp:coreProperties>
</file>